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8229600" cx="14630400"/>
  <p:notesSz cx="8229600" cy="14630400"/>
  <p:embeddedFontLst>
    <p:embeddedFont>
      <p:font typeface="Heebo"/>
      <p:regular r:id="rId20"/>
      <p:bold r:id="rId21"/>
    </p:embeddedFont>
    <p:embeddedFont>
      <p:font typeface="Crimson Pr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ebo-regular.fntdata"/><Relationship Id="rId22" Type="http://schemas.openxmlformats.org/officeDocument/2006/relationships/font" Target="fonts/CrimsonPro-regular.fntdata"/><Relationship Id="rId21" Type="http://schemas.openxmlformats.org/officeDocument/2006/relationships/font" Target="fonts/Heebo-bold.fntdata"/><Relationship Id="rId24" Type="http://schemas.openxmlformats.org/officeDocument/2006/relationships/font" Target="fonts/CrimsonPro-italic.fntdata"/><Relationship Id="rId23" Type="http://schemas.openxmlformats.org/officeDocument/2006/relationships/font" Target="fonts/CrimsonPr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CrimsonPr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a:r>
            <a:br>
              <a:rPr lang="en-US"/>
            </a:br>
            <a:r>
              <a:rPr lang="en-US"/>
              <a:t>                                     │</a:t>
            </a:r>
            <a:br>
              <a:rPr lang="en-US"/>
            </a:br>
            <a:r>
              <a:rPr lang="en-US"/>
              <a:t>                                     │</a:t>
            </a:r>
            <a:br>
              <a:rPr lang="en-US"/>
            </a:br>
            <a:r>
              <a:rPr lang="en-US"/>
              <a:t>                             TOOLS / INSTRUMENTS</a:t>
            </a:r>
            <a:br>
              <a:rPr lang="en-US"/>
            </a:br>
            <a:r>
              <a:rPr lang="en-US"/>
              <a:t> (Digital health platforms, AI systems, Electronic Health Records (EHRs),</a:t>
            </a:r>
            <a:br>
              <a:rPr lang="en-US"/>
            </a:br>
            <a:r>
              <a:rPr lang="en-US"/>
              <a:t>        HealthHUBs, Cordavis, and analytics dashboards)</a:t>
            </a:r>
            <a:br>
              <a:rPr lang="en-US"/>
            </a:br>
            <a:r>
              <a:rPr lang="en-US"/>
              <a:t>                                     │</a:t>
            </a:r>
            <a:br>
              <a:rPr lang="en-US"/>
            </a:br>
            <a:r>
              <a:rPr lang="en-US"/>
              <a:t>                                     │</a:t>
            </a:r>
            <a:br>
              <a:rPr lang="en-US"/>
            </a:br>
            <a:r>
              <a:rPr lang="en-US"/>
              <a:t>                                     │</a:t>
            </a:r>
            <a:br>
              <a:rPr lang="en-US"/>
            </a:br>
            <a:br>
              <a:rPr lang="en-US"/>
            </a:br>
            <a:br>
              <a:rPr lang="en-US"/>
            </a:br>
            <a:r>
              <a:rPr lang="en-US"/>
              <a:t>┌───────────────────────────────────────────────────────────────────────────────┐ │ │ │ ▼  SUBJECT ───────────────────────────────►  OBJECT (GOAL) ─────────────────────────►  OUTCOME (CVS Health leadership, clinicians, (Deliver integrated, accessible, (Seamless, data-driven, and and technology teams driving digital and coordinated healthcare through efficient healthcare delivery; integration and innovation across digital transformation and vertical strengthened customer engagement; Aetna, Caremark, and HealthHUBs) integration) regulatory and ethical tensions) │ ▲ │ │ └───────────────────────────────────────────────────────────────────────────────┘ │ │ ▼  CONTEXTUAL STRUCTURES (BASE LAYER) ┌───────────────────────────────────────────────────────────────────────────────┐ │ RULES: Regulatory frameworks (FTC, HIPAA, CMS), ethical standards, │ │ and corporate compliance policies guiding integration and data use. │ │ │ │ COMMUNITY: Patients, regulators, partner organizations, employees, insurers, │ │ and healthcare stakeholders shaping CVS’s ecosystem. │ │ │ │ DIVISION OF LABOR: Executives – strategic governance; │ │ Clinicians – care delivery; │ │ IT teams – digital infrastructure; │ │ Legal – compliance and oversight. │ └───────────────────────────────────────────────────────────────────────────────┘</a:t>
            </a:r>
            <a:endParaRPr/>
          </a:p>
        </p:txBody>
      </p:sp>
      <p:sp>
        <p:nvSpPr>
          <p:cNvPr id="343" name="Google Shape;34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50" name="Shape 50"/>
        <p:cNvGrpSpPr/>
        <p:nvPr/>
      </p:nvGrpSpPr>
      <p:grpSpPr>
        <a:xfrm>
          <a:off x="0" y="0"/>
          <a:ext cx="0" cy="0"/>
          <a:chOff x="0" y="0"/>
          <a:chExt cx="0" cy="0"/>
        </a:xfrm>
      </p:grpSpPr>
      <p:sp>
        <p:nvSpPr>
          <p:cNvPr id="51" name="Google Shape;51;p12"/>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54" name="Shape 54"/>
        <p:cNvGrpSpPr/>
        <p:nvPr/>
      </p:nvGrpSpPr>
      <p:grpSpPr>
        <a:xfrm>
          <a:off x="0" y="0"/>
          <a:ext cx="0" cy="0"/>
          <a:chOff x="0" y="0"/>
          <a:chExt cx="0" cy="0"/>
        </a:xfrm>
      </p:grpSpPr>
      <p:sp>
        <p:nvSpPr>
          <p:cNvPr id="55" name="Google Shape;55;p13"/>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58" name="Shape 58"/>
        <p:cNvGrpSpPr/>
        <p:nvPr/>
      </p:nvGrpSpPr>
      <p:grpSpPr>
        <a:xfrm>
          <a:off x="0" y="0"/>
          <a:ext cx="0" cy="0"/>
          <a:chOff x="0" y="0"/>
          <a:chExt cx="0" cy="0"/>
        </a:xfrm>
      </p:grpSpPr>
      <p:sp>
        <p:nvSpPr>
          <p:cNvPr id="59" name="Google Shape;59;p14"/>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62" name="Shape 62"/>
        <p:cNvGrpSpPr/>
        <p:nvPr/>
      </p:nvGrpSpPr>
      <p:grpSpPr>
        <a:xfrm>
          <a:off x="0" y="0"/>
          <a:ext cx="0" cy="0"/>
          <a:chOff x="0" y="0"/>
          <a:chExt cx="0" cy="0"/>
        </a:xfrm>
      </p:grpSpPr>
      <p:sp>
        <p:nvSpPr>
          <p:cNvPr id="63" name="Google Shape;63;p15"/>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66" name="Shape 66"/>
        <p:cNvGrpSpPr/>
        <p:nvPr/>
      </p:nvGrpSpPr>
      <p:grpSpPr>
        <a:xfrm>
          <a:off x="0" y="0"/>
          <a:ext cx="0" cy="0"/>
          <a:chOff x="0" y="0"/>
          <a:chExt cx="0" cy="0"/>
        </a:xfrm>
      </p:grpSpPr>
      <p:sp>
        <p:nvSpPr>
          <p:cNvPr id="67" name="Google Shape;67;p16"/>
          <p:cNvSpPr/>
          <p:nvPr/>
        </p:nvSpPr>
        <p:spPr>
          <a:xfrm>
            <a:off x="0" y="0"/>
            <a:ext cx="14630400" cy="8229600"/>
          </a:xfrm>
          <a:prstGeom prst="rect">
            <a:avLst/>
          </a:prstGeom>
          <a:solidFill>
            <a:srgbClr val="F0F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 name="Shape 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1.png"/><Relationship Id="rId4" Type="http://schemas.openxmlformats.org/officeDocument/2006/relationships/image" Target="../media/image37.png"/><Relationship Id="rId5" Type="http://schemas.openxmlformats.org/officeDocument/2006/relationships/image" Target="../media/image29.png"/><Relationship Id="rId6" Type="http://schemas.openxmlformats.org/officeDocument/2006/relationships/image" Target="../media/image32.png"/><Relationship Id="rId7"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31.png"/><Relationship Id="rId6"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36.png"/><Relationship Id="rId6"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50.png"/><Relationship Id="rId6" Type="http://schemas.openxmlformats.org/officeDocument/2006/relationships/image" Target="../media/image46.png"/><Relationship Id="rId7"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7.png"/><Relationship Id="rId6" Type="http://schemas.openxmlformats.org/officeDocument/2006/relationships/image" Target="../media/image44.png"/><Relationship Id="rId7" Type="http://schemas.openxmlformats.org/officeDocument/2006/relationships/image" Target="../media/image45.png"/></Relationships>
</file>

<file path=ppt/slides/_rels/slide15.xml.rels><?xml version="1.0" encoding="UTF-8" standalone="yes"?><Relationships xmlns="http://schemas.openxmlformats.org/package/2006/relationships"><Relationship Id="rId40" Type="http://schemas.openxmlformats.org/officeDocument/2006/relationships/hyperlink" Target="https://www.pmc.ncbi.nlm.nih.gov/" TargetMode="External"/><Relationship Id="rId20" Type="http://schemas.openxmlformats.org/officeDocument/2006/relationships/hyperlink" Target="https://www.locationscloud.com/" TargetMode="External"/><Relationship Id="rId22" Type="http://schemas.openxmlformats.org/officeDocument/2006/relationships/hyperlink" Target="https://www.webull.com/" TargetMode="External"/><Relationship Id="rId21" Type="http://schemas.openxmlformats.org/officeDocument/2006/relationships/hyperlink" Target="https://www.reddit.com/" TargetMode="External"/><Relationship Id="rId24" Type="http://schemas.openxmlformats.org/officeDocument/2006/relationships/hyperlink" Target="https://www.kslaw.com/" TargetMode="External"/><Relationship Id="rId23" Type="http://schemas.openxmlformats.org/officeDocument/2006/relationships/hyperlink" Target="https://www.placer.ai/" TargetMode="External"/><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www.drugchannels.net/" TargetMode="External"/><Relationship Id="rId4" Type="http://schemas.openxmlformats.org/officeDocument/2006/relationships/hyperlink" Target="https://www.beckershospitalreview.com/" TargetMode="External"/><Relationship Id="rId9" Type="http://schemas.openxmlformats.org/officeDocument/2006/relationships/hyperlink" Target="https://www.zacks.com/" TargetMode="External"/><Relationship Id="rId26" Type="http://schemas.openxmlformats.org/officeDocument/2006/relationships/hyperlink" Target="https://www.healthsystemtracker.org/" TargetMode="External"/><Relationship Id="rId25" Type="http://schemas.openxmlformats.org/officeDocument/2006/relationships/hyperlink" Target="https://www.healthaffairs.org/" TargetMode="External"/><Relationship Id="rId28" Type="http://schemas.openxmlformats.org/officeDocument/2006/relationships/hyperlink" Target="https://www.shopify.com/" TargetMode="External"/><Relationship Id="rId27" Type="http://schemas.openxmlformats.org/officeDocument/2006/relationships/hyperlink" Target="https://www.pwc.com/" TargetMode="External"/><Relationship Id="rId5" Type="http://schemas.openxmlformats.org/officeDocument/2006/relationships/hyperlink" Target="https://www.investopedia.com/" TargetMode="External"/><Relationship Id="rId6" Type="http://schemas.openxmlformats.org/officeDocument/2006/relationships/hyperlink" Target="https://www.ajmc.com/" TargetMode="External"/><Relationship Id="rId29" Type="http://schemas.openxmlformats.org/officeDocument/2006/relationships/hyperlink" Target="https://www.kestria.com/" TargetMode="External"/><Relationship Id="rId7" Type="http://schemas.openxmlformats.org/officeDocument/2006/relationships/hyperlink" Target="https://www.ama-assn.org/" TargetMode="External"/><Relationship Id="rId8" Type="http://schemas.openxmlformats.org/officeDocument/2006/relationships/hyperlink" Target="https://www.commonwealthfund.org/" TargetMode="External"/><Relationship Id="rId31" Type="http://schemas.openxmlformats.org/officeDocument/2006/relationships/hyperlink" Target="https://www.bmjopen.bmj.com/" TargetMode="External"/><Relationship Id="rId30" Type="http://schemas.openxmlformats.org/officeDocument/2006/relationships/hyperlink" Target="https://www.ipcrx.com/" TargetMode="External"/><Relationship Id="rId11" Type="http://schemas.openxmlformats.org/officeDocument/2006/relationships/hyperlink" Target="https://www.fiercehealthcare.com/" TargetMode="External"/><Relationship Id="rId33" Type="http://schemas.openxmlformats.org/officeDocument/2006/relationships/hyperlink" Target="https://www.pharmacytimes.com/" TargetMode="External"/><Relationship Id="rId10" Type="http://schemas.openxmlformats.org/officeDocument/2006/relationships/hyperlink" Target="https://www.hospitalogy.com/" TargetMode="External"/><Relationship Id="rId32" Type="http://schemas.openxmlformats.org/officeDocument/2006/relationships/hyperlink" Target="https://www.aiexpert.network/" TargetMode="External"/><Relationship Id="rId13" Type="http://schemas.openxmlformats.org/officeDocument/2006/relationships/hyperlink" Target="https://www.grandviewresearch.com/" TargetMode="External"/><Relationship Id="rId35" Type="http://schemas.openxmlformats.org/officeDocument/2006/relationships/hyperlink" Target="https://www.arkenea.com/" TargetMode="External"/><Relationship Id="rId12" Type="http://schemas.openxmlformats.org/officeDocument/2006/relationships/hyperlink" Target="https://www.ag.ny.gov/" TargetMode="External"/><Relationship Id="rId34" Type="http://schemas.openxmlformats.org/officeDocument/2006/relationships/hyperlink" Target="https://www.drugtopics.com/" TargetMode="External"/><Relationship Id="rId15" Type="http://schemas.openxmlformats.org/officeDocument/2006/relationships/hyperlink" Target="https://scoop.market.us/" TargetMode="External"/><Relationship Id="rId37" Type="http://schemas.openxmlformats.org/officeDocument/2006/relationships/hyperlink" Target="https://www.tandfonline.com/" TargetMode="External"/><Relationship Id="rId14" Type="http://schemas.openxmlformats.org/officeDocument/2006/relationships/hyperlink" Target="https://www.precedenceresearch.com/" TargetMode="External"/><Relationship Id="rId36" Type="http://schemas.openxmlformats.org/officeDocument/2006/relationships/hyperlink" Target="https://www.pharmacytimes.com/" TargetMode="External"/><Relationship Id="rId17" Type="http://schemas.openxmlformats.org/officeDocument/2006/relationships/hyperlink" Target="https://www.aithor.com/" TargetMode="External"/><Relationship Id="rId39" Type="http://schemas.openxmlformats.org/officeDocument/2006/relationships/hyperlink" Target="https://www.ruralhealthinfo.org/" TargetMode="External"/><Relationship Id="rId16" Type="http://schemas.openxmlformats.org/officeDocument/2006/relationships/hyperlink" Target="https://www.persistencemarketresearch.com/" TargetMode="External"/><Relationship Id="rId38" Type="http://schemas.openxmlformats.org/officeDocument/2006/relationships/hyperlink" Target="https://www.namusical.com/" TargetMode="External"/><Relationship Id="rId19" Type="http://schemas.openxmlformats.org/officeDocument/2006/relationships/hyperlink" Target="https://www.webull.com/" TargetMode="External"/><Relationship Id="rId18" Type="http://schemas.openxmlformats.org/officeDocument/2006/relationships/hyperlink" Target="https://www.christenseninstitute.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preencoded.png" id="76" name="Google Shape;76;p1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7" name="Google Shape;77;p18"/>
          <p:cNvSpPr/>
          <p:nvPr/>
        </p:nvSpPr>
        <p:spPr>
          <a:xfrm>
            <a:off x="793790" y="2113121"/>
            <a:ext cx="7556421" cy="1956435"/>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B31849"/>
              </a:buClr>
              <a:buSzPts val="6150"/>
              <a:buFont typeface="Crimson Pro"/>
              <a:buNone/>
            </a:pPr>
            <a:r>
              <a:rPr b="1" i="0" lang="en-US" sz="6150" u="none" cap="none" strike="noStrike">
                <a:solidFill>
                  <a:srgbClr val="B31849"/>
                </a:solidFill>
                <a:latin typeface="Crimson Pro"/>
                <a:ea typeface="Crimson Pro"/>
                <a:cs typeface="Crimson Pro"/>
                <a:sym typeface="Crimson Pro"/>
              </a:rPr>
              <a:t>Strategic Refocus for CVS Health</a:t>
            </a:r>
            <a:endParaRPr b="0" i="0" sz="6150" u="none" cap="none" strike="noStrike"/>
          </a:p>
        </p:txBody>
      </p:sp>
      <p:sp>
        <p:nvSpPr>
          <p:cNvPr id="78" name="Google Shape;78;p18"/>
          <p:cNvSpPr/>
          <p:nvPr/>
        </p:nvSpPr>
        <p:spPr>
          <a:xfrm>
            <a:off x="793790" y="4409718"/>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Analyzing the vulnerabilities and opportunities arising from aggressive vertical integration in the healthcare ecosystem.</a:t>
            </a:r>
            <a:endParaRPr b="0" i="0" sz="1750" u="none" cap="none" strike="noStrike"/>
          </a:p>
        </p:txBody>
      </p:sp>
      <p:sp>
        <p:nvSpPr>
          <p:cNvPr id="79" name="Google Shape;79;p18"/>
          <p:cNvSpPr/>
          <p:nvPr/>
        </p:nvSpPr>
        <p:spPr>
          <a:xfrm>
            <a:off x="793790" y="5390674"/>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1" i="0" lang="en-US" sz="1750" u="none" cap="none" strike="noStrike">
                <a:solidFill>
                  <a:srgbClr val="4C4C4D"/>
                </a:solidFill>
                <a:latin typeface="Heebo"/>
                <a:ea typeface="Heebo"/>
                <a:cs typeface="Heebo"/>
                <a:sym typeface="Heebo"/>
              </a:rPr>
              <a:t>Team 41: Arshard Rizvi, Gaurang Agrawal, Marwa Bouabid, Mohammed Sawaiz Fatar, Skylar Qiu</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p:nvPr/>
        </p:nvSpPr>
        <p:spPr>
          <a:xfrm>
            <a:off x="900946" y="646033"/>
            <a:ext cx="12828389"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B31849"/>
              </a:buClr>
              <a:buSzPts val="4450"/>
              <a:buFont typeface="Crimson Pro"/>
              <a:buNone/>
            </a:pPr>
            <a:r>
              <a:rPr b="0" i="0" lang="en-US" sz="4450" u="none" cap="none" strike="noStrike">
                <a:solidFill>
                  <a:srgbClr val="B31849"/>
                </a:solidFill>
                <a:latin typeface="Crimson Pro"/>
                <a:ea typeface="Crimson Pro"/>
                <a:cs typeface="Crimson Pro"/>
                <a:sym typeface="Crimson Pro"/>
              </a:rPr>
              <a:t>U.S. Retail Pharmacy Industry : An Executive Summary</a:t>
            </a:r>
            <a:endParaRPr b="0" i="0" sz="4450" u="none" cap="none" strike="noStrike"/>
          </a:p>
        </p:txBody>
      </p:sp>
      <p:sp>
        <p:nvSpPr>
          <p:cNvPr id="86" name="Google Shape;86;p19"/>
          <p:cNvSpPr/>
          <p:nvPr/>
        </p:nvSpPr>
        <p:spPr>
          <a:xfrm>
            <a:off x="793790" y="1808440"/>
            <a:ext cx="6407944" cy="2774156"/>
          </a:xfrm>
          <a:prstGeom prst="roundRect">
            <a:avLst>
              <a:gd fmla="val 1226"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9"/>
          <p:cNvSpPr/>
          <p:nvPr/>
        </p:nvSpPr>
        <p:spPr>
          <a:xfrm>
            <a:off x="824270" y="1838920"/>
            <a:ext cx="6346984" cy="680442"/>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19"/>
          <p:cNvPicPr preferRelativeResize="0"/>
          <p:nvPr/>
        </p:nvPicPr>
        <p:blipFill rotWithShape="1">
          <a:blip r:embed="rId3">
            <a:alphaModFix/>
          </a:blip>
          <a:srcRect b="0" l="0" r="0" t="0"/>
          <a:stretch/>
        </p:blipFill>
        <p:spPr>
          <a:xfrm>
            <a:off x="3827621" y="1966436"/>
            <a:ext cx="340162" cy="425291"/>
          </a:xfrm>
          <a:prstGeom prst="rect">
            <a:avLst/>
          </a:prstGeom>
          <a:noFill/>
          <a:ln>
            <a:noFill/>
          </a:ln>
        </p:spPr>
      </p:pic>
      <p:sp>
        <p:nvSpPr>
          <p:cNvPr id="89" name="Google Shape;89;p19"/>
          <p:cNvSpPr/>
          <p:nvPr/>
        </p:nvSpPr>
        <p:spPr>
          <a:xfrm>
            <a:off x="1051084" y="274617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200"/>
              <a:buFont typeface="Crimson Pro"/>
              <a:buNone/>
            </a:pPr>
            <a:r>
              <a:rPr b="0" i="0" lang="en-US" sz="2200" u="none" cap="none" strike="noStrike">
                <a:solidFill>
                  <a:srgbClr val="4C4C4D"/>
                </a:solidFill>
                <a:latin typeface="Crimson Pro"/>
                <a:ea typeface="Crimson Pro"/>
                <a:cs typeface="Crimson Pro"/>
                <a:sym typeface="Crimson Pro"/>
              </a:rPr>
              <a:t>Concentrated Oligopoly</a:t>
            </a:r>
            <a:endParaRPr b="0" i="0" sz="2200" u="none" cap="none" strike="noStrike"/>
          </a:p>
        </p:txBody>
      </p:sp>
      <p:sp>
        <p:nvSpPr>
          <p:cNvPr id="90" name="Google Shape;90;p19"/>
          <p:cNvSpPr/>
          <p:nvPr/>
        </p:nvSpPr>
        <p:spPr>
          <a:xfrm>
            <a:off x="1051084" y="3236595"/>
            <a:ext cx="5893356"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The U.S. retail pharmacy sector is dominated by key players like CVS Health and Walgreens, who control significant market share and shape competitive dynamics.</a:t>
            </a:r>
            <a:endParaRPr b="0" i="0" sz="1750" u="none" cap="none" strike="noStrike"/>
          </a:p>
        </p:txBody>
      </p:sp>
      <p:sp>
        <p:nvSpPr>
          <p:cNvPr id="91" name="Google Shape;91;p19"/>
          <p:cNvSpPr/>
          <p:nvPr/>
        </p:nvSpPr>
        <p:spPr>
          <a:xfrm>
            <a:off x="7428548" y="1808440"/>
            <a:ext cx="6408063" cy="2774156"/>
          </a:xfrm>
          <a:prstGeom prst="roundRect">
            <a:avLst>
              <a:gd fmla="val 1226"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9"/>
          <p:cNvSpPr/>
          <p:nvPr/>
        </p:nvSpPr>
        <p:spPr>
          <a:xfrm>
            <a:off x="7459027" y="1838920"/>
            <a:ext cx="6347103" cy="680442"/>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19"/>
          <p:cNvPicPr preferRelativeResize="0"/>
          <p:nvPr/>
        </p:nvPicPr>
        <p:blipFill rotWithShape="1">
          <a:blip r:embed="rId4">
            <a:alphaModFix/>
          </a:blip>
          <a:srcRect b="0" l="0" r="0" t="0"/>
          <a:stretch/>
        </p:blipFill>
        <p:spPr>
          <a:xfrm>
            <a:off x="10462498" y="1966436"/>
            <a:ext cx="340162" cy="425291"/>
          </a:xfrm>
          <a:prstGeom prst="rect">
            <a:avLst/>
          </a:prstGeom>
          <a:noFill/>
          <a:ln>
            <a:noFill/>
          </a:ln>
        </p:spPr>
      </p:pic>
      <p:sp>
        <p:nvSpPr>
          <p:cNvPr id="94" name="Google Shape;94;p19"/>
          <p:cNvSpPr/>
          <p:nvPr/>
        </p:nvSpPr>
        <p:spPr>
          <a:xfrm>
            <a:off x="7685842" y="2746177"/>
            <a:ext cx="339744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200"/>
              <a:buFont typeface="Crimson Pro"/>
              <a:buNone/>
            </a:pPr>
            <a:r>
              <a:rPr b="0" i="0" lang="en-US" sz="2200" u="none" cap="none" strike="noStrike">
                <a:solidFill>
                  <a:srgbClr val="4C4C4D"/>
                </a:solidFill>
                <a:latin typeface="Crimson Pro"/>
                <a:ea typeface="Crimson Pro"/>
                <a:cs typeface="Crimson Pro"/>
                <a:sym typeface="Crimson Pro"/>
              </a:rPr>
              <a:t>Prescription-Driven Revenue</a:t>
            </a:r>
            <a:endParaRPr b="0" i="0" sz="2200" u="none" cap="none" strike="noStrike"/>
          </a:p>
        </p:txBody>
      </p:sp>
      <p:sp>
        <p:nvSpPr>
          <p:cNvPr id="95" name="Google Shape;95;p19"/>
          <p:cNvSpPr/>
          <p:nvPr/>
        </p:nvSpPr>
        <p:spPr>
          <a:xfrm>
            <a:off x="7685842" y="3236595"/>
            <a:ext cx="589347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Over 80% of industry revenue is generated from prescription drugs, creating both a stable base and sensitivity to pricing pressures.</a:t>
            </a:r>
            <a:endParaRPr b="0" i="0" sz="1750" u="none" cap="none" strike="noStrike"/>
          </a:p>
        </p:txBody>
      </p:sp>
      <p:sp>
        <p:nvSpPr>
          <p:cNvPr id="96" name="Google Shape;96;p19"/>
          <p:cNvSpPr/>
          <p:nvPr/>
        </p:nvSpPr>
        <p:spPr>
          <a:xfrm>
            <a:off x="793790" y="4809411"/>
            <a:ext cx="6407944" cy="2774156"/>
          </a:xfrm>
          <a:prstGeom prst="roundRect">
            <a:avLst>
              <a:gd fmla="val 1226"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9"/>
          <p:cNvSpPr/>
          <p:nvPr/>
        </p:nvSpPr>
        <p:spPr>
          <a:xfrm>
            <a:off x="824270" y="4839891"/>
            <a:ext cx="6346984" cy="680442"/>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19"/>
          <p:cNvPicPr preferRelativeResize="0"/>
          <p:nvPr/>
        </p:nvPicPr>
        <p:blipFill rotWithShape="1">
          <a:blip r:embed="rId5">
            <a:alphaModFix/>
          </a:blip>
          <a:srcRect b="0" l="0" r="0" t="0"/>
          <a:stretch/>
        </p:blipFill>
        <p:spPr>
          <a:xfrm>
            <a:off x="3827621" y="4967407"/>
            <a:ext cx="340162" cy="425291"/>
          </a:xfrm>
          <a:prstGeom prst="rect">
            <a:avLst/>
          </a:prstGeom>
          <a:noFill/>
          <a:ln>
            <a:noFill/>
          </a:ln>
        </p:spPr>
      </p:pic>
      <p:sp>
        <p:nvSpPr>
          <p:cNvPr id="99" name="Google Shape;99;p19"/>
          <p:cNvSpPr/>
          <p:nvPr/>
        </p:nvSpPr>
        <p:spPr>
          <a:xfrm>
            <a:off x="1051084" y="574714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200"/>
              <a:buFont typeface="Crimson Pro"/>
              <a:buNone/>
            </a:pPr>
            <a:r>
              <a:rPr b="0" i="0" lang="en-US" sz="2200" u="none" cap="none" strike="noStrike">
                <a:solidFill>
                  <a:srgbClr val="4C4C4D"/>
                </a:solidFill>
                <a:latin typeface="Crimson Pro"/>
                <a:ea typeface="Crimson Pro"/>
                <a:cs typeface="Crimson Pro"/>
                <a:sym typeface="Crimson Pro"/>
              </a:rPr>
              <a:t>Rapid Market Growth</a:t>
            </a:r>
            <a:endParaRPr b="0" i="0" sz="2200" u="none" cap="none" strike="noStrike"/>
          </a:p>
        </p:txBody>
      </p:sp>
      <p:sp>
        <p:nvSpPr>
          <p:cNvPr id="100" name="Google Shape;100;p19"/>
          <p:cNvSpPr/>
          <p:nvPr/>
        </p:nvSpPr>
        <p:spPr>
          <a:xfrm>
            <a:off x="1051084" y="6237565"/>
            <a:ext cx="5893356"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The market is expanding swiftly, projected to grow from $1.35 trillion in 2024 to $2 trillion by 2030, driven by evolving consumer needs.</a:t>
            </a:r>
            <a:endParaRPr b="0" i="0" sz="1750" u="none" cap="none" strike="noStrike"/>
          </a:p>
        </p:txBody>
      </p:sp>
      <p:sp>
        <p:nvSpPr>
          <p:cNvPr id="101" name="Google Shape;101;p19"/>
          <p:cNvSpPr/>
          <p:nvPr/>
        </p:nvSpPr>
        <p:spPr>
          <a:xfrm>
            <a:off x="7428548" y="4809411"/>
            <a:ext cx="6408063" cy="2774156"/>
          </a:xfrm>
          <a:prstGeom prst="roundRect">
            <a:avLst>
              <a:gd fmla="val 1226"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9"/>
          <p:cNvSpPr/>
          <p:nvPr/>
        </p:nvSpPr>
        <p:spPr>
          <a:xfrm>
            <a:off x="7459027" y="4839891"/>
            <a:ext cx="6347103" cy="680442"/>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19"/>
          <p:cNvPicPr preferRelativeResize="0"/>
          <p:nvPr/>
        </p:nvPicPr>
        <p:blipFill rotWithShape="1">
          <a:blip r:embed="rId6">
            <a:alphaModFix/>
          </a:blip>
          <a:srcRect b="0" l="0" r="0" t="0"/>
          <a:stretch/>
        </p:blipFill>
        <p:spPr>
          <a:xfrm>
            <a:off x="10462498" y="4967407"/>
            <a:ext cx="340162" cy="425291"/>
          </a:xfrm>
          <a:prstGeom prst="rect">
            <a:avLst/>
          </a:prstGeom>
          <a:noFill/>
          <a:ln>
            <a:noFill/>
          </a:ln>
        </p:spPr>
      </p:pic>
      <p:sp>
        <p:nvSpPr>
          <p:cNvPr id="104" name="Google Shape;104;p19"/>
          <p:cNvSpPr/>
          <p:nvPr/>
        </p:nvSpPr>
        <p:spPr>
          <a:xfrm>
            <a:off x="7685842" y="5747147"/>
            <a:ext cx="361628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200"/>
              <a:buFont typeface="Crimson Pro"/>
              <a:buNone/>
            </a:pPr>
            <a:r>
              <a:rPr b="0" i="0" lang="en-US" sz="2200" u="none" cap="none" strike="noStrike">
                <a:solidFill>
                  <a:srgbClr val="4C4C4D"/>
                </a:solidFill>
                <a:latin typeface="Crimson Pro"/>
                <a:ea typeface="Crimson Pro"/>
                <a:cs typeface="Crimson Pro"/>
                <a:sym typeface="Crimson Pro"/>
              </a:rPr>
              <a:t>Expanding Healthcare Services</a:t>
            </a:r>
            <a:endParaRPr b="0" i="0" sz="2200" u="none" cap="none" strike="noStrike"/>
          </a:p>
        </p:txBody>
      </p:sp>
      <p:sp>
        <p:nvSpPr>
          <p:cNvPr id="105" name="Google Shape;105;p19"/>
          <p:cNvSpPr/>
          <p:nvPr/>
        </p:nvSpPr>
        <p:spPr>
          <a:xfrm>
            <a:off x="7685842" y="6237565"/>
            <a:ext cx="5893475"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The traditional drug dispensing model is evolving to offer broader integrated healthcare services, adapting to new technological capabilities.</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p:nvPr/>
        </p:nvSpPr>
        <p:spPr>
          <a:xfrm>
            <a:off x="793790" y="795099"/>
            <a:ext cx="4535805" cy="531614"/>
          </a:xfrm>
          <a:prstGeom prst="rect">
            <a:avLst/>
          </a:prstGeom>
          <a:noFill/>
          <a:ln>
            <a:noFill/>
          </a:ln>
        </p:spPr>
        <p:txBody>
          <a:bodyPr anchorCtr="0" anchor="t" bIns="0" lIns="0" spcFirstLastPara="1" rIns="0" wrap="square" tIns="0">
            <a:noAutofit/>
          </a:bodyPr>
          <a:lstStyle/>
          <a:p>
            <a:pPr indent="0" lvl="0" marL="0" marR="0" rtl="0" algn="l">
              <a:lnSpc>
                <a:spcPct val="125757"/>
              </a:lnSpc>
              <a:spcBef>
                <a:spcPts val="0"/>
              </a:spcBef>
              <a:spcAft>
                <a:spcPts val="0"/>
              </a:spcAft>
              <a:buClr>
                <a:srgbClr val="B31849"/>
              </a:buClr>
              <a:buSzPts val="3300"/>
              <a:buFont typeface="Crimson Pro"/>
              <a:buNone/>
            </a:pPr>
            <a:r>
              <a:rPr b="0" i="0" lang="en-US" sz="3300" u="none" cap="none" strike="noStrike">
                <a:solidFill>
                  <a:srgbClr val="B31849"/>
                </a:solidFill>
                <a:latin typeface="Crimson Pro"/>
                <a:ea typeface="Crimson Pro"/>
                <a:cs typeface="Crimson Pro"/>
                <a:sym typeface="Crimson Pro"/>
              </a:rPr>
              <a:t>Risks and Opportunities : </a:t>
            </a:r>
            <a:endParaRPr b="0" i="0" sz="3300" u="none" cap="none" strike="noStrike"/>
          </a:p>
        </p:txBody>
      </p:sp>
      <p:sp>
        <p:nvSpPr>
          <p:cNvPr id="112" name="Google Shape;112;p20"/>
          <p:cNvSpPr/>
          <p:nvPr/>
        </p:nvSpPr>
        <p:spPr>
          <a:xfrm>
            <a:off x="793790" y="1394698"/>
            <a:ext cx="12897564"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4C4C4D"/>
              </a:buClr>
              <a:buSzPts val="2650"/>
              <a:buFont typeface="Crimson Pro"/>
              <a:buNone/>
            </a:pPr>
            <a:r>
              <a:rPr b="0" i="0" lang="en-US" sz="2650" u="none" cap="none" strike="noStrike">
                <a:solidFill>
                  <a:srgbClr val="4C4C4D"/>
                </a:solidFill>
                <a:latin typeface="Crimson Pro"/>
                <a:ea typeface="Crimson Pro"/>
                <a:cs typeface="Crimson Pro"/>
                <a:sym typeface="Crimson Pro"/>
              </a:rPr>
              <a:t>High barriers to entry for competitors, vulnerabilities to digital disruptors and market shifts</a:t>
            </a:r>
            <a:endParaRPr b="0" i="0" sz="2650" u="none" cap="none" strike="noStrike"/>
          </a:p>
        </p:txBody>
      </p:sp>
      <p:pic>
        <p:nvPicPr>
          <p:cNvPr descr="preencoded.png" id="113" name="Google Shape;113;p20"/>
          <p:cNvPicPr preferRelativeResize="0"/>
          <p:nvPr/>
        </p:nvPicPr>
        <p:blipFill rotWithShape="1">
          <a:blip r:embed="rId3">
            <a:alphaModFix/>
          </a:blip>
          <a:srcRect b="0" l="0" r="0" t="0"/>
          <a:stretch/>
        </p:blipFill>
        <p:spPr>
          <a:xfrm>
            <a:off x="2424113" y="2075140"/>
            <a:ext cx="9782056" cy="4895850"/>
          </a:xfrm>
          <a:prstGeom prst="rect">
            <a:avLst/>
          </a:prstGeom>
          <a:noFill/>
          <a:ln>
            <a:noFill/>
          </a:ln>
        </p:spPr>
      </p:pic>
      <p:sp>
        <p:nvSpPr>
          <p:cNvPr id="114" name="Google Shape;114;p20"/>
          <p:cNvSpPr/>
          <p:nvPr/>
        </p:nvSpPr>
        <p:spPr>
          <a:xfrm>
            <a:off x="2468151" y="4179818"/>
            <a:ext cx="1837166" cy="549684"/>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High Substitution Risk</a:t>
            </a:r>
            <a:endParaRPr b="0" i="0" sz="1350" u="none" cap="none" strike="noStrike"/>
          </a:p>
        </p:txBody>
      </p:sp>
      <p:sp>
        <p:nvSpPr>
          <p:cNvPr id="115" name="Google Shape;115;p20"/>
          <p:cNvSpPr/>
          <p:nvPr/>
        </p:nvSpPr>
        <p:spPr>
          <a:xfrm>
            <a:off x="6217911" y="6554147"/>
            <a:ext cx="2198735" cy="274842"/>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High Buyer Power</a:t>
            </a:r>
            <a:endParaRPr b="0" i="0" sz="1350" u="none" cap="none" strike="noStrike"/>
          </a:p>
        </p:txBody>
      </p:sp>
      <p:sp>
        <p:nvSpPr>
          <p:cNvPr id="116" name="Google Shape;116;p20"/>
          <p:cNvSpPr/>
          <p:nvPr/>
        </p:nvSpPr>
        <p:spPr>
          <a:xfrm>
            <a:off x="10315193" y="4179818"/>
            <a:ext cx="1837165" cy="549684"/>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High Supplier Power</a:t>
            </a:r>
            <a:endParaRPr b="0" i="0" sz="1350" u="none" cap="none" strike="noStrike"/>
          </a:p>
        </p:txBody>
      </p:sp>
      <p:sp>
        <p:nvSpPr>
          <p:cNvPr id="117" name="Google Shape;117;p20"/>
          <p:cNvSpPr/>
          <p:nvPr/>
        </p:nvSpPr>
        <p:spPr>
          <a:xfrm>
            <a:off x="6212414" y="2276080"/>
            <a:ext cx="2198735" cy="274842"/>
          </a:xfrm>
          <a:prstGeom prst="rect">
            <a:avLst/>
          </a:prstGeom>
          <a:noFill/>
          <a:ln>
            <a:noFill/>
          </a:ln>
        </p:spPr>
        <p:txBody>
          <a:bodyPr anchorCtr="0" anchor="t" bIns="0" lIns="0" spcFirstLastPara="1" rIns="0" wrap="square" tIns="0">
            <a:noAutofit/>
          </a:bodyPr>
          <a:lstStyle/>
          <a:p>
            <a:pPr indent="0" lvl="0" marL="0" marR="0" rtl="0" algn="ct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High Barrier</a:t>
            </a:r>
            <a:endParaRPr b="0" i="0" sz="1350" u="none" cap="none" strike="noStrike"/>
          </a:p>
        </p:txBody>
      </p:sp>
      <p:sp>
        <p:nvSpPr>
          <p:cNvPr id="118" name="Google Shape;118;p20"/>
          <p:cNvSpPr/>
          <p:nvPr/>
        </p:nvSpPr>
        <p:spPr>
          <a:xfrm>
            <a:off x="5165266" y="5246205"/>
            <a:ext cx="1886026" cy="879494"/>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C4C4D"/>
              </a:buClr>
              <a:buSzPts val="1050"/>
              <a:buFont typeface="Heebo"/>
              <a:buNone/>
            </a:pPr>
            <a:r>
              <a:rPr b="0" i="0" lang="en-US" sz="1050" u="none" cap="none" strike="noStrike">
                <a:solidFill>
                  <a:srgbClr val="4C4C4D"/>
                </a:solidFill>
                <a:latin typeface="Heebo"/>
                <a:ea typeface="Heebo"/>
                <a:cs typeface="Heebo"/>
                <a:sym typeface="Heebo"/>
              </a:rPr>
              <a:t>Bargaining Power of Buyers (High): consumer choice and PBM leverage</a:t>
            </a:r>
            <a:endParaRPr b="0" i="0" sz="1050" u="none" cap="none" strike="noStrike"/>
          </a:p>
        </p:txBody>
      </p:sp>
      <p:pic>
        <p:nvPicPr>
          <p:cNvPr descr="preencoded.png" id="119" name="Google Shape;119;p20"/>
          <p:cNvPicPr preferRelativeResize="0"/>
          <p:nvPr/>
        </p:nvPicPr>
        <p:blipFill rotWithShape="1">
          <a:blip r:embed="rId4">
            <a:alphaModFix/>
          </a:blip>
          <a:srcRect b="0" l="0" r="0" t="0"/>
          <a:stretch/>
        </p:blipFill>
        <p:spPr>
          <a:xfrm>
            <a:off x="5914058" y="4873947"/>
            <a:ext cx="273621" cy="273621"/>
          </a:xfrm>
          <a:prstGeom prst="rect">
            <a:avLst/>
          </a:prstGeom>
          <a:noFill/>
          <a:ln>
            <a:noFill/>
          </a:ln>
        </p:spPr>
      </p:pic>
      <p:sp>
        <p:nvSpPr>
          <p:cNvPr id="120" name="Google Shape;120;p20"/>
          <p:cNvSpPr/>
          <p:nvPr/>
        </p:nvSpPr>
        <p:spPr>
          <a:xfrm>
            <a:off x="7754888" y="5365913"/>
            <a:ext cx="1886025" cy="659621"/>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C4C4D"/>
              </a:buClr>
              <a:buSzPts val="1050"/>
              <a:buFont typeface="Heebo"/>
              <a:buNone/>
            </a:pPr>
            <a:r>
              <a:rPr b="0" i="0" lang="en-US" sz="1050" u="none" cap="none" strike="noStrike">
                <a:solidFill>
                  <a:srgbClr val="4C4C4D"/>
                </a:solidFill>
                <a:latin typeface="Heebo"/>
                <a:ea typeface="Heebo"/>
                <a:cs typeface="Heebo"/>
                <a:sym typeface="Heebo"/>
              </a:rPr>
              <a:t>Threat of Substitutes (High): growth of digital health and telehealth</a:t>
            </a:r>
            <a:endParaRPr b="0" i="0" sz="1050" u="none" cap="none" strike="noStrike"/>
          </a:p>
        </p:txBody>
      </p:sp>
      <p:pic>
        <p:nvPicPr>
          <p:cNvPr descr="preencoded.png" id="121" name="Google Shape;121;p20"/>
          <p:cNvPicPr preferRelativeResize="0"/>
          <p:nvPr/>
        </p:nvPicPr>
        <p:blipFill rotWithShape="1">
          <a:blip r:embed="rId5">
            <a:alphaModFix/>
          </a:blip>
          <a:srcRect b="0" l="0" r="0" t="0"/>
          <a:stretch/>
        </p:blipFill>
        <p:spPr>
          <a:xfrm>
            <a:off x="8561090" y="4879749"/>
            <a:ext cx="273621" cy="273621"/>
          </a:xfrm>
          <a:prstGeom prst="rect">
            <a:avLst/>
          </a:prstGeom>
          <a:noFill/>
          <a:ln>
            <a:noFill/>
          </a:ln>
        </p:spPr>
      </p:pic>
      <p:sp>
        <p:nvSpPr>
          <p:cNvPr id="122" name="Google Shape;122;p20"/>
          <p:cNvSpPr/>
          <p:nvPr/>
        </p:nvSpPr>
        <p:spPr>
          <a:xfrm>
            <a:off x="7754888" y="3448128"/>
            <a:ext cx="1886025" cy="879494"/>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C4C4D"/>
              </a:buClr>
              <a:buSzPts val="1050"/>
              <a:buFont typeface="Heebo"/>
              <a:buNone/>
            </a:pPr>
            <a:r>
              <a:rPr b="0" i="0" lang="en-US" sz="1050" u="none" cap="none" strike="noStrike">
                <a:solidFill>
                  <a:srgbClr val="4C4C4D"/>
                </a:solidFill>
                <a:latin typeface="Heebo"/>
                <a:ea typeface="Heebo"/>
                <a:cs typeface="Heebo"/>
                <a:sym typeface="Heebo"/>
              </a:rPr>
              <a:t>Bargaining Power of Suppliers (High): rising drug costs, PBM concentration</a:t>
            </a:r>
            <a:endParaRPr b="0" i="0" sz="1050" u="none" cap="none" strike="noStrike"/>
          </a:p>
        </p:txBody>
      </p:sp>
      <p:pic>
        <p:nvPicPr>
          <p:cNvPr descr="preencoded.png" id="123" name="Google Shape;123;p20"/>
          <p:cNvPicPr preferRelativeResize="0"/>
          <p:nvPr/>
        </p:nvPicPr>
        <p:blipFill rotWithShape="1">
          <a:blip r:embed="rId6">
            <a:alphaModFix/>
          </a:blip>
          <a:srcRect b="0" l="0" r="0" t="0"/>
          <a:stretch/>
        </p:blipFill>
        <p:spPr>
          <a:xfrm>
            <a:off x="8561090" y="3071900"/>
            <a:ext cx="273621" cy="273620"/>
          </a:xfrm>
          <a:prstGeom prst="rect">
            <a:avLst/>
          </a:prstGeom>
          <a:noFill/>
          <a:ln>
            <a:noFill/>
          </a:ln>
        </p:spPr>
      </p:pic>
      <p:sp>
        <p:nvSpPr>
          <p:cNvPr id="124" name="Google Shape;124;p20"/>
          <p:cNvSpPr/>
          <p:nvPr/>
        </p:nvSpPr>
        <p:spPr>
          <a:xfrm>
            <a:off x="5106633" y="3558065"/>
            <a:ext cx="1886026" cy="659620"/>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4C4C4D"/>
              </a:buClr>
              <a:buSzPts val="1050"/>
              <a:buFont typeface="Heebo"/>
              <a:buNone/>
            </a:pPr>
            <a:r>
              <a:rPr b="0" i="0" lang="en-US" sz="1050" u="none" cap="none" strike="noStrike">
                <a:solidFill>
                  <a:srgbClr val="4C4C4D"/>
                </a:solidFill>
                <a:latin typeface="Heebo"/>
                <a:ea typeface="Heebo"/>
                <a:cs typeface="Heebo"/>
                <a:sym typeface="Heebo"/>
              </a:rPr>
              <a:t>Threat of New Entrants (Low): high capital and regulation</a:t>
            </a:r>
            <a:endParaRPr b="0" i="0" sz="1050" u="none" cap="none" strike="noStrike"/>
          </a:p>
        </p:txBody>
      </p:sp>
      <p:pic>
        <p:nvPicPr>
          <p:cNvPr descr="preencoded.png" id="125" name="Google Shape;125;p20"/>
          <p:cNvPicPr preferRelativeResize="0"/>
          <p:nvPr/>
        </p:nvPicPr>
        <p:blipFill rotWithShape="1">
          <a:blip r:embed="rId7">
            <a:alphaModFix/>
          </a:blip>
          <a:srcRect b="0" l="0" r="0" t="0"/>
          <a:stretch/>
        </p:blipFill>
        <p:spPr>
          <a:xfrm>
            <a:off x="5912836" y="3071900"/>
            <a:ext cx="273621" cy="273620"/>
          </a:xfrm>
          <a:prstGeom prst="rect">
            <a:avLst/>
          </a:prstGeom>
          <a:noFill/>
          <a:ln>
            <a:noFill/>
          </a:ln>
        </p:spPr>
      </p:pic>
      <p:sp>
        <p:nvSpPr>
          <p:cNvPr id="126" name="Google Shape;126;p20"/>
          <p:cNvSpPr/>
          <p:nvPr/>
        </p:nvSpPr>
        <p:spPr>
          <a:xfrm>
            <a:off x="793790" y="7162324"/>
            <a:ext cx="13042821" cy="272177"/>
          </a:xfrm>
          <a:prstGeom prst="rect">
            <a:avLst/>
          </a:prstGeom>
          <a:noFill/>
          <a:ln>
            <a:noFill/>
          </a:ln>
        </p:spPr>
        <p:txBody>
          <a:bodyPr anchorCtr="0" anchor="t" bIns="0" lIns="0" spcFirstLastPara="1" rIns="0" wrap="square" tIns="0">
            <a:noAutofit/>
          </a:bodyPr>
          <a:lstStyle/>
          <a:p>
            <a:pPr indent="0" lvl="0" marL="0" marR="0" rtl="0" algn="ctr">
              <a:lnSpc>
                <a:spcPct val="161538"/>
              </a:lnSpc>
              <a:spcBef>
                <a:spcPts val="0"/>
              </a:spcBef>
              <a:spcAft>
                <a:spcPts val="0"/>
              </a:spcAft>
              <a:buClr>
                <a:srgbClr val="4C4C4D"/>
              </a:buClr>
              <a:buSzPts val="1300"/>
              <a:buFont typeface="Heebo"/>
              <a:buNone/>
            </a:pPr>
            <a:r>
              <a:rPr b="0" i="0" lang="en-US" sz="1300" u="none" cap="none" strike="noStrike">
                <a:solidFill>
                  <a:srgbClr val="4C4C4D"/>
                </a:solidFill>
                <a:latin typeface="Heebo"/>
                <a:ea typeface="Heebo"/>
                <a:cs typeface="Heebo"/>
                <a:sym typeface="Heebo"/>
              </a:rPr>
              <a:t>This analysis reveals a </a:t>
            </a:r>
            <a:r>
              <a:rPr b="1" i="0" lang="en-US" sz="1300" u="none" cap="none" strike="noStrike">
                <a:solidFill>
                  <a:srgbClr val="4C4C4D"/>
                </a:solidFill>
                <a:latin typeface="Heebo"/>
                <a:ea typeface="Heebo"/>
                <a:cs typeface="Heebo"/>
                <a:sym typeface="Heebo"/>
              </a:rPr>
              <a:t>fortified position against traditional entrants </a:t>
            </a:r>
            <a:r>
              <a:rPr b="0" i="0" lang="en-US" sz="1300" u="none" cap="none" strike="noStrike">
                <a:solidFill>
                  <a:srgbClr val="4C4C4D"/>
                </a:solidFill>
                <a:latin typeface="Heebo"/>
                <a:ea typeface="Heebo"/>
                <a:cs typeface="Heebo"/>
                <a:sym typeface="Heebo"/>
              </a:rPr>
              <a:t>but highlights </a:t>
            </a:r>
            <a:r>
              <a:rPr b="1" i="0" lang="en-US" sz="1300" u="none" cap="none" strike="noStrike">
                <a:solidFill>
                  <a:srgbClr val="4C4C4D"/>
                </a:solidFill>
                <a:latin typeface="Heebo"/>
                <a:ea typeface="Heebo"/>
                <a:cs typeface="Heebo"/>
                <a:sym typeface="Heebo"/>
              </a:rPr>
              <a:t>vulnerabilities to digital disruptors and market shifts.</a:t>
            </a:r>
            <a:endParaRPr b="0" i="0" sz="13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p:nvPr/>
        </p:nvSpPr>
        <p:spPr>
          <a:xfrm>
            <a:off x="793790" y="928092"/>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B31849"/>
              </a:buClr>
              <a:buSzPts val="4450"/>
              <a:buFont typeface="Crimson Pro"/>
              <a:buNone/>
            </a:pPr>
            <a:r>
              <a:rPr b="0" i="0" lang="en-US" sz="4450" u="none" cap="none" strike="noStrike">
                <a:solidFill>
                  <a:srgbClr val="B31849"/>
                </a:solidFill>
                <a:latin typeface="Crimson Pro"/>
                <a:ea typeface="Crimson Pro"/>
                <a:cs typeface="Crimson Pro"/>
                <a:sym typeface="Crimson Pro"/>
              </a:rPr>
              <a:t>The Core Challenge: Balancing Strong Vertical Integration, Legal Risk and Trust</a:t>
            </a:r>
            <a:endParaRPr b="0" i="0" sz="4450" u="none" cap="none" strike="noStrike"/>
          </a:p>
        </p:txBody>
      </p:sp>
      <p:sp>
        <p:nvSpPr>
          <p:cNvPr id="133" name="Google Shape;133;p21"/>
          <p:cNvSpPr/>
          <p:nvPr/>
        </p:nvSpPr>
        <p:spPr>
          <a:xfrm>
            <a:off x="793790" y="2912626"/>
            <a:ext cx="6244709" cy="2977039"/>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4C4C4D"/>
              </a:buClr>
              <a:buSzPts val="2650"/>
              <a:buFont typeface="Crimson Pro"/>
              <a:buNone/>
            </a:pPr>
            <a:r>
              <a:rPr b="0" i="0" lang="en-US" sz="2650" u="none" cap="none" strike="noStrike">
                <a:solidFill>
                  <a:srgbClr val="4C4C4D"/>
                </a:solidFill>
                <a:latin typeface="Crimson Pro"/>
                <a:ea typeface="Crimson Pro"/>
                <a:cs typeface="Crimson Pro"/>
                <a:sym typeface="Crimson Pro"/>
              </a:rPr>
              <a:t>How can CVS Health leverage its vertically integrated assets (Aetna, Caremark), and its retail footprint to create differentiated market advantages and superior patient outcomes, while  building  legal and ethical firewalls that  mitigate antitrust risk and enhance public trust?</a:t>
            </a:r>
            <a:endParaRPr b="0" i="0" sz="2650" u="none" cap="none" strike="noStrike"/>
          </a:p>
        </p:txBody>
      </p:sp>
      <p:sp>
        <p:nvSpPr>
          <p:cNvPr id="134" name="Google Shape;134;p21"/>
          <p:cNvSpPr/>
          <p:nvPr/>
        </p:nvSpPr>
        <p:spPr>
          <a:xfrm>
            <a:off x="793790" y="6116479"/>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pic>
        <p:nvPicPr>
          <p:cNvPr descr="preencoded.png" id="135" name="Google Shape;135;p21"/>
          <p:cNvPicPr preferRelativeResize="0"/>
          <p:nvPr/>
        </p:nvPicPr>
        <p:blipFill rotWithShape="1">
          <a:blip r:embed="rId3">
            <a:alphaModFix/>
          </a:blip>
          <a:srcRect b="0" l="0" r="0" t="0"/>
          <a:stretch/>
        </p:blipFill>
        <p:spPr>
          <a:xfrm>
            <a:off x="7603569" y="2940963"/>
            <a:ext cx="6240661" cy="3100030"/>
          </a:xfrm>
          <a:prstGeom prst="rect">
            <a:avLst/>
          </a:prstGeom>
          <a:noFill/>
          <a:ln>
            <a:noFill/>
          </a:ln>
        </p:spPr>
      </p:pic>
      <p:sp>
        <p:nvSpPr>
          <p:cNvPr id="136" name="Google Shape;136;p21"/>
          <p:cNvSpPr/>
          <p:nvPr/>
        </p:nvSpPr>
        <p:spPr>
          <a:xfrm>
            <a:off x="12208347" y="3814879"/>
            <a:ext cx="1412281" cy="176535"/>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Operational Synergy</a:t>
            </a:r>
            <a:endParaRPr b="0" i="0" sz="1350" u="none" cap="none" strike="noStrike"/>
          </a:p>
        </p:txBody>
      </p:sp>
      <p:sp>
        <p:nvSpPr>
          <p:cNvPr id="137" name="Google Shape;137;p21"/>
          <p:cNvSpPr/>
          <p:nvPr/>
        </p:nvSpPr>
        <p:spPr>
          <a:xfrm>
            <a:off x="12208347" y="4982463"/>
            <a:ext cx="1412281" cy="176535"/>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Reputation &amp; Trust</a:t>
            </a:r>
            <a:endParaRPr b="0" i="0" sz="1350" u="none" cap="none" strike="noStrike"/>
          </a:p>
        </p:txBody>
      </p:sp>
      <p:pic>
        <p:nvPicPr>
          <p:cNvPr descr="preencoded.png" id="138" name="Google Shape;138;p21"/>
          <p:cNvPicPr preferRelativeResize="0"/>
          <p:nvPr/>
        </p:nvPicPr>
        <p:blipFill rotWithShape="1">
          <a:blip r:embed="rId4">
            <a:alphaModFix/>
          </a:blip>
          <a:srcRect b="0" l="0" r="0" t="0"/>
          <a:stretch/>
        </p:blipFill>
        <p:spPr>
          <a:xfrm>
            <a:off x="11050276" y="4904395"/>
            <a:ext cx="313839" cy="313840"/>
          </a:xfrm>
          <a:prstGeom prst="rect">
            <a:avLst/>
          </a:prstGeom>
          <a:noFill/>
          <a:ln>
            <a:noFill/>
          </a:ln>
        </p:spPr>
      </p:pic>
      <p:sp>
        <p:nvSpPr>
          <p:cNvPr id="139" name="Google Shape;139;p21"/>
          <p:cNvSpPr/>
          <p:nvPr/>
        </p:nvSpPr>
        <p:spPr>
          <a:xfrm>
            <a:off x="7827135" y="4982463"/>
            <a:ext cx="1412282" cy="176535"/>
          </a:xfrm>
          <a:prstGeom prst="rect">
            <a:avLst/>
          </a:prstGeom>
          <a:noFill/>
          <a:ln>
            <a:noFill/>
          </a:ln>
        </p:spPr>
        <p:txBody>
          <a:bodyPr anchorCtr="0" anchor="t" bIns="0" lIns="0" spcFirstLastPara="1" rIns="0" wrap="square" tIns="0">
            <a:noAutofit/>
          </a:bodyPr>
          <a:lstStyle/>
          <a:p>
            <a:pPr indent="0" lvl="0" marL="0" marR="0" rtl="0" algn="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Legal Risk</a:t>
            </a:r>
            <a:endParaRPr b="0" i="0" sz="1350" u="none" cap="none" strike="noStrike"/>
          </a:p>
        </p:txBody>
      </p:sp>
      <p:pic>
        <p:nvPicPr>
          <p:cNvPr descr="preencoded.png" id="140" name="Google Shape;140;p21"/>
          <p:cNvPicPr preferRelativeResize="0"/>
          <p:nvPr/>
        </p:nvPicPr>
        <p:blipFill rotWithShape="1">
          <a:blip r:embed="rId5">
            <a:alphaModFix/>
          </a:blip>
          <a:srcRect b="0" l="0" r="0" t="0"/>
          <a:stretch/>
        </p:blipFill>
        <p:spPr>
          <a:xfrm>
            <a:off x="9870237" y="4979717"/>
            <a:ext cx="313839" cy="313840"/>
          </a:xfrm>
          <a:prstGeom prst="rect">
            <a:avLst/>
          </a:prstGeom>
          <a:noFill/>
          <a:ln>
            <a:noFill/>
          </a:ln>
        </p:spPr>
      </p:pic>
      <p:pic>
        <p:nvPicPr>
          <p:cNvPr descr="preencoded.png" id="141" name="Google Shape;141;p21"/>
          <p:cNvPicPr preferRelativeResize="0"/>
          <p:nvPr/>
        </p:nvPicPr>
        <p:blipFill rotWithShape="1">
          <a:blip r:embed="rId6">
            <a:alphaModFix/>
          </a:blip>
          <a:srcRect b="0" l="0" r="0" t="0"/>
          <a:stretch/>
        </p:blipFill>
        <p:spPr>
          <a:xfrm>
            <a:off x="9870824" y="3812231"/>
            <a:ext cx="313840" cy="313840"/>
          </a:xfrm>
          <a:prstGeom prst="rect">
            <a:avLst/>
          </a:prstGeom>
          <a:noFill/>
          <a:ln>
            <a:noFill/>
          </a:ln>
        </p:spPr>
      </p:pic>
      <p:sp>
        <p:nvSpPr>
          <p:cNvPr id="142" name="Google Shape;142;p21"/>
          <p:cNvSpPr/>
          <p:nvPr/>
        </p:nvSpPr>
        <p:spPr>
          <a:xfrm>
            <a:off x="7758679" y="3723571"/>
            <a:ext cx="1481326" cy="353071"/>
          </a:xfrm>
          <a:prstGeom prst="rect">
            <a:avLst/>
          </a:prstGeom>
          <a:noFill/>
          <a:ln>
            <a:noFill/>
          </a:ln>
        </p:spPr>
        <p:txBody>
          <a:bodyPr anchorCtr="0" anchor="t" bIns="0" lIns="0" spcFirstLastPara="1" rIns="0" wrap="square" tIns="0">
            <a:noAutofit/>
          </a:bodyPr>
          <a:lstStyle/>
          <a:p>
            <a:pPr indent="0" lvl="0" marL="0" marR="0" rtl="0" algn="r">
              <a:lnSpc>
                <a:spcPct val="122222"/>
              </a:lnSpc>
              <a:spcBef>
                <a:spcPts val="0"/>
              </a:spcBef>
              <a:spcAft>
                <a:spcPts val="0"/>
              </a:spcAft>
              <a:buClr>
                <a:srgbClr val="4C4C4D"/>
              </a:buClr>
              <a:buSzPts val="1350"/>
              <a:buFont typeface="Crimson Pro"/>
              <a:buNone/>
            </a:pPr>
            <a:r>
              <a:rPr b="0" i="0" lang="en-US" sz="1350" u="none" cap="none" strike="noStrike">
                <a:solidFill>
                  <a:srgbClr val="4C4C4D"/>
                </a:solidFill>
                <a:latin typeface="Crimson Pro"/>
                <a:ea typeface="Crimson Pro"/>
                <a:cs typeface="Crimson Pro"/>
                <a:sym typeface="Crimson Pro"/>
              </a:rPr>
              <a:t>Strong Vertical Integration</a:t>
            </a:r>
            <a:endParaRPr b="0" i="0" sz="1350" u="none" cap="none" strike="noStrike"/>
          </a:p>
        </p:txBody>
      </p:sp>
      <p:sp>
        <p:nvSpPr>
          <p:cNvPr id="143" name="Google Shape;143;p21"/>
          <p:cNvSpPr/>
          <p:nvPr/>
        </p:nvSpPr>
        <p:spPr>
          <a:xfrm>
            <a:off x="793790" y="6938605"/>
            <a:ext cx="130428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SzPts val="1750"/>
              <a:buFont typeface="Arial"/>
              <a:buNone/>
            </a:pPr>
            <a:r>
              <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p:nvPr/>
        </p:nvSpPr>
        <p:spPr>
          <a:xfrm>
            <a:off x="793790" y="73473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31849"/>
              </a:buClr>
              <a:buSzPts val="2200"/>
              <a:buFont typeface="Crimson Pro"/>
              <a:buNone/>
            </a:pPr>
            <a:r>
              <a:rPr b="0" i="0" lang="en-US" sz="2200" u="none" cap="none" strike="noStrike">
                <a:solidFill>
                  <a:srgbClr val="B31849"/>
                </a:solidFill>
                <a:latin typeface="Crimson Pro"/>
                <a:ea typeface="Crimson Pro"/>
                <a:cs typeface="Crimson Pro"/>
                <a:sym typeface="Crimson Pro"/>
              </a:rPr>
              <a:t>Diagnosis</a:t>
            </a:r>
            <a:endParaRPr b="0" i="0" sz="2200" u="none" cap="none" strike="noStrike"/>
          </a:p>
        </p:txBody>
      </p:sp>
      <p:sp>
        <p:nvSpPr>
          <p:cNvPr id="150" name="Google Shape;150;p22"/>
          <p:cNvSpPr/>
          <p:nvPr/>
        </p:nvSpPr>
        <p:spPr>
          <a:xfrm>
            <a:off x="793790" y="1179790"/>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B31849"/>
              </a:buClr>
              <a:buSzPts val="4450"/>
              <a:buFont typeface="Crimson Pro"/>
              <a:buNone/>
            </a:pPr>
            <a:r>
              <a:rPr b="0" i="0" lang="en-US" sz="4450" u="none" cap="none" strike="noStrike">
                <a:solidFill>
                  <a:srgbClr val="B31849"/>
                </a:solidFill>
                <a:latin typeface="Crimson Pro"/>
                <a:ea typeface="Crimson Pro"/>
                <a:cs typeface="Crimson Pro"/>
                <a:sym typeface="Crimson Pro"/>
              </a:rPr>
              <a:t>Our main shortcoming is our biggest streghth : Aggressive Vertical Integration</a:t>
            </a:r>
            <a:endParaRPr b="0" i="0" sz="4450" u="none" cap="none" strike="noStrike"/>
          </a:p>
        </p:txBody>
      </p:sp>
      <p:sp>
        <p:nvSpPr>
          <p:cNvPr id="151" name="Google Shape;151;p22"/>
          <p:cNvSpPr/>
          <p:nvPr/>
        </p:nvSpPr>
        <p:spPr>
          <a:xfrm>
            <a:off x="793790" y="2937510"/>
            <a:ext cx="130428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C4C4D"/>
              </a:buClr>
              <a:buSzPts val="1750"/>
              <a:buFont typeface="Heebo"/>
              <a:buNone/>
            </a:pPr>
            <a:r>
              <a:rPr b="0" i="0" lang="en-US" sz="1750" u="none" cap="none" strike="noStrike">
                <a:solidFill>
                  <a:srgbClr val="4C4C4D"/>
                </a:solidFill>
                <a:latin typeface="Heebo"/>
                <a:ea typeface="Heebo"/>
                <a:cs typeface="Heebo"/>
                <a:sym typeface="Heebo"/>
              </a:rPr>
              <a:t>CVS Health's current strategy involves rapid expansion beyond its core pharmacy business into insurance (Aetna), PBM (Caremark), and provider services (HealthHUB, MinuteClinic) to build a fully integrated healthcare ecosystem. This has, however, unintentionally created regulatory, reputational, and financial vulnerabilities.</a:t>
            </a:r>
            <a:endParaRPr b="0" i="0" sz="1750" u="none" cap="none" strike="noStrike"/>
          </a:p>
        </p:txBody>
      </p:sp>
      <p:sp>
        <p:nvSpPr>
          <p:cNvPr id="152" name="Google Shape;152;p22"/>
          <p:cNvSpPr/>
          <p:nvPr/>
        </p:nvSpPr>
        <p:spPr>
          <a:xfrm>
            <a:off x="793790" y="4281368"/>
            <a:ext cx="6407944" cy="3213497"/>
          </a:xfrm>
          <a:prstGeom prst="roundRect">
            <a:avLst>
              <a:gd fmla="val 4553"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p:nvPr/>
        </p:nvSpPr>
        <p:spPr>
          <a:xfrm>
            <a:off x="763310" y="4281368"/>
            <a:ext cx="121920" cy="3213497"/>
          </a:xfrm>
          <a:prstGeom prst="roundRect">
            <a:avLst>
              <a:gd fmla="val 27907"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p:nvPr/>
        </p:nvSpPr>
        <p:spPr>
          <a:xfrm>
            <a:off x="1142524" y="4538663"/>
            <a:ext cx="5801916"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C4C4D"/>
              </a:buClr>
              <a:buSzPts val="1750"/>
              <a:buFont typeface="Heebo"/>
              <a:buChar char="•"/>
            </a:pPr>
            <a:r>
              <a:rPr b="0" i="0" lang="en-US" sz="1750" u="none" cap="none" strike="noStrike">
                <a:solidFill>
                  <a:srgbClr val="4C4C4D"/>
                </a:solidFill>
                <a:latin typeface="Heebo"/>
                <a:ea typeface="Heebo"/>
                <a:cs typeface="Heebo"/>
                <a:sym typeface="Heebo"/>
              </a:rPr>
              <a:t>Antitrust scrutiny over market concentration and potential anti-competitive behavior</a:t>
            </a:r>
            <a:endParaRPr b="0" i="0" sz="1750" u="none" cap="none" strike="noStrike"/>
          </a:p>
        </p:txBody>
      </p:sp>
      <p:sp>
        <p:nvSpPr>
          <p:cNvPr id="155" name="Google Shape;155;p22"/>
          <p:cNvSpPr/>
          <p:nvPr/>
        </p:nvSpPr>
        <p:spPr>
          <a:xfrm>
            <a:off x="1142524" y="5343763"/>
            <a:ext cx="5801916"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C4C4D"/>
              </a:buClr>
              <a:buSzPts val="1750"/>
              <a:buFont typeface="Heebo"/>
              <a:buChar char="•"/>
            </a:pPr>
            <a:r>
              <a:rPr b="0" i="0" lang="en-US" sz="1750" u="none" cap="none" strike="noStrike">
                <a:solidFill>
                  <a:srgbClr val="4C4C4D"/>
                </a:solidFill>
                <a:latin typeface="Heebo"/>
                <a:ea typeface="Heebo"/>
                <a:cs typeface="Heebo"/>
                <a:sym typeface="Heebo"/>
              </a:rPr>
              <a:t>Payer–provider dual role raises concerns about preferential treatment, patient steering, and exclusion of hospitals</a:t>
            </a:r>
            <a:endParaRPr b="0" i="0" sz="1750" u="none" cap="none" strike="noStrike"/>
          </a:p>
        </p:txBody>
      </p:sp>
      <p:sp>
        <p:nvSpPr>
          <p:cNvPr id="156" name="Google Shape;156;p22"/>
          <p:cNvSpPr/>
          <p:nvPr/>
        </p:nvSpPr>
        <p:spPr>
          <a:xfrm>
            <a:off x="1142524" y="6511766"/>
            <a:ext cx="5801916"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C4C4D"/>
              </a:buClr>
              <a:buSzPts val="1750"/>
              <a:buFont typeface="Heebo"/>
              <a:buChar char="•"/>
            </a:pPr>
            <a:r>
              <a:rPr b="0" i="0" lang="en-US" sz="1750" u="none" cap="none" strike="noStrike">
                <a:solidFill>
                  <a:srgbClr val="4C4C4D"/>
                </a:solidFill>
                <a:latin typeface="Heebo"/>
                <a:ea typeface="Heebo"/>
                <a:cs typeface="Heebo"/>
                <a:sym typeface="Heebo"/>
              </a:rPr>
              <a:t>Potential outcomes: operational restrictions, forced divestitures, fines, and increased oversight</a:t>
            </a:r>
            <a:endParaRPr b="0" i="0" sz="1750" u="none" cap="none" strike="noStrike"/>
          </a:p>
        </p:txBody>
      </p:sp>
      <p:sp>
        <p:nvSpPr>
          <p:cNvPr id="157" name="Google Shape;157;p22"/>
          <p:cNvSpPr/>
          <p:nvPr/>
        </p:nvSpPr>
        <p:spPr>
          <a:xfrm>
            <a:off x="7428548" y="4281368"/>
            <a:ext cx="6408063" cy="3213497"/>
          </a:xfrm>
          <a:prstGeom prst="roundRect">
            <a:avLst>
              <a:gd fmla="val 4553" name="adj"/>
            </a:avLst>
          </a:prstGeom>
          <a:solidFill>
            <a:srgbClr val="FFFFFF"/>
          </a:solidFill>
          <a:ln cap="flat" cmpd="sng" w="3047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p:nvPr/>
        </p:nvSpPr>
        <p:spPr>
          <a:xfrm>
            <a:off x="7398067" y="4281368"/>
            <a:ext cx="121920" cy="3213497"/>
          </a:xfrm>
          <a:prstGeom prst="roundRect">
            <a:avLst>
              <a:gd fmla="val 27907"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p:nvPr/>
        </p:nvSpPr>
        <p:spPr>
          <a:xfrm>
            <a:off x="7777282" y="4538663"/>
            <a:ext cx="309217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200"/>
              <a:buFont typeface="Crimson Pro"/>
              <a:buNone/>
            </a:pPr>
            <a:r>
              <a:rPr b="0" i="0" lang="en-US" sz="2200" u="none" cap="none" strike="noStrike">
                <a:solidFill>
                  <a:srgbClr val="4C4C4D"/>
                </a:solidFill>
                <a:latin typeface="Crimson Pro"/>
                <a:ea typeface="Crimson Pro"/>
                <a:cs typeface="Crimson Pro"/>
                <a:sym typeface="Crimson Pro"/>
              </a:rPr>
              <a:t>Erosion of Customer Trust</a:t>
            </a:r>
            <a:endParaRPr b="0" i="0" sz="2200" u="none" cap="none" strike="noStrike"/>
          </a:p>
        </p:txBody>
      </p:sp>
      <p:sp>
        <p:nvSpPr>
          <p:cNvPr id="160" name="Google Shape;160;p22"/>
          <p:cNvSpPr/>
          <p:nvPr/>
        </p:nvSpPr>
        <p:spPr>
          <a:xfrm>
            <a:off x="7777282" y="5029081"/>
            <a:ext cx="5802035"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C4C4D"/>
              </a:buClr>
              <a:buSzPts val="1750"/>
              <a:buFont typeface="Heebo"/>
              <a:buChar char="•"/>
            </a:pPr>
            <a:r>
              <a:rPr b="0" i="0" lang="en-US" sz="1750" u="none" cap="none" strike="noStrike">
                <a:solidFill>
                  <a:srgbClr val="4C4C4D"/>
                </a:solidFill>
                <a:latin typeface="Heebo"/>
                <a:ea typeface="Heebo"/>
                <a:cs typeface="Heebo"/>
                <a:sym typeface="Heebo"/>
              </a:rPr>
              <a:t>Negative publicity around legal investigations undermines CVS’s credibility and brand reputation</a:t>
            </a:r>
            <a:endParaRPr b="0" i="0" sz="1750" u="none" cap="none" strike="noStrike"/>
          </a:p>
        </p:txBody>
      </p:sp>
      <p:sp>
        <p:nvSpPr>
          <p:cNvPr id="161" name="Google Shape;161;p22"/>
          <p:cNvSpPr/>
          <p:nvPr/>
        </p:nvSpPr>
        <p:spPr>
          <a:xfrm>
            <a:off x="7777282" y="5834182"/>
            <a:ext cx="5802035"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4C4C4D"/>
              </a:buClr>
              <a:buSzPts val="1750"/>
              <a:buFont typeface="Heebo"/>
              <a:buChar char="•"/>
            </a:pPr>
            <a:r>
              <a:rPr b="0" i="0" lang="en-US" sz="1750" u="none" cap="none" strike="noStrike">
                <a:solidFill>
                  <a:srgbClr val="4C4C4D"/>
                </a:solidFill>
                <a:latin typeface="Heebo"/>
                <a:ea typeface="Heebo"/>
                <a:cs typeface="Heebo"/>
                <a:sym typeface="Heebo"/>
              </a:rPr>
              <a:t>Biased referrals, restricted provider networks, and data privacy also raises concerns</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p:nvPr/>
        </p:nvSpPr>
        <p:spPr>
          <a:xfrm>
            <a:off x="793790" y="912614"/>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1450"/>
              <a:buFont typeface="Crimson Pro"/>
              <a:buNone/>
            </a:pPr>
            <a:r>
              <a:rPr b="0" i="0" lang="en-US" sz="1450" u="none" cap="none" strike="noStrike">
                <a:solidFill>
                  <a:srgbClr val="B31849"/>
                </a:solidFill>
                <a:latin typeface="Crimson Pro"/>
                <a:ea typeface="Crimson Pro"/>
                <a:cs typeface="Crimson Pro"/>
                <a:sym typeface="Crimson Pro"/>
              </a:rPr>
              <a:t>DIAGNOSIS</a:t>
            </a:r>
            <a:endParaRPr b="0" i="0" sz="1450" u="none" cap="none" strike="noStrike"/>
          </a:p>
        </p:txBody>
      </p:sp>
      <p:sp>
        <p:nvSpPr>
          <p:cNvPr id="168" name="Google Shape;168;p23"/>
          <p:cNvSpPr/>
          <p:nvPr/>
        </p:nvSpPr>
        <p:spPr>
          <a:xfrm>
            <a:off x="793790" y="1201936"/>
            <a:ext cx="10187702" cy="460772"/>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2900"/>
              <a:buFont typeface="Crimson Pro"/>
              <a:buNone/>
            </a:pPr>
            <a:r>
              <a:rPr b="0" i="0" lang="en-US" sz="2900" u="none" cap="none" strike="noStrike">
                <a:solidFill>
                  <a:srgbClr val="B31849"/>
                </a:solidFill>
                <a:latin typeface="Crimson Pro"/>
                <a:ea typeface="Crimson Pro"/>
                <a:cs typeface="Crimson Pro"/>
                <a:sym typeface="Crimson Pro"/>
              </a:rPr>
              <a:t>Negative Financial Consequences of Aggressive Vertical Integration</a:t>
            </a:r>
            <a:endParaRPr b="0" i="0" sz="2900" u="none" cap="none" strike="noStrike"/>
          </a:p>
        </p:txBody>
      </p:sp>
      <p:sp>
        <p:nvSpPr>
          <p:cNvPr id="169" name="Google Shape;169;p23"/>
          <p:cNvSpPr/>
          <p:nvPr/>
        </p:nvSpPr>
        <p:spPr>
          <a:xfrm>
            <a:off x="793790" y="1721644"/>
            <a:ext cx="8222575" cy="2763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B31849"/>
              </a:buClr>
              <a:buSzPts val="1700"/>
              <a:buFont typeface="Crimson Pro"/>
              <a:buNone/>
            </a:pPr>
            <a:r>
              <a:rPr b="0" i="0" lang="en-US" sz="1700" u="none" cap="none" strike="noStrike">
                <a:solidFill>
                  <a:srgbClr val="B31849"/>
                </a:solidFill>
                <a:latin typeface="Crimson Pro"/>
                <a:ea typeface="Crimson Pro"/>
                <a:cs typeface="Crimson Pro"/>
                <a:sym typeface="Crimson Pro"/>
              </a:rPr>
              <a:t>Margin compression, profitability decline, and diminished strategic returns are key issues.</a:t>
            </a:r>
            <a:endParaRPr b="0" i="0" sz="1700" u="none" cap="none" strike="noStrike"/>
          </a:p>
        </p:txBody>
      </p:sp>
      <p:sp>
        <p:nvSpPr>
          <p:cNvPr id="170" name="Google Shape;170;p23"/>
          <p:cNvSpPr/>
          <p:nvPr/>
        </p:nvSpPr>
        <p:spPr>
          <a:xfrm>
            <a:off x="793790" y="2219087"/>
            <a:ext cx="4249341" cy="442198"/>
          </a:xfrm>
          <a:prstGeom prst="roundRect">
            <a:avLst>
              <a:gd fmla="val 480126" name="adj"/>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p23"/>
          <p:cNvPicPr preferRelativeResize="0"/>
          <p:nvPr/>
        </p:nvPicPr>
        <p:blipFill rotWithShape="1">
          <a:blip r:embed="rId3">
            <a:alphaModFix/>
          </a:blip>
          <a:srcRect b="0" l="0" r="0" t="0"/>
          <a:stretch/>
        </p:blipFill>
        <p:spPr>
          <a:xfrm>
            <a:off x="2807851" y="2301954"/>
            <a:ext cx="221099" cy="276344"/>
          </a:xfrm>
          <a:prstGeom prst="rect">
            <a:avLst/>
          </a:prstGeom>
          <a:noFill/>
          <a:ln>
            <a:noFill/>
          </a:ln>
        </p:spPr>
      </p:pic>
      <p:sp>
        <p:nvSpPr>
          <p:cNvPr id="172" name="Google Shape;172;p23"/>
          <p:cNvSpPr/>
          <p:nvPr/>
        </p:nvSpPr>
        <p:spPr>
          <a:xfrm>
            <a:off x="941189" y="2808684"/>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1450"/>
              <a:buFont typeface="Crimson Pro"/>
              <a:buNone/>
            </a:pPr>
            <a:r>
              <a:rPr b="0" i="0" lang="en-US" sz="1450" u="none" cap="none" strike="noStrike">
                <a:solidFill>
                  <a:srgbClr val="B31849"/>
                </a:solidFill>
                <a:latin typeface="Crimson Pro"/>
                <a:ea typeface="Crimson Pro"/>
                <a:cs typeface="Crimson Pro"/>
                <a:sym typeface="Crimson Pro"/>
              </a:rPr>
              <a:t>Escalating Costs</a:t>
            </a:r>
            <a:endParaRPr b="0" i="0" sz="1450" u="none" cap="none" strike="noStrike"/>
          </a:p>
        </p:txBody>
      </p:sp>
      <p:sp>
        <p:nvSpPr>
          <p:cNvPr id="173" name="Google Shape;173;p23"/>
          <p:cNvSpPr/>
          <p:nvPr/>
        </p:nvSpPr>
        <p:spPr>
          <a:xfrm>
            <a:off x="941189" y="3127415"/>
            <a:ext cx="3954542" cy="47148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Increased legal expenses and compliance costs squeeze operating margins, diverting resources from innovation.</a:t>
            </a:r>
            <a:endParaRPr b="0" i="0" sz="1150" u="none" cap="none" strike="noStrike"/>
          </a:p>
        </p:txBody>
      </p:sp>
      <p:sp>
        <p:nvSpPr>
          <p:cNvPr id="174" name="Google Shape;174;p23"/>
          <p:cNvSpPr/>
          <p:nvPr/>
        </p:nvSpPr>
        <p:spPr>
          <a:xfrm>
            <a:off x="5190530" y="2219087"/>
            <a:ext cx="4249341" cy="442198"/>
          </a:xfrm>
          <a:prstGeom prst="roundRect">
            <a:avLst>
              <a:gd fmla="val 480126" name="adj"/>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23"/>
          <p:cNvPicPr preferRelativeResize="0"/>
          <p:nvPr/>
        </p:nvPicPr>
        <p:blipFill rotWithShape="1">
          <a:blip r:embed="rId4">
            <a:alphaModFix/>
          </a:blip>
          <a:srcRect b="0" l="0" r="0" t="0"/>
          <a:stretch/>
        </p:blipFill>
        <p:spPr>
          <a:xfrm>
            <a:off x="7204591" y="2301954"/>
            <a:ext cx="221099" cy="276344"/>
          </a:xfrm>
          <a:prstGeom prst="rect">
            <a:avLst/>
          </a:prstGeom>
          <a:noFill/>
          <a:ln>
            <a:noFill/>
          </a:ln>
        </p:spPr>
      </p:pic>
      <p:sp>
        <p:nvSpPr>
          <p:cNvPr id="176" name="Google Shape;176;p23"/>
          <p:cNvSpPr/>
          <p:nvPr/>
        </p:nvSpPr>
        <p:spPr>
          <a:xfrm>
            <a:off x="5337929" y="2808684"/>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1450"/>
              <a:buFont typeface="Crimson Pro"/>
              <a:buNone/>
            </a:pPr>
            <a:r>
              <a:rPr b="0" i="0" lang="en-US" sz="1450" u="none" cap="none" strike="noStrike">
                <a:solidFill>
                  <a:srgbClr val="B31849"/>
                </a:solidFill>
                <a:latin typeface="Crimson Pro"/>
                <a:ea typeface="Crimson Pro"/>
                <a:cs typeface="Crimson Pro"/>
                <a:sym typeface="Crimson Pro"/>
              </a:rPr>
              <a:t>Revenue Erosion</a:t>
            </a:r>
            <a:endParaRPr b="0" i="0" sz="1450" u="none" cap="none" strike="noStrike"/>
          </a:p>
        </p:txBody>
      </p:sp>
      <p:sp>
        <p:nvSpPr>
          <p:cNvPr id="177" name="Google Shape;177;p23"/>
          <p:cNvSpPr/>
          <p:nvPr/>
        </p:nvSpPr>
        <p:spPr>
          <a:xfrm>
            <a:off x="5337929" y="3127415"/>
            <a:ext cx="3954542" cy="47148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Churn among patients and employers, wary of the integrated model, erodes the revenue base and weakens pricing power.</a:t>
            </a:r>
            <a:endParaRPr b="0" i="0" sz="1150" u="none" cap="none" strike="noStrike"/>
          </a:p>
        </p:txBody>
      </p:sp>
      <p:sp>
        <p:nvSpPr>
          <p:cNvPr id="178" name="Google Shape;178;p23"/>
          <p:cNvSpPr/>
          <p:nvPr/>
        </p:nvSpPr>
        <p:spPr>
          <a:xfrm>
            <a:off x="9587270" y="2219087"/>
            <a:ext cx="4249341" cy="442198"/>
          </a:xfrm>
          <a:prstGeom prst="roundRect">
            <a:avLst>
              <a:gd fmla="val 480126" name="adj"/>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 name="Google Shape;179;p23"/>
          <p:cNvPicPr preferRelativeResize="0"/>
          <p:nvPr/>
        </p:nvPicPr>
        <p:blipFill rotWithShape="1">
          <a:blip r:embed="rId5">
            <a:alphaModFix/>
          </a:blip>
          <a:srcRect b="0" l="0" r="0" t="0"/>
          <a:stretch/>
        </p:blipFill>
        <p:spPr>
          <a:xfrm>
            <a:off x="11601331" y="2301954"/>
            <a:ext cx="221099" cy="276344"/>
          </a:xfrm>
          <a:prstGeom prst="rect">
            <a:avLst/>
          </a:prstGeom>
          <a:noFill/>
          <a:ln>
            <a:noFill/>
          </a:ln>
        </p:spPr>
      </p:pic>
      <p:sp>
        <p:nvSpPr>
          <p:cNvPr id="180" name="Google Shape;180;p23"/>
          <p:cNvSpPr/>
          <p:nvPr/>
        </p:nvSpPr>
        <p:spPr>
          <a:xfrm>
            <a:off x="9734669" y="2808684"/>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1450"/>
              <a:buFont typeface="Crimson Pro"/>
              <a:buNone/>
            </a:pPr>
            <a:r>
              <a:rPr b="0" i="0" lang="en-US" sz="1450" u="none" cap="none" strike="noStrike">
                <a:solidFill>
                  <a:srgbClr val="B31849"/>
                </a:solidFill>
                <a:latin typeface="Crimson Pro"/>
                <a:ea typeface="Crimson Pro"/>
                <a:cs typeface="Crimson Pro"/>
                <a:sym typeface="Crimson Pro"/>
              </a:rPr>
              <a:t>Reputational Damage</a:t>
            </a:r>
            <a:endParaRPr b="0" i="0" sz="1450" u="none" cap="none" strike="noStrike"/>
          </a:p>
        </p:txBody>
      </p:sp>
      <p:sp>
        <p:nvSpPr>
          <p:cNvPr id="181" name="Google Shape;181;p23"/>
          <p:cNvSpPr/>
          <p:nvPr/>
        </p:nvSpPr>
        <p:spPr>
          <a:xfrm>
            <a:off x="9734669" y="3127415"/>
            <a:ext cx="3954542" cy="47148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Reputational damage leads to lower service uptake, lost contracts, and reduced insurer–provider alignment.</a:t>
            </a:r>
            <a:endParaRPr b="0" i="0" sz="1150" u="none" cap="none" strike="noStrike"/>
          </a:p>
        </p:txBody>
      </p:sp>
      <p:sp>
        <p:nvSpPr>
          <p:cNvPr id="182" name="Google Shape;182;p23"/>
          <p:cNvSpPr/>
          <p:nvPr/>
        </p:nvSpPr>
        <p:spPr>
          <a:xfrm>
            <a:off x="793790" y="4059555"/>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1450"/>
              <a:buFont typeface="Crimson Pro"/>
              <a:buNone/>
            </a:pPr>
            <a:r>
              <a:rPr b="0" i="0" lang="en-US" sz="1450" u="none" cap="none" strike="noStrike">
                <a:solidFill>
                  <a:srgbClr val="B31849"/>
                </a:solidFill>
                <a:latin typeface="Crimson Pro"/>
                <a:ea typeface="Crimson Pro"/>
                <a:cs typeface="Crimson Pro"/>
                <a:sym typeface="Crimson Pro"/>
              </a:rPr>
              <a:t>Competitive Pressure</a:t>
            </a:r>
            <a:endParaRPr b="0" i="0" sz="1450" u="none" cap="none" strike="noStrike"/>
          </a:p>
        </p:txBody>
      </p:sp>
      <p:sp>
        <p:nvSpPr>
          <p:cNvPr id="183" name="Google Shape;183;p23"/>
          <p:cNvSpPr/>
          <p:nvPr/>
        </p:nvSpPr>
        <p:spPr>
          <a:xfrm>
            <a:off x="793790" y="4437340"/>
            <a:ext cx="7681793" cy="58959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4C4C4D"/>
              </a:buClr>
              <a:buSzPts val="1450"/>
              <a:buFont typeface="Heebo"/>
              <a:buNone/>
            </a:pPr>
            <a:r>
              <a:rPr b="0" i="0" lang="en-US" sz="1450" u="none" cap="none" strike="noStrike">
                <a:solidFill>
                  <a:srgbClr val="4C4C4D"/>
                </a:solidFill>
                <a:latin typeface="Heebo"/>
                <a:ea typeface="Heebo"/>
                <a:cs typeface="Heebo"/>
                <a:sym typeface="Heebo"/>
              </a:rPr>
              <a:t>Hospitals and traditional providers are capturing disaffected patients, intensifying competitive pressure and deepening CVS's clinical disadvantage.</a:t>
            </a:r>
            <a:endParaRPr b="0" i="0" sz="1450" u="none" cap="none" strike="noStrike"/>
          </a:p>
        </p:txBody>
      </p:sp>
      <p:sp>
        <p:nvSpPr>
          <p:cNvPr id="184" name="Google Shape;184;p23"/>
          <p:cNvSpPr/>
          <p:nvPr/>
        </p:nvSpPr>
        <p:spPr>
          <a:xfrm>
            <a:off x="793790" y="5159573"/>
            <a:ext cx="7681793" cy="589598"/>
          </a:xfrm>
          <a:prstGeom prst="rect">
            <a:avLst/>
          </a:prstGeom>
          <a:noFill/>
          <a:ln>
            <a:noFill/>
          </a:ln>
        </p:spPr>
        <p:txBody>
          <a:bodyPr anchorCtr="0" anchor="t" bIns="0" lIns="0" spcFirstLastPara="1" rIns="0" wrap="square" tIns="0">
            <a:noAutofit/>
          </a:bodyPr>
          <a:lstStyle/>
          <a:p>
            <a:pPr indent="-342900" lvl="0" marL="342900" marR="0" rtl="0" algn="l">
              <a:lnSpc>
                <a:spcPct val="160869"/>
              </a:lnSpc>
              <a:spcBef>
                <a:spcPts val="0"/>
              </a:spcBef>
              <a:spcAft>
                <a:spcPts val="0"/>
              </a:spcAft>
              <a:buClr>
                <a:srgbClr val="4C4C4D"/>
              </a:buClr>
              <a:buSzPts val="1150"/>
              <a:buFont typeface="Heebo"/>
              <a:buChar char="•"/>
            </a:pPr>
            <a:r>
              <a:rPr b="0" i="0" lang="en-US" sz="1150" u="none" cap="none" strike="noStrike">
                <a:solidFill>
                  <a:srgbClr val="4C4C4D"/>
                </a:solidFill>
                <a:latin typeface="Heebo"/>
                <a:ea typeface="Heebo"/>
                <a:cs typeface="Heebo"/>
                <a:sym typeface="Heebo"/>
              </a:rPr>
              <a:t>CVS is fighting regulatory pressures at several levels (e.g., Arkansas PBM law) and general scrutiny over its integrated business model.</a:t>
            </a:r>
            <a:endParaRPr b="0" i="0" sz="1150" u="none" cap="none" strike="noStrike"/>
          </a:p>
        </p:txBody>
      </p:sp>
      <p:sp>
        <p:nvSpPr>
          <p:cNvPr id="185" name="Google Shape;185;p23"/>
          <p:cNvSpPr/>
          <p:nvPr/>
        </p:nvSpPr>
        <p:spPr>
          <a:xfrm>
            <a:off x="793790" y="5800725"/>
            <a:ext cx="7681793" cy="589598"/>
          </a:xfrm>
          <a:prstGeom prst="rect">
            <a:avLst/>
          </a:prstGeom>
          <a:noFill/>
          <a:ln>
            <a:noFill/>
          </a:ln>
        </p:spPr>
        <p:txBody>
          <a:bodyPr anchorCtr="0" anchor="t" bIns="0" lIns="0" spcFirstLastPara="1" rIns="0" wrap="square" tIns="0">
            <a:noAutofit/>
          </a:bodyPr>
          <a:lstStyle/>
          <a:p>
            <a:pPr indent="-342900" lvl="0" marL="342900" marR="0" rtl="0" algn="l">
              <a:lnSpc>
                <a:spcPct val="160869"/>
              </a:lnSpc>
              <a:spcBef>
                <a:spcPts val="0"/>
              </a:spcBef>
              <a:spcAft>
                <a:spcPts val="0"/>
              </a:spcAft>
              <a:buClr>
                <a:srgbClr val="4C4C4D"/>
              </a:buClr>
              <a:buSzPts val="1150"/>
              <a:buFont typeface="Heebo"/>
              <a:buChar char="•"/>
            </a:pPr>
            <a:r>
              <a:rPr b="0" i="0" lang="en-US" sz="1150" u="none" cap="none" strike="noStrike">
                <a:solidFill>
                  <a:srgbClr val="4C4C4D"/>
                </a:solidFill>
                <a:latin typeface="Heebo"/>
                <a:ea typeface="Heebo"/>
                <a:cs typeface="Heebo"/>
                <a:sym typeface="Heebo"/>
              </a:rPr>
              <a:t>The company faced a $948.8 million penalty for Omnicare fraud, highlighting significant non-compliance risk within its portfolio.</a:t>
            </a:r>
            <a:endParaRPr b="0" i="0" sz="1150" u="none" cap="none" strike="noStrike"/>
          </a:p>
        </p:txBody>
      </p:sp>
      <p:pic>
        <p:nvPicPr>
          <p:cNvPr descr="preencoded.png" id="186" name="Google Shape;186;p23"/>
          <p:cNvPicPr preferRelativeResize="0"/>
          <p:nvPr/>
        </p:nvPicPr>
        <p:blipFill rotWithShape="1">
          <a:blip r:embed="rId6">
            <a:alphaModFix/>
          </a:blip>
          <a:srcRect b="0" l="0" r="0" t="0"/>
          <a:stretch/>
        </p:blipFill>
        <p:spPr>
          <a:xfrm>
            <a:off x="9718000" y="4078010"/>
            <a:ext cx="3250763" cy="1073348"/>
          </a:xfrm>
          <a:prstGeom prst="rect">
            <a:avLst/>
          </a:prstGeom>
          <a:noFill/>
          <a:ln>
            <a:noFill/>
          </a:ln>
        </p:spPr>
      </p:pic>
      <p:sp>
        <p:nvSpPr>
          <p:cNvPr id="187" name="Google Shape;187;p23"/>
          <p:cNvSpPr/>
          <p:nvPr/>
        </p:nvSpPr>
        <p:spPr>
          <a:xfrm>
            <a:off x="8842772" y="5317212"/>
            <a:ext cx="5001339" cy="235744"/>
          </a:xfrm>
          <a:prstGeom prst="rect">
            <a:avLst/>
          </a:prstGeom>
          <a:noFill/>
          <a:ln>
            <a:noFill/>
          </a:ln>
        </p:spPr>
        <p:txBody>
          <a:bodyPr anchorCtr="0" anchor="t" bIns="0" lIns="0" spcFirstLastPara="1" rIns="0" wrap="square" tIns="0">
            <a:noAutofit/>
          </a:bodyPr>
          <a:lstStyle/>
          <a:p>
            <a:pPr indent="0" lvl="0" marL="0" marR="0" rtl="0" algn="ctr">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$948.8 million penalty for Omnicare fraud</a:t>
            </a:r>
            <a:endParaRPr b="0" i="0" sz="1150" u="none" cap="none" strike="noStrike"/>
          </a:p>
        </p:txBody>
      </p:sp>
      <p:pic>
        <p:nvPicPr>
          <p:cNvPr descr="preencoded.png" id="188" name="Google Shape;188;p23"/>
          <p:cNvPicPr preferRelativeResize="0"/>
          <p:nvPr/>
        </p:nvPicPr>
        <p:blipFill rotWithShape="1">
          <a:blip r:embed="rId7">
            <a:alphaModFix/>
          </a:blip>
          <a:srcRect b="0" l="0" r="0" t="0"/>
          <a:stretch/>
        </p:blipFill>
        <p:spPr>
          <a:xfrm>
            <a:off x="9718000" y="5718810"/>
            <a:ext cx="3250763" cy="828080"/>
          </a:xfrm>
          <a:prstGeom prst="rect">
            <a:avLst/>
          </a:prstGeom>
          <a:noFill/>
          <a:ln>
            <a:noFill/>
          </a:ln>
        </p:spPr>
      </p:pic>
      <p:sp>
        <p:nvSpPr>
          <p:cNvPr id="189" name="Google Shape;189;p23"/>
          <p:cNvSpPr/>
          <p:nvPr/>
        </p:nvSpPr>
        <p:spPr>
          <a:xfrm>
            <a:off x="8842772" y="6712744"/>
            <a:ext cx="5001339" cy="471488"/>
          </a:xfrm>
          <a:prstGeom prst="rect">
            <a:avLst/>
          </a:prstGeom>
          <a:noFill/>
          <a:ln>
            <a:noFill/>
          </a:ln>
        </p:spPr>
        <p:txBody>
          <a:bodyPr anchorCtr="0" anchor="t" bIns="0" lIns="0" spcFirstLastPara="1" rIns="0" wrap="square" tIns="0">
            <a:noAutofit/>
          </a:bodyPr>
          <a:lstStyle/>
          <a:p>
            <a:pPr indent="0" lvl="0" marL="0" marR="0" rtl="0" algn="ctr">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CVS is fighting regulatory pressures at several levels (e.g. Arkansas PBM law) and general scrutiny over its integrated business model</a:t>
            </a:r>
            <a:endParaRPr b="0" i="0" sz="11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p:nvPr/>
        </p:nvSpPr>
        <p:spPr>
          <a:xfrm>
            <a:off x="793790" y="923925"/>
            <a:ext cx="8511183" cy="460772"/>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B31849"/>
              </a:buClr>
              <a:buSzPts val="2900"/>
              <a:buFont typeface="Crimson Pro"/>
              <a:buNone/>
            </a:pPr>
            <a:r>
              <a:rPr b="0" i="0" lang="en-US" sz="2900" u="none" cap="none" strike="noStrike">
                <a:solidFill>
                  <a:srgbClr val="B31849"/>
                </a:solidFill>
                <a:latin typeface="Crimson Pro"/>
                <a:ea typeface="Crimson Pro"/>
                <a:cs typeface="Crimson Pro"/>
                <a:sym typeface="Crimson Pro"/>
              </a:rPr>
              <a:t>Recommendation : Tailored strategies for each segment </a:t>
            </a:r>
            <a:endParaRPr b="0" i="0" sz="2900" u="none" cap="none" strike="noStrike"/>
          </a:p>
        </p:txBody>
      </p:sp>
      <p:sp>
        <p:nvSpPr>
          <p:cNvPr id="196" name="Google Shape;196;p24"/>
          <p:cNvSpPr/>
          <p:nvPr/>
        </p:nvSpPr>
        <p:spPr>
          <a:xfrm>
            <a:off x="793790" y="1443633"/>
            <a:ext cx="4426625" cy="368618"/>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4C4C4D"/>
              </a:buClr>
              <a:buSzPts val="2300"/>
              <a:buFont typeface="Crimson Pro"/>
              <a:buNone/>
            </a:pPr>
            <a:r>
              <a:rPr b="0" i="0" lang="en-US" sz="2300" u="none" cap="none" strike="noStrike">
                <a:solidFill>
                  <a:srgbClr val="4C4C4D"/>
                </a:solidFill>
                <a:latin typeface="Crimson Pro"/>
                <a:ea typeface="Crimson Pro"/>
                <a:cs typeface="Crimson Pro"/>
                <a:sym typeface="Crimson Pro"/>
              </a:rPr>
              <a:t>To keep vertical integration efficient</a:t>
            </a:r>
            <a:endParaRPr b="0" i="0" sz="2300" u="none" cap="none" strike="noStrike"/>
          </a:p>
        </p:txBody>
      </p:sp>
      <p:sp>
        <p:nvSpPr>
          <p:cNvPr id="197" name="Google Shape;197;p24"/>
          <p:cNvSpPr/>
          <p:nvPr/>
        </p:nvSpPr>
        <p:spPr>
          <a:xfrm>
            <a:off x="793790" y="2033349"/>
            <a:ext cx="6447711" cy="5272207"/>
          </a:xfrm>
          <a:prstGeom prst="roundRect">
            <a:avLst>
              <a:gd fmla="val 419"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4"/>
          <p:cNvSpPr/>
          <p:nvPr/>
        </p:nvSpPr>
        <p:spPr>
          <a:xfrm>
            <a:off x="809030" y="2048589"/>
            <a:ext cx="6417231" cy="442198"/>
          </a:xfrm>
          <a:prstGeom prst="roundRect">
            <a:avLst>
              <a:gd fmla="val 866" name="adj"/>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9" name="Google Shape;199;p24"/>
          <p:cNvPicPr preferRelativeResize="0"/>
          <p:nvPr/>
        </p:nvPicPr>
        <p:blipFill rotWithShape="1">
          <a:blip r:embed="rId3">
            <a:alphaModFix/>
          </a:blip>
          <a:srcRect b="0" l="0" r="0" t="0"/>
          <a:stretch/>
        </p:blipFill>
        <p:spPr>
          <a:xfrm>
            <a:off x="3907036" y="2131457"/>
            <a:ext cx="221099" cy="276344"/>
          </a:xfrm>
          <a:prstGeom prst="rect">
            <a:avLst/>
          </a:prstGeom>
          <a:noFill/>
          <a:ln>
            <a:noFill/>
          </a:ln>
        </p:spPr>
      </p:pic>
      <p:sp>
        <p:nvSpPr>
          <p:cNvPr id="200" name="Google Shape;200;p24"/>
          <p:cNvSpPr/>
          <p:nvPr/>
        </p:nvSpPr>
        <p:spPr>
          <a:xfrm>
            <a:off x="956429" y="2638187"/>
            <a:ext cx="3159800" cy="2763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B31849"/>
              </a:buClr>
              <a:buSzPts val="1700"/>
              <a:buFont typeface="Crimson Pro"/>
              <a:buNone/>
            </a:pPr>
            <a:r>
              <a:rPr b="0" i="0" lang="en-US" sz="1700" u="none" cap="none" strike="noStrike">
                <a:solidFill>
                  <a:srgbClr val="B31849"/>
                </a:solidFill>
                <a:latin typeface="Crimson Pro"/>
                <a:ea typeface="Crimson Pro"/>
                <a:cs typeface="Crimson Pro"/>
                <a:sym typeface="Crimson Pro"/>
              </a:rPr>
              <a:t>Deepen &amp; Govern Core Integration</a:t>
            </a:r>
            <a:endParaRPr b="0" i="0" sz="1700" u="none" cap="none" strike="noStrike"/>
          </a:p>
        </p:txBody>
      </p:sp>
      <p:sp>
        <p:nvSpPr>
          <p:cNvPr id="201" name="Google Shape;201;p24"/>
          <p:cNvSpPr/>
          <p:nvPr/>
        </p:nvSpPr>
        <p:spPr>
          <a:xfrm>
            <a:off x="956429" y="3002875"/>
            <a:ext cx="6122432" cy="23574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sng" cap="none" strike="noStrike">
                <a:solidFill>
                  <a:srgbClr val="4C4C4D"/>
                </a:solidFill>
                <a:latin typeface="Heebo"/>
                <a:ea typeface="Heebo"/>
                <a:cs typeface="Heebo"/>
                <a:sym typeface="Heebo"/>
              </a:rPr>
              <a:t>High coordination, high contracting difficulty</a:t>
            </a:r>
            <a:r>
              <a:rPr b="0" i="0" lang="en-US" sz="1150" u="none" cap="none" strike="noStrike">
                <a:solidFill>
                  <a:srgbClr val="4C4C4D"/>
                </a:solidFill>
                <a:latin typeface="Heebo"/>
                <a:ea typeface="Heebo"/>
                <a:cs typeface="Heebo"/>
                <a:sym typeface="Heebo"/>
              </a:rPr>
              <a:t> : </a:t>
            </a:r>
            <a:endParaRPr b="0" i="0" sz="1150" u="none" cap="none" strike="noStrike"/>
          </a:p>
        </p:txBody>
      </p:sp>
      <p:sp>
        <p:nvSpPr>
          <p:cNvPr id="202" name="Google Shape;202;p24"/>
          <p:cNvSpPr/>
          <p:nvPr/>
        </p:nvSpPr>
        <p:spPr>
          <a:xfrm>
            <a:off x="956429" y="3326963"/>
            <a:ext cx="6122432" cy="1414463"/>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CVS is a single company that owns an insurance plan (Aetna), a prescription manager (Caremark), and doctor's offices (Oak Street Health). For this to work well, these different parts need to coordinate closely. However, this close coordination is risky. Regulators worry that CVS could use its power unfairly. For example, the Aetna insurance plan could force its members to use only CVS pharmacies or Oak Street doctors, which would be anti-competitive. So, the strategy is to:</a:t>
            </a:r>
            <a:endParaRPr b="0" i="0" sz="1150" u="none" cap="none" strike="noStrike"/>
          </a:p>
        </p:txBody>
      </p:sp>
      <p:sp>
        <p:nvSpPr>
          <p:cNvPr id="203" name="Google Shape;203;p24"/>
          <p:cNvSpPr/>
          <p:nvPr/>
        </p:nvSpPr>
        <p:spPr>
          <a:xfrm>
            <a:off x="956429" y="4829770"/>
            <a:ext cx="6122432" cy="471488"/>
          </a:xfrm>
          <a:prstGeom prst="rect">
            <a:avLst/>
          </a:prstGeom>
          <a:noFill/>
          <a:ln>
            <a:noFill/>
          </a:ln>
        </p:spPr>
        <p:txBody>
          <a:bodyPr anchorCtr="0" anchor="t" bIns="0" lIns="0" spcFirstLastPara="1" rIns="0" wrap="square" tIns="0">
            <a:noAutofit/>
          </a:bodyPr>
          <a:lstStyle/>
          <a:p>
            <a:pPr indent="-342900" lvl="0" marL="342900" marR="0" rtl="0" algn="l">
              <a:lnSpc>
                <a:spcPct val="160869"/>
              </a:lnSpc>
              <a:spcBef>
                <a:spcPts val="0"/>
              </a:spcBef>
              <a:spcAft>
                <a:spcPts val="0"/>
              </a:spcAft>
              <a:buClr>
                <a:srgbClr val="4C4C4D"/>
              </a:buClr>
              <a:buSzPts val="1150"/>
              <a:buFont typeface="Calibri"/>
              <a:buAutoNum type="arabicPeriod"/>
            </a:pPr>
            <a:r>
              <a:rPr b="0" i="0" lang="en-US" sz="1150" u="none" cap="none" strike="noStrike">
                <a:solidFill>
                  <a:srgbClr val="4C4C4D"/>
                </a:solidFill>
                <a:latin typeface="Heebo"/>
                <a:ea typeface="Heebo"/>
                <a:cs typeface="Heebo"/>
                <a:sym typeface="Heebo"/>
              </a:rPr>
              <a:t>Build "Internal Walls": Create strict, clear rules that separate the decision-making between the insurance side (Aetna) and the healthcare provider side (CVS pharmacies, clinics).</a:t>
            </a:r>
            <a:endParaRPr b="0" i="0" sz="1150" u="none" cap="none" strike="noStrike"/>
          </a:p>
        </p:txBody>
      </p:sp>
      <p:sp>
        <p:nvSpPr>
          <p:cNvPr id="204" name="Google Shape;204;p24"/>
          <p:cNvSpPr/>
          <p:nvPr/>
        </p:nvSpPr>
        <p:spPr>
          <a:xfrm>
            <a:off x="956429" y="5352812"/>
            <a:ext cx="6122432" cy="707231"/>
          </a:xfrm>
          <a:prstGeom prst="rect">
            <a:avLst/>
          </a:prstGeom>
          <a:noFill/>
          <a:ln>
            <a:noFill/>
          </a:ln>
        </p:spPr>
        <p:txBody>
          <a:bodyPr anchorCtr="0" anchor="t" bIns="0" lIns="0" spcFirstLastPara="1" rIns="0" wrap="square" tIns="0">
            <a:noAutofit/>
          </a:bodyPr>
          <a:lstStyle/>
          <a:p>
            <a:pPr indent="-342900" lvl="0" marL="342900" marR="0" rtl="0" algn="l">
              <a:lnSpc>
                <a:spcPct val="160869"/>
              </a:lnSpc>
              <a:spcBef>
                <a:spcPts val="0"/>
              </a:spcBef>
              <a:spcAft>
                <a:spcPts val="0"/>
              </a:spcAft>
              <a:buClr>
                <a:srgbClr val="4C4C4D"/>
              </a:buClr>
              <a:buSzPts val="1150"/>
              <a:buFont typeface="Calibri"/>
              <a:buAutoNum type="arabicPeriod" startAt="2"/>
            </a:pPr>
            <a:r>
              <a:rPr b="0" i="0" lang="en-US" sz="1150" u="none" cap="none" strike="noStrike">
                <a:solidFill>
                  <a:srgbClr val="4C4C4D"/>
                </a:solidFill>
                <a:latin typeface="Heebo"/>
                <a:ea typeface="Heebo"/>
                <a:cs typeface="Heebo"/>
                <a:sym typeface="Heebo"/>
              </a:rPr>
              <a:t>Ensure Fair Referrals: Make sure that when a doctor recommends a pharmacy or specialist, the process is independent and not just designed to keep money inside CVS. An Aetna customer must have a fair choice.</a:t>
            </a:r>
            <a:endParaRPr b="0" i="0" sz="1150" u="none" cap="none" strike="noStrike"/>
          </a:p>
        </p:txBody>
      </p:sp>
      <p:sp>
        <p:nvSpPr>
          <p:cNvPr id="205" name="Google Shape;205;p24"/>
          <p:cNvSpPr/>
          <p:nvPr/>
        </p:nvSpPr>
        <p:spPr>
          <a:xfrm>
            <a:off x="956429" y="6111597"/>
            <a:ext cx="6122432" cy="707231"/>
          </a:xfrm>
          <a:prstGeom prst="rect">
            <a:avLst/>
          </a:prstGeom>
          <a:noFill/>
          <a:ln>
            <a:noFill/>
          </a:ln>
        </p:spPr>
        <p:txBody>
          <a:bodyPr anchorCtr="0" anchor="t" bIns="0" lIns="0" spcFirstLastPara="1" rIns="0" wrap="square" tIns="0">
            <a:noAutofit/>
          </a:bodyPr>
          <a:lstStyle/>
          <a:p>
            <a:pPr indent="-342900" lvl="0" marL="342900" marR="0" rtl="0" algn="l">
              <a:lnSpc>
                <a:spcPct val="160869"/>
              </a:lnSpc>
              <a:spcBef>
                <a:spcPts val="0"/>
              </a:spcBef>
              <a:spcAft>
                <a:spcPts val="0"/>
              </a:spcAft>
              <a:buClr>
                <a:srgbClr val="4C4C4D"/>
              </a:buClr>
              <a:buSzPts val="1150"/>
              <a:buFont typeface="Calibri"/>
              <a:buAutoNum type="arabicPeriod" startAt="3"/>
            </a:pPr>
            <a:r>
              <a:rPr b="0" i="0" lang="en-US" sz="1150" u="none" cap="none" strike="noStrike">
                <a:solidFill>
                  <a:srgbClr val="4C4C4D"/>
                </a:solidFill>
                <a:latin typeface="Heebo"/>
                <a:ea typeface="Heebo"/>
                <a:cs typeface="Heebo"/>
                <a:sym typeface="Heebo"/>
              </a:rPr>
              <a:t>Focus on the Benefits: Use the integration to genuinely lower costs and improve patient health (for example, by easily sharing a patient's medical history between their doctor and pharmacist).</a:t>
            </a:r>
            <a:endParaRPr b="0" i="0" sz="1150" u="none" cap="none" strike="noStrike"/>
          </a:p>
        </p:txBody>
      </p:sp>
      <p:sp>
        <p:nvSpPr>
          <p:cNvPr id="206" name="Google Shape;206;p24"/>
          <p:cNvSpPr/>
          <p:nvPr/>
        </p:nvSpPr>
        <p:spPr>
          <a:xfrm>
            <a:off x="956429" y="6907173"/>
            <a:ext cx="6122432" cy="23574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B31849"/>
              </a:buClr>
              <a:buSzPts val="1150"/>
              <a:buFont typeface="Heebo"/>
              <a:buNone/>
            </a:pPr>
            <a:r>
              <a:rPr b="1" i="0" lang="en-US" sz="1150" u="none" cap="none" strike="noStrike">
                <a:solidFill>
                  <a:srgbClr val="B31849"/>
                </a:solidFill>
                <a:latin typeface="Heebo"/>
                <a:ea typeface="Heebo"/>
                <a:cs typeface="Heebo"/>
                <a:sym typeface="Heebo"/>
              </a:rPr>
              <a:t>Goal</a:t>
            </a:r>
            <a:r>
              <a:rPr b="0" i="0" lang="en-US" sz="1150" u="none" cap="none" strike="noStrike">
                <a:solidFill>
                  <a:srgbClr val="4C4C4D"/>
                </a:solidFill>
                <a:latin typeface="Heebo"/>
                <a:ea typeface="Heebo"/>
                <a:cs typeface="Heebo"/>
                <a:sym typeface="Heebo"/>
              </a:rPr>
              <a:t> : Leverage vertical integration benefits while rigorously avoiding regulatory backlash.</a:t>
            </a:r>
            <a:endParaRPr b="0" i="0" sz="1150" u="none" cap="none" strike="noStrike"/>
          </a:p>
        </p:txBody>
      </p:sp>
      <p:sp>
        <p:nvSpPr>
          <p:cNvPr id="207" name="Google Shape;207;p24"/>
          <p:cNvSpPr/>
          <p:nvPr/>
        </p:nvSpPr>
        <p:spPr>
          <a:xfrm>
            <a:off x="7388900" y="2033349"/>
            <a:ext cx="6447711" cy="5272207"/>
          </a:xfrm>
          <a:prstGeom prst="roundRect">
            <a:avLst>
              <a:gd fmla="val 419"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
          <p:cNvSpPr/>
          <p:nvPr/>
        </p:nvSpPr>
        <p:spPr>
          <a:xfrm>
            <a:off x="7404140" y="2048589"/>
            <a:ext cx="6417231" cy="442198"/>
          </a:xfrm>
          <a:prstGeom prst="roundRect">
            <a:avLst>
              <a:gd fmla="val 866" name="adj"/>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9" name="Google Shape;209;p24"/>
          <p:cNvPicPr preferRelativeResize="0"/>
          <p:nvPr/>
        </p:nvPicPr>
        <p:blipFill rotWithShape="1">
          <a:blip r:embed="rId4">
            <a:alphaModFix/>
          </a:blip>
          <a:srcRect b="0" l="0" r="0" t="0"/>
          <a:stretch/>
        </p:blipFill>
        <p:spPr>
          <a:xfrm>
            <a:off x="10502146" y="2131457"/>
            <a:ext cx="221099" cy="276344"/>
          </a:xfrm>
          <a:prstGeom prst="rect">
            <a:avLst/>
          </a:prstGeom>
          <a:noFill/>
          <a:ln>
            <a:noFill/>
          </a:ln>
        </p:spPr>
      </p:pic>
      <p:sp>
        <p:nvSpPr>
          <p:cNvPr id="210" name="Google Shape;210;p24"/>
          <p:cNvSpPr/>
          <p:nvPr/>
        </p:nvSpPr>
        <p:spPr>
          <a:xfrm>
            <a:off x="7551539" y="2638187"/>
            <a:ext cx="2832854" cy="276344"/>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B31849"/>
              </a:buClr>
              <a:buSzPts val="1700"/>
              <a:buFont typeface="Crimson Pro"/>
              <a:buNone/>
            </a:pPr>
            <a:r>
              <a:rPr b="0" i="0" lang="en-US" sz="1700" u="none" cap="none" strike="noStrike">
                <a:solidFill>
                  <a:srgbClr val="B31849"/>
                </a:solidFill>
                <a:latin typeface="Crimson Pro"/>
                <a:ea typeface="Crimson Pro"/>
                <a:cs typeface="Crimson Pro"/>
                <a:sym typeface="Crimson Pro"/>
              </a:rPr>
              <a:t>Strategic Alliances &amp; Platforms</a:t>
            </a:r>
            <a:endParaRPr b="0" i="0" sz="1700" u="none" cap="none" strike="noStrike"/>
          </a:p>
        </p:txBody>
      </p:sp>
      <p:sp>
        <p:nvSpPr>
          <p:cNvPr id="211" name="Google Shape;211;p24"/>
          <p:cNvSpPr/>
          <p:nvPr/>
        </p:nvSpPr>
        <p:spPr>
          <a:xfrm>
            <a:off x="7551539" y="3002875"/>
            <a:ext cx="6122432" cy="235744"/>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sng" cap="none" strike="noStrike">
                <a:solidFill>
                  <a:srgbClr val="4C4C4D"/>
                </a:solidFill>
                <a:latin typeface="Heebo"/>
                <a:ea typeface="Heebo"/>
                <a:cs typeface="Heebo"/>
                <a:sym typeface="Heebo"/>
              </a:rPr>
              <a:t>High coordination, low contracting difficulty</a:t>
            </a:r>
            <a:r>
              <a:rPr b="0" i="0" lang="en-US" sz="1150" u="none" cap="none" strike="noStrike">
                <a:solidFill>
                  <a:srgbClr val="4C4C4D"/>
                </a:solidFill>
                <a:latin typeface="Heebo"/>
                <a:ea typeface="Heebo"/>
                <a:cs typeface="Heebo"/>
                <a:sym typeface="Heebo"/>
              </a:rPr>
              <a:t> (Signify Health, Specialty Pharmacy) </a:t>
            </a:r>
            <a:endParaRPr b="0" i="0" sz="1150" u="none" cap="none" strike="noStrike"/>
          </a:p>
        </p:txBody>
      </p:sp>
      <p:sp>
        <p:nvSpPr>
          <p:cNvPr id="212" name="Google Shape;212;p24"/>
          <p:cNvSpPr/>
          <p:nvPr/>
        </p:nvSpPr>
        <p:spPr>
          <a:xfrm>
            <a:off x="7551539" y="3326963"/>
            <a:ext cx="6122432" cy="707231"/>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 For certain parts of its business, CVS should team up with other companies instead of buying them. The idea is to use technology, like shared apps and data platforms, to connect these external partners into the CVS network.</a:t>
            </a:r>
            <a:endParaRPr b="0" i="0" sz="1150" u="none" cap="none" strike="noStrike"/>
          </a:p>
        </p:txBody>
      </p:sp>
      <p:sp>
        <p:nvSpPr>
          <p:cNvPr id="213" name="Google Shape;213;p24"/>
          <p:cNvSpPr/>
          <p:nvPr/>
        </p:nvSpPr>
        <p:spPr>
          <a:xfrm>
            <a:off x="7551539" y="4122539"/>
            <a:ext cx="6122432" cy="942975"/>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4C4C4D"/>
              </a:buClr>
              <a:buSzPts val="1150"/>
              <a:buFont typeface="Heebo"/>
              <a:buNone/>
            </a:pPr>
            <a:r>
              <a:rPr b="0" i="0" lang="en-US" sz="1150" u="none" cap="none" strike="noStrike">
                <a:solidFill>
                  <a:srgbClr val="4C4C4D"/>
                </a:solidFill>
                <a:latin typeface="Heebo"/>
                <a:ea typeface="Heebo"/>
                <a:cs typeface="Heebo"/>
                <a:sym typeface="Heebo"/>
              </a:rPr>
              <a:t>This makes CVS the central hub or "orchestrator" that helps different healthcare services work together smoothly, rather than a "gatekeeper" that locks patients into using only CVS-owned services. This approach is much cheaper than acquiring companies, creates a more flexible network, and avoids the legal problems that come with getting too big.</a:t>
            </a:r>
            <a:endParaRPr b="0" i="0" sz="1150" u="none" cap="none" strike="noStrike"/>
          </a:p>
        </p:txBody>
      </p:sp>
      <p:sp>
        <p:nvSpPr>
          <p:cNvPr id="214" name="Google Shape;214;p24"/>
          <p:cNvSpPr/>
          <p:nvPr/>
        </p:nvSpPr>
        <p:spPr>
          <a:xfrm>
            <a:off x="7551539" y="5153858"/>
            <a:ext cx="6122432" cy="471488"/>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B31849"/>
              </a:buClr>
              <a:buSzPts val="1150"/>
              <a:buFont typeface="Heebo"/>
              <a:buNone/>
            </a:pPr>
            <a:r>
              <a:rPr b="1" i="0" lang="en-US" sz="1150" u="none" cap="none" strike="noStrike">
                <a:solidFill>
                  <a:srgbClr val="B31849"/>
                </a:solidFill>
                <a:latin typeface="Heebo"/>
                <a:ea typeface="Heebo"/>
                <a:cs typeface="Heebo"/>
                <a:sym typeface="Heebo"/>
              </a:rPr>
              <a:t>Goal </a:t>
            </a:r>
            <a:r>
              <a:rPr b="1" i="0" lang="en-US" sz="1150" u="none" cap="none" strike="noStrike">
                <a:solidFill>
                  <a:srgbClr val="4C4C4D"/>
                </a:solidFill>
                <a:latin typeface="Heebo"/>
                <a:ea typeface="Heebo"/>
                <a:cs typeface="Heebo"/>
                <a:sym typeface="Heebo"/>
              </a:rPr>
              <a:t>: </a:t>
            </a:r>
            <a:r>
              <a:rPr b="0" i="0" lang="en-US" sz="1150" u="none" cap="none" strike="noStrike">
                <a:solidFill>
                  <a:srgbClr val="4C4C4D"/>
                </a:solidFill>
                <a:latin typeface="Heebo"/>
                <a:ea typeface="Heebo"/>
                <a:cs typeface="Heebo"/>
                <a:sym typeface="Heebo"/>
              </a:rPr>
              <a:t>Maximize coordination via technology and partnerships, minimizing capital intensity and regulatory exposure.</a:t>
            </a:r>
            <a:endParaRPr b="0" i="0" sz="11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p:nvPr/>
        </p:nvSpPr>
        <p:spPr>
          <a:xfrm>
            <a:off x="793790" y="743783"/>
            <a:ext cx="11848743" cy="79367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B31849"/>
              </a:buClr>
              <a:buSzPts val="2500"/>
              <a:buFont typeface="Crimson Pro"/>
              <a:buNone/>
            </a:pPr>
            <a:r>
              <a:rPr b="0" i="0" lang="en-US" sz="2500" u="none" cap="none" strike="noStrike">
                <a:solidFill>
                  <a:srgbClr val="B31849"/>
                </a:solidFill>
                <a:latin typeface="Crimson Pro"/>
                <a:ea typeface="Crimson Pro"/>
                <a:cs typeface="Crimson Pro"/>
                <a:sym typeface="Crimson Pro"/>
              </a:rPr>
              <a:t>Drop Omnicare!</a:t>
            </a:r>
            <a:r>
              <a:rPr b="0" i="0" lang="en-US" sz="2500" u="none" cap="none" strike="noStrike">
                <a:solidFill>
                  <a:srgbClr val="4C4C4D"/>
                </a:solidFill>
                <a:latin typeface="Crimson Pro"/>
                <a:ea typeface="Crimson Pro"/>
                <a:cs typeface="Crimson Pro"/>
                <a:sym typeface="Crimson Pro"/>
              </a:rPr>
              <a:t>To limit lawsuits and antitrust - financial gains from this strengthen our bargaining power</a:t>
            </a:r>
            <a:endParaRPr b="0" i="0" sz="2500" u="none" cap="none" strike="noStrike"/>
          </a:p>
        </p:txBody>
      </p:sp>
      <p:sp>
        <p:nvSpPr>
          <p:cNvPr id="221" name="Google Shape;221;p25"/>
          <p:cNvSpPr/>
          <p:nvPr/>
        </p:nvSpPr>
        <p:spPr>
          <a:xfrm>
            <a:off x="793790" y="1854994"/>
            <a:ext cx="6441996" cy="5630704"/>
          </a:xfrm>
          <a:prstGeom prst="roundRect">
            <a:avLst>
              <a:gd fmla="val 423"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5"/>
          <p:cNvSpPr/>
          <p:nvPr/>
        </p:nvSpPr>
        <p:spPr>
          <a:xfrm>
            <a:off x="816650" y="1877854"/>
            <a:ext cx="6396276" cy="476250"/>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 name="Google Shape;223;p25"/>
          <p:cNvPicPr preferRelativeResize="0"/>
          <p:nvPr/>
        </p:nvPicPr>
        <p:blipFill rotWithShape="1">
          <a:blip r:embed="rId3">
            <a:alphaModFix/>
          </a:blip>
          <a:srcRect b="0" l="0" r="0" t="0"/>
          <a:stretch/>
        </p:blipFill>
        <p:spPr>
          <a:xfrm>
            <a:off x="3895725" y="1967151"/>
            <a:ext cx="238125" cy="297656"/>
          </a:xfrm>
          <a:prstGeom prst="rect">
            <a:avLst/>
          </a:prstGeom>
          <a:noFill/>
          <a:ln>
            <a:noFill/>
          </a:ln>
        </p:spPr>
      </p:pic>
      <p:sp>
        <p:nvSpPr>
          <p:cNvPr id="224" name="Google Shape;224;p25"/>
          <p:cNvSpPr/>
          <p:nvPr/>
        </p:nvSpPr>
        <p:spPr>
          <a:xfrm>
            <a:off x="975360" y="2512814"/>
            <a:ext cx="3348633" cy="297656"/>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B31849"/>
              </a:buClr>
              <a:buSzPts val="1850"/>
              <a:buFont typeface="Crimson Pro"/>
              <a:buNone/>
            </a:pPr>
            <a:r>
              <a:rPr b="0" i="0" lang="en-US" sz="1850" u="none" cap="none" strike="noStrike">
                <a:solidFill>
                  <a:srgbClr val="B31849"/>
                </a:solidFill>
                <a:latin typeface="Crimson Pro"/>
                <a:ea typeface="Crimson Pro"/>
                <a:cs typeface="Crimson Pro"/>
                <a:sym typeface="Crimson Pro"/>
              </a:rPr>
              <a:t>Evaluate Divestiture for Omnicare</a:t>
            </a:r>
            <a:endParaRPr b="0" i="0" sz="1850" u="none" cap="none" strike="noStrike"/>
          </a:p>
        </p:txBody>
      </p:sp>
      <p:sp>
        <p:nvSpPr>
          <p:cNvPr id="225" name="Google Shape;225;p25"/>
          <p:cNvSpPr/>
          <p:nvPr/>
        </p:nvSpPr>
        <p:spPr>
          <a:xfrm>
            <a:off x="975360" y="2905720"/>
            <a:ext cx="6078855"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sng" cap="none" strike="noStrike">
                <a:solidFill>
                  <a:srgbClr val="4C4C4D"/>
                </a:solidFill>
                <a:latin typeface="Heebo"/>
                <a:ea typeface="Heebo"/>
                <a:cs typeface="Heebo"/>
                <a:sym typeface="Heebo"/>
              </a:rPr>
              <a:t>Low coordination, low contracting difficulty </a:t>
            </a:r>
            <a:endParaRPr b="0" i="0" sz="1250" u="none" cap="none" strike="noStrike"/>
          </a:p>
        </p:txBody>
      </p:sp>
      <p:sp>
        <p:nvSpPr>
          <p:cNvPr id="226" name="Google Shape;226;p25"/>
          <p:cNvSpPr/>
          <p:nvPr/>
        </p:nvSpPr>
        <p:spPr>
          <a:xfrm>
            <a:off x="975360" y="3255050"/>
            <a:ext cx="6078855"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For parts of the business like </a:t>
            </a:r>
            <a:r>
              <a:rPr b="1" i="0" lang="en-US" sz="1250" u="none" cap="none" strike="noStrike">
                <a:solidFill>
                  <a:srgbClr val="4C4C4D"/>
                </a:solidFill>
                <a:latin typeface="Heebo"/>
                <a:ea typeface="Heebo"/>
                <a:cs typeface="Heebo"/>
                <a:sym typeface="Heebo"/>
              </a:rPr>
              <a:t>Omnicare</a:t>
            </a:r>
            <a:r>
              <a:rPr b="0" i="0" lang="en-US" sz="1250" u="none" cap="none" strike="noStrike">
                <a:solidFill>
                  <a:srgbClr val="4C4C4D"/>
                </a:solidFill>
                <a:latin typeface="Heebo"/>
                <a:ea typeface="Heebo"/>
                <a:cs typeface="Heebo"/>
                <a:sym typeface="Heebo"/>
              </a:rPr>
              <a:t>, which operates somewhat independently from the main CVS ecosystem (low coordination) but carries significant legal risks (high contracting difficulty), the best move might be to </a:t>
            </a:r>
            <a:r>
              <a:rPr b="1" i="0" lang="en-US" sz="1250" u="none" cap="none" strike="noStrike">
                <a:solidFill>
                  <a:srgbClr val="4C4C4D"/>
                </a:solidFill>
                <a:latin typeface="Heebo"/>
                <a:ea typeface="Heebo"/>
                <a:cs typeface="Heebo"/>
                <a:sym typeface="Heebo"/>
              </a:rPr>
              <a:t>get rid of it</a:t>
            </a:r>
            <a:r>
              <a:rPr b="0" i="0" lang="en-US" sz="1250" u="none" cap="none" strike="noStrike">
                <a:solidFill>
                  <a:srgbClr val="4C4C4D"/>
                </a:solidFill>
                <a:latin typeface="Heebo"/>
                <a:ea typeface="Heebo"/>
                <a:cs typeface="Heebo"/>
                <a:sym typeface="Heebo"/>
              </a:rPr>
              <a:t>.</a:t>
            </a:r>
            <a:endParaRPr b="0" i="0" sz="1250" u="none" cap="none" strike="noStrike"/>
          </a:p>
        </p:txBody>
      </p:sp>
      <p:sp>
        <p:nvSpPr>
          <p:cNvPr id="227" name="Google Shape;227;p25"/>
          <p:cNvSpPr/>
          <p:nvPr/>
        </p:nvSpPr>
        <p:spPr>
          <a:xfrm>
            <a:off x="975360" y="4112538"/>
            <a:ext cx="6078855" cy="101631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In simple terms, Omnicare provides pharmacy services to nursing homes and long-term care facilities. This is a legally complex area, and the business doesn't naturally fit with CVS's core strategy of managing individual patient care through its stores, clinics, and Aetna insurance.</a:t>
            </a:r>
            <a:endParaRPr b="0" i="0" sz="1250" u="none" cap="none" strike="noStrike"/>
          </a:p>
        </p:txBody>
      </p:sp>
      <p:sp>
        <p:nvSpPr>
          <p:cNvPr id="228" name="Google Shape;228;p25"/>
          <p:cNvSpPr/>
          <p:nvPr/>
        </p:nvSpPr>
        <p:spPr>
          <a:xfrm>
            <a:off x="975360" y="5224105"/>
            <a:ext cx="6078855"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Therefore, the recommendation is to consider:</a:t>
            </a:r>
            <a:endParaRPr b="0" i="0" sz="1250" u="none" cap="none" strike="noStrike"/>
          </a:p>
        </p:txBody>
      </p:sp>
      <p:sp>
        <p:nvSpPr>
          <p:cNvPr id="229" name="Google Shape;229;p25"/>
          <p:cNvSpPr/>
          <p:nvPr/>
        </p:nvSpPr>
        <p:spPr>
          <a:xfrm>
            <a:off x="975360" y="5573435"/>
            <a:ext cx="6078855"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Selling it (divestiture):</a:t>
            </a:r>
            <a:r>
              <a:rPr b="0" i="0" lang="en-US" sz="1250" u="none" cap="none" strike="noStrike">
                <a:solidFill>
                  <a:srgbClr val="4C4C4D"/>
                </a:solidFill>
                <a:latin typeface="Heebo"/>
                <a:ea typeface="Heebo"/>
                <a:cs typeface="Heebo"/>
                <a:sym typeface="Heebo"/>
              </a:rPr>
              <a:t> Get it completely off the books.</a:t>
            </a:r>
            <a:endParaRPr b="0" i="0" sz="1250" u="none" cap="none" strike="noStrike"/>
          </a:p>
        </p:txBody>
      </p:sp>
      <p:sp>
        <p:nvSpPr>
          <p:cNvPr id="230" name="Google Shape;230;p25"/>
          <p:cNvSpPr/>
          <p:nvPr/>
        </p:nvSpPr>
        <p:spPr>
          <a:xfrm>
            <a:off x="975360" y="5882997"/>
            <a:ext cx="6078855"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Spinning it off:</a:t>
            </a:r>
            <a:r>
              <a:rPr b="0" i="0" lang="en-US" sz="1250" u="none" cap="none" strike="noStrike">
                <a:solidFill>
                  <a:srgbClr val="4C4C4D"/>
                </a:solidFill>
                <a:latin typeface="Heebo"/>
                <a:ea typeface="Heebo"/>
                <a:cs typeface="Heebo"/>
                <a:sym typeface="Heebo"/>
              </a:rPr>
              <a:t> Turn it into a separate, independent company.</a:t>
            </a:r>
            <a:endParaRPr b="0" i="0" sz="1250" u="none" cap="none" strike="noStrike"/>
          </a:p>
        </p:txBody>
      </p:sp>
      <p:sp>
        <p:nvSpPr>
          <p:cNvPr id="231" name="Google Shape;231;p25"/>
          <p:cNvSpPr/>
          <p:nvPr/>
        </p:nvSpPr>
        <p:spPr>
          <a:xfrm>
            <a:off x="975360" y="6192560"/>
            <a:ext cx="6078855"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Restructuring it:</a:t>
            </a:r>
            <a:r>
              <a:rPr b="0" i="0" lang="en-US" sz="1250" u="none" cap="none" strike="noStrike">
                <a:solidFill>
                  <a:srgbClr val="4C4C4D"/>
                </a:solidFill>
                <a:latin typeface="Heebo"/>
                <a:ea typeface="Heebo"/>
                <a:cs typeface="Heebo"/>
                <a:sym typeface="Heebo"/>
              </a:rPr>
              <a:t> Fundamentally change its operations to reduce risk.</a:t>
            </a:r>
            <a:endParaRPr b="0" i="0" sz="1250" u="none" cap="none" strike="noStrike"/>
          </a:p>
        </p:txBody>
      </p:sp>
      <p:sp>
        <p:nvSpPr>
          <p:cNvPr id="232" name="Google Shape;232;p25"/>
          <p:cNvSpPr/>
          <p:nvPr/>
        </p:nvSpPr>
        <p:spPr>
          <a:xfrm>
            <a:off x="975360" y="6541889"/>
            <a:ext cx="6078855"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The main goal is to </a:t>
            </a:r>
            <a:r>
              <a:rPr b="1" i="0" lang="en-US" sz="1250" u="none" cap="none" strike="noStrike">
                <a:solidFill>
                  <a:srgbClr val="4C4C4D"/>
                </a:solidFill>
                <a:latin typeface="Heebo"/>
                <a:ea typeface="Heebo"/>
                <a:cs typeface="Heebo"/>
                <a:sym typeface="Heebo"/>
              </a:rPr>
              <a:t>cut ties with a legally risky asset</a:t>
            </a:r>
            <a:r>
              <a:rPr b="0" i="0" lang="en-US" sz="1250" u="none" cap="none" strike="noStrike">
                <a:solidFill>
                  <a:srgbClr val="4C4C4D"/>
                </a:solidFill>
                <a:latin typeface="Heebo"/>
                <a:ea typeface="Heebo"/>
                <a:cs typeface="Heebo"/>
                <a:sym typeface="Heebo"/>
              </a:rPr>
              <a:t> that doesn't add much value to the overall integrated company. This frees up cash and management focus to invest in the more central parts of the business.</a:t>
            </a:r>
            <a:endParaRPr b="0" i="0" sz="1250" u="none" cap="none" strike="noStrike"/>
          </a:p>
        </p:txBody>
      </p:sp>
      <p:sp>
        <p:nvSpPr>
          <p:cNvPr id="233" name="Google Shape;233;p25"/>
          <p:cNvSpPr/>
          <p:nvPr/>
        </p:nvSpPr>
        <p:spPr>
          <a:xfrm>
            <a:off x="7394496" y="1854994"/>
            <a:ext cx="6442115" cy="5630704"/>
          </a:xfrm>
          <a:prstGeom prst="roundRect">
            <a:avLst>
              <a:gd fmla="val 423"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
          <p:cNvSpPr/>
          <p:nvPr/>
        </p:nvSpPr>
        <p:spPr>
          <a:xfrm>
            <a:off x="7417356" y="1877854"/>
            <a:ext cx="6396395" cy="476250"/>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25"/>
          <p:cNvPicPr preferRelativeResize="0"/>
          <p:nvPr/>
        </p:nvPicPr>
        <p:blipFill rotWithShape="1">
          <a:blip r:embed="rId4">
            <a:alphaModFix/>
          </a:blip>
          <a:srcRect b="0" l="0" r="0" t="0"/>
          <a:stretch/>
        </p:blipFill>
        <p:spPr>
          <a:xfrm>
            <a:off x="10496431" y="1967151"/>
            <a:ext cx="238125" cy="297656"/>
          </a:xfrm>
          <a:prstGeom prst="rect">
            <a:avLst/>
          </a:prstGeom>
          <a:noFill/>
          <a:ln>
            <a:noFill/>
          </a:ln>
        </p:spPr>
      </p:pic>
      <p:sp>
        <p:nvSpPr>
          <p:cNvPr id="236" name="Google Shape;236;p25"/>
          <p:cNvSpPr/>
          <p:nvPr/>
        </p:nvSpPr>
        <p:spPr>
          <a:xfrm>
            <a:off x="7576066" y="2512814"/>
            <a:ext cx="3474958" cy="297656"/>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B31849"/>
              </a:buClr>
              <a:buSzPts val="1850"/>
              <a:buFont typeface="Crimson Pro"/>
              <a:buNone/>
            </a:pPr>
            <a:r>
              <a:rPr b="0" i="0" lang="en-US" sz="1850" u="none" cap="none" strike="noStrike">
                <a:solidFill>
                  <a:srgbClr val="B31849"/>
                </a:solidFill>
                <a:latin typeface="Crimson Pro"/>
                <a:ea typeface="Crimson Pro"/>
                <a:cs typeface="Crimson Pro"/>
                <a:sym typeface="Crimson Pro"/>
              </a:rPr>
              <a:t>Flexible Innovation &amp; Loyalty Hubs</a:t>
            </a:r>
            <a:endParaRPr b="0" i="0" sz="1850" u="none" cap="none" strike="noStrike"/>
          </a:p>
        </p:txBody>
      </p:sp>
      <p:sp>
        <p:nvSpPr>
          <p:cNvPr id="237" name="Google Shape;237;p25"/>
          <p:cNvSpPr/>
          <p:nvPr/>
        </p:nvSpPr>
        <p:spPr>
          <a:xfrm>
            <a:off x="7576066" y="2905720"/>
            <a:ext cx="6078974"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sng" cap="none" strike="noStrike">
                <a:solidFill>
                  <a:srgbClr val="4C4C4D"/>
                </a:solidFill>
                <a:latin typeface="Heebo"/>
                <a:ea typeface="Heebo"/>
                <a:cs typeface="Heebo"/>
                <a:sym typeface="Heebo"/>
              </a:rPr>
              <a:t>Low coordination, high contracting dififfculty</a:t>
            </a:r>
            <a:r>
              <a:rPr b="0" i="0" lang="en-US" sz="1250" u="none" cap="none" strike="noStrike">
                <a:solidFill>
                  <a:srgbClr val="4C4C4D"/>
                </a:solidFill>
                <a:latin typeface="Heebo"/>
                <a:ea typeface="Heebo"/>
                <a:cs typeface="Heebo"/>
                <a:sym typeface="Heebo"/>
              </a:rPr>
              <a:t> (retail stores): </a:t>
            </a:r>
            <a:endParaRPr b="0" i="0" sz="1250" u="none" cap="none" strike="noStrike"/>
          </a:p>
        </p:txBody>
      </p:sp>
      <p:sp>
        <p:nvSpPr>
          <p:cNvPr id="238" name="Google Shape;238;p25"/>
          <p:cNvSpPr/>
          <p:nvPr/>
        </p:nvSpPr>
        <p:spPr>
          <a:xfrm>
            <a:off x="7576066" y="3255050"/>
            <a:ext cx="6078974"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The plan is to use the retail stores as a support system rather than a core focus. Instead of just being a convenience store, they should become health and wellness hubs that attract customers and gather valuable data through the loyalty program.</a:t>
            </a:r>
            <a:endParaRPr b="0" i="0" sz="1250" u="none" cap="none" strike="noStrike"/>
          </a:p>
        </p:txBody>
      </p:sp>
      <p:sp>
        <p:nvSpPr>
          <p:cNvPr id="239" name="Google Shape;239;p25"/>
          <p:cNvSpPr/>
          <p:nvPr/>
        </p:nvSpPr>
        <p:spPr>
          <a:xfrm>
            <a:off x="7576066" y="4112538"/>
            <a:ext cx="6078974"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To do this cheaply and flexibly, CVS should consider not owning every store outright. They could explore franchising or partnerships to reduce costs.</a:t>
            </a:r>
            <a:endParaRPr b="0" i="0" sz="1250" u="none" cap="none" strike="noStrike"/>
          </a:p>
        </p:txBody>
      </p:sp>
      <p:sp>
        <p:nvSpPr>
          <p:cNvPr id="240" name="Google Shape;240;p25"/>
          <p:cNvSpPr/>
          <p:nvPr/>
        </p:nvSpPr>
        <p:spPr>
          <a:xfrm>
            <a:off x="7576066" y="4715947"/>
            <a:ext cx="6078974"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0" i="0" lang="en-US" sz="1250" u="none" cap="none" strike="noStrike">
                <a:solidFill>
                  <a:srgbClr val="4C4C4D"/>
                </a:solidFill>
                <a:latin typeface="Heebo"/>
                <a:ea typeface="Heebo"/>
                <a:cs typeface="Heebo"/>
                <a:sym typeface="Heebo"/>
              </a:rPr>
              <a:t>The ultimate goal is to keep the retail side of the business low-cost and adaptable, so it can help the main healthcare services (pharmacy, clinics, insurance) without draining money or resources.</a:t>
            </a:r>
            <a:endParaRPr b="0" i="0" sz="12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p:nvPr/>
        </p:nvSpPr>
        <p:spPr>
          <a:xfrm>
            <a:off x="793790" y="959048"/>
            <a:ext cx="2268260"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31849"/>
              </a:buClr>
              <a:buSzPts val="1750"/>
              <a:buFont typeface="Crimson Pro"/>
              <a:buNone/>
            </a:pPr>
            <a:r>
              <a:rPr b="0" i="0" lang="en-US" sz="1750" u="none" cap="none" strike="noStrike">
                <a:solidFill>
                  <a:srgbClr val="B31849"/>
                </a:solidFill>
                <a:latin typeface="Crimson Pro"/>
                <a:ea typeface="Crimson Pro"/>
                <a:cs typeface="Crimson Pro"/>
                <a:sym typeface="Crimson Pro"/>
              </a:rPr>
              <a:t>Threat of substitutes</a:t>
            </a:r>
            <a:endParaRPr b="0" i="0" sz="1750" u="none" cap="none" strike="noStrike"/>
          </a:p>
        </p:txBody>
      </p:sp>
      <p:sp>
        <p:nvSpPr>
          <p:cNvPr id="247" name="Google Shape;247;p26"/>
          <p:cNvSpPr/>
          <p:nvPr/>
        </p:nvSpPr>
        <p:spPr>
          <a:xfrm>
            <a:off x="793790" y="1315045"/>
            <a:ext cx="13042821"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B31849"/>
              </a:buClr>
              <a:buSzPts val="3550"/>
              <a:buFont typeface="Crimson Pro"/>
              <a:buNone/>
            </a:pPr>
            <a:r>
              <a:rPr b="0" i="0" lang="en-US" sz="3550" u="none" cap="none" strike="noStrike">
                <a:solidFill>
                  <a:srgbClr val="B31849"/>
                </a:solidFill>
                <a:latin typeface="Crimson Pro"/>
                <a:ea typeface="Crimson Pro"/>
                <a:cs typeface="Crimson Pro"/>
                <a:sym typeface="Crimson Pro"/>
              </a:rPr>
              <a:t>Our main Substitute Threat : Growth of Digital Health and Telehealth </a:t>
            </a:r>
            <a:endParaRPr b="0" i="0" sz="3550" u="none" cap="none" strike="noStrike"/>
          </a:p>
        </p:txBody>
      </p:sp>
      <p:sp>
        <p:nvSpPr>
          <p:cNvPr id="248" name="Google Shape;248;p26"/>
          <p:cNvSpPr/>
          <p:nvPr/>
        </p:nvSpPr>
        <p:spPr>
          <a:xfrm>
            <a:off x="793790" y="1954530"/>
            <a:ext cx="12329398" cy="34016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B31849"/>
              </a:buClr>
              <a:buSzPts val="2100"/>
              <a:buFont typeface="Crimson Pro"/>
              <a:buNone/>
            </a:pPr>
            <a:r>
              <a:rPr b="0" i="0" lang="en-US" sz="2100" u="none" cap="none" strike="noStrike">
                <a:solidFill>
                  <a:srgbClr val="B31849"/>
                </a:solidFill>
                <a:latin typeface="Crimson Pro"/>
                <a:ea typeface="Crimson Pro"/>
                <a:cs typeface="Crimson Pro"/>
                <a:sym typeface="Crimson Pro"/>
              </a:rPr>
              <a:t>Digital alternatives are rapidly reshaping consumer expectations and bypassing traditional pharmacy models.</a:t>
            </a:r>
            <a:endParaRPr b="0" i="0" sz="2100" u="none" cap="none" strike="noStrike"/>
          </a:p>
        </p:txBody>
      </p:sp>
      <p:pic>
        <p:nvPicPr>
          <p:cNvPr descr="preencoded.png" id="249" name="Google Shape;249;p26"/>
          <p:cNvPicPr preferRelativeResize="0"/>
          <p:nvPr/>
        </p:nvPicPr>
        <p:blipFill rotWithShape="1">
          <a:blip r:embed="rId3">
            <a:alphaModFix/>
          </a:blip>
          <a:srcRect b="0" l="0" r="0" t="0"/>
          <a:stretch/>
        </p:blipFill>
        <p:spPr>
          <a:xfrm>
            <a:off x="793790" y="2566868"/>
            <a:ext cx="6521410" cy="725805"/>
          </a:xfrm>
          <a:prstGeom prst="rect">
            <a:avLst/>
          </a:prstGeom>
          <a:noFill/>
          <a:ln>
            <a:noFill/>
          </a:ln>
        </p:spPr>
      </p:pic>
      <p:sp>
        <p:nvSpPr>
          <p:cNvPr id="250" name="Google Shape;250;p26"/>
          <p:cNvSpPr/>
          <p:nvPr/>
        </p:nvSpPr>
        <p:spPr>
          <a:xfrm>
            <a:off x="975241" y="3474125"/>
            <a:ext cx="3105626"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C4C4D"/>
              </a:buClr>
              <a:buSzPts val="1750"/>
              <a:buFont typeface="Crimson Pro"/>
              <a:buNone/>
            </a:pPr>
            <a:r>
              <a:rPr b="0" i="0" lang="en-US" sz="1750" u="none" cap="none" strike="noStrike">
                <a:solidFill>
                  <a:srgbClr val="4C4C4D"/>
                </a:solidFill>
                <a:latin typeface="Crimson Pro"/>
                <a:ea typeface="Crimson Pro"/>
                <a:cs typeface="Crimson Pro"/>
                <a:sym typeface="Crimson Pro"/>
              </a:rPr>
              <a:t>Growing Digital Health Adoption</a:t>
            </a:r>
            <a:endParaRPr b="0" i="0" sz="1750" u="none" cap="none" strike="noStrike"/>
          </a:p>
        </p:txBody>
      </p:sp>
      <p:sp>
        <p:nvSpPr>
          <p:cNvPr id="251" name="Google Shape;251;p26"/>
          <p:cNvSpPr/>
          <p:nvPr/>
        </p:nvSpPr>
        <p:spPr>
          <a:xfrm>
            <a:off x="975241" y="3866436"/>
            <a:ext cx="6158508"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C4C4D"/>
              </a:buClr>
              <a:buSzPts val="1400"/>
              <a:buFont typeface="Heebo"/>
              <a:buNone/>
            </a:pPr>
            <a:r>
              <a:rPr b="0" i="0" lang="en-US" sz="1400" u="none" cap="none" strike="noStrike">
                <a:solidFill>
                  <a:srgbClr val="4C4C4D"/>
                </a:solidFill>
                <a:latin typeface="Heebo"/>
                <a:ea typeface="Heebo"/>
                <a:cs typeface="Heebo"/>
                <a:sym typeface="Heebo"/>
              </a:rPr>
              <a:t>Online medicine ordering is growing 10% annually, with 53% of Americans ordering prescriptions online in 2023. This shows a clear demand shift from physical to digital channels.</a:t>
            </a:r>
            <a:endParaRPr b="0" i="0" sz="1400" u="none" cap="none" strike="noStrike"/>
          </a:p>
        </p:txBody>
      </p:sp>
      <p:pic>
        <p:nvPicPr>
          <p:cNvPr descr="preencoded.png" id="252" name="Google Shape;252;p26"/>
          <p:cNvPicPr preferRelativeResize="0"/>
          <p:nvPr/>
        </p:nvPicPr>
        <p:blipFill rotWithShape="1">
          <a:blip r:embed="rId4">
            <a:alphaModFix/>
          </a:blip>
          <a:srcRect b="0" l="0" r="0" t="0"/>
          <a:stretch/>
        </p:blipFill>
        <p:spPr>
          <a:xfrm>
            <a:off x="7315200" y="2566868"/>
            <a:ext cx="6521410" cy="725805"/>
          </a:xfrm>
          <a:prstGeom prst="rect">
            <a:avLst/>
          </a:prstGeom>
          <a:noFill/>
          <a:ln>
            <a:noFill/>
          </a:ln>
        </p:spPr>
      </p:pic>
      <p:sp>
        <p:nvSpPr>
          <p:cNvPr id="253" name="Google Shape;253;p26"/>
          <p:cNvSpPr/>
          <p:nvPr/>
        </p:nvSpPr>
        <p:spPr>
          <a:xfrm>
            <a:off x="7496651" y="3474125"/>
            <a:ext cx="2938939"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C4C4D"/>
              </a:buClr>
              <a:buSzPts val="1750"/>
              <a:buFont typeface="Crimson Pro"/>
              <a:buNone/>
            </a:pPr>
            <a:r>
              <a:rPr b="0" i="0" lang="en-US" sz="1750" u="none" cap="none" strike="noStrike">
                <a:solidFill>
                  <a:srgbClr val="4C4C4D"/>
                </a:solidFill>
                <a:latin typeface="Crimson Pro"/>
                <a:ea typeface="Crimson Pro"/>
                <a:cs typeface="Crimson Pro"/>
                <a:sym typeface="Crimson Pro"/>
              </a:rPr>
              <a:t>Superior Customer Satisfaction</a:t>
            </a:r>
            <a:endParaRPr b="0" i="0" sz="1750" u="none" cap="none" strike="noStrike"/>
          </a:p>
        </p:txBody>
      </p:sp>
      <p:sp>
        <p:nvSpPr>
          <p:cNvPr id="254" name="Google Shape;254;p26"/>
          <p:cNvSpPr/>
          <p:nvPr/>
        </p:nvSpPr>
        <p:spPr>
          <a:xfrm>
            <a:off x="7496651" y="3866436"/>
            <a:ext cx="6158508"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C4C4D"/>
              </a:buClr>
              <a:buSzPts val="1400"/>
              <a:buFont typeface="Heebo"/>
              <a:buNone/>
            </a:pPr>
            <a:r>
              <a:rPr b="0" i="0" lang="en-US" sz="1400" u="none" cap="none" strike="noStrike">
                <a:solidFill>
                  <a:srgbClr val="4C4C4D"/>
                </a:solidFill>
                <a:latin typeface="Heebo"/>
                <a:ea typeface="Heebo"/>
                <a:cs typeface="Heebo"/>
                <a:sym typeface="Heebo"/>
              </a:rPr>
              <a:t>A J.D. Power 2025 study highlights that mail-order services and supermarket pharmacies outperform traditional chains in convenience, trust, and ordering ease.</a:t>
            </a:r>
            <a:endParaRPr b="0" i="0" sz="1400" u="none" cap="none" strike="noStrike"/>
          </a:p>
        </p:txBody>
      </p:sp>
      <p:pic>
        <p:nvPicPr>
          <p:cNvPr descr="preencoded.png" id="255" name="Google Shape;255;p26"/>
          <p:cNvPicPr preferRelativeResize="0"/>
          <p:nvPr/>
        </p:nvPicPr>
        <p:blipFill rotWithShape="1">
          <a:blip r:embed="rId5">
            <a:alphaModFix/>
          </a:blip>
          <a:srcRect b="0" l="0" r="0" t="0"/>
          <a:stretch/>
        </p:blipFill>
        <p:spPr>
          <a:xfrm>
            <a:off x="793790" y="4918710"/>
            <a:ext cx="6521410" cy="725805"/>
          </a:xfrm>
          <a:prstGeom prst="rect">
            <a:avLst/>
          </a:prstGeom>
          <a:noFill/>
          <a:ln>
            <a:noFill/>
          </a:ln>
        </p:spPr>
      </p:pic>
      <p:sp>
        <p:nvSpPr>
          <p:cNvPr id="256" name="Google Shape;256;p26"/>
          <p:cNvSpPr/>
          <p:nvPr/>
        </p:nvSpPr>
        <p:spPr>
          <a:xfrm>
            <a:off x="975241" y="5825966"/>
            <a:ext cx="3454718"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C4C4D"/>
              </a:buClr>
              <a:buSzPts val="1750"/>
              <a:buFont typeface="Crimson Pro"/>
              <a:buNone/>
            </a:pPr>
            <a:r>
              <a:rPr b="0" i="0" lang="en-US" sz="1750" u="none" cap="none" strike="noStrike">
                <a:solidFill>
                  <a:srgbClr val="4C4C4D"/>
                </a:solidFill>
                <a:latin typeface="Crimson Pro"/>
                <a:ea typeface="Crimson Pro"/>
                <a:cs typeface="Crimson Pro"/>
                <a:sym typeface="Crimson Pro"/>
              </a:rPr>
              <a:t>Telehealth/Telepharmacy Expansion</a:t>
            </a:r>
            <a:endParaRPr b="0" i="0" sz="1750" u="none" cap="none" strike="noStrike"/>
          </a:p>
        </p:txBody>
      </p:sp>
      <p:sp>
        <p:nvSpPr>
          <p:cNvPr id="257" name="Google Shape;257;p26"/>
          <p:cNvSpPr/>
          <p:nvPr/>
        </p:nvSpPr>
        <p:spPr>
          <a:xfrm>
            <a:off x="975241" y="6218277"/>
            <a:ext cx="6158508"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C4C4D"/>
              </a:buClr>
              <a:buSzPts val="1400"/>
              <a:buFont typeface="Heebo"/>
              <a:buNone/>
            </a:pPr>
            <a:r>
              <a:rPr b="0" i="0" lang="en-US" sz="1400" u="none" cap="none" strike="noStrike">
                <a:solidFill>
                  <a:srgbClr val="4C4C4D"/>
                </a:solidFill>
                <a:latin typeface="Heebo"/>
                <a:ea typeface="Heebo"/>
                <a:cs typeface="Heebo"/>
                <a:sym typeface="Heebo"/>
              </a:rPr>
              <a:t>Pandemic-accelerated remote healthcare and prescription services offer convenience levels that directly challenge the necessity of in-person pharmacy visits.</a:t>
            </a:r>
            <a:endParaRPr b="0" i="0" sz="1400" u="none" cap="none" strike="noStrike"/>
          </a:p>
        </p:txBody>
      </p:sp>
      <p:pic>
        <p:nvPicPr>
          <p:cNvPr descr="preencoded.png" id="258" name="Google Shape;258;p26"/>
          <p:cNvPicPr preferRelativeResize="0"/>
          <p:nvPr/>
        </p:nvPicPr>
        <p:blipFill rotWithShape="1">
          <a:blip r:embed="rId6">
            <a:alphaModFix/>
          </a:blip>
          <a:srcRect b="0" l="0" r="0" t="0"/>
          <a:stretch/>
        </p:blipFill>
        <p:spPr>
          <a:xfrm>
            <a:off x="7315200" y="4918710"/>
            <a:ext cx="6521410" cy="725805"/>
          </a:xfrm>
          <a:prstGeom prst="rect">
            <a:avLst/>
          </a:prstGeom>
          <a:noFill/>
          <a:ln>
            <a:noFill/>
          </a:ln>
        </p:spPr>
      </p:pic>
      <p:sp>
        <p:nvSpPr>
          <p:cNvPr id="259" name="Google Shape;259;p26"/>
          <p:cNvSpPr/>
          <p:nvPr/>
        </p:nvSpPr>
        <p:spPr>
          <a:xfrm>
            <a:off x="7496651" y="5825966"/>
            <a:ext cx="3863340" cy="2834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4C4C4D"/>
              </a:buClr>
              <a:buSzPts val="1750"/>
              <a:buFont typeface="Crimson Pro"/>
              <a:buNone/>
            </a:pPr>
            <a:r>
              <a:rPr b="0" i="0" lang="en-US" sz="1750" u="none" cap="none" strike="noStrike">
                <a:solidFill>
                  <a:srgbClr val="4C4C4D"/>
                </a:solidFill>
                <a:latin typeface="Crimson Pro"/>
                <a:ea typeface="Crimson Pro"/>
                <a:cs typeface="Crimson Pro"/>
                <a:sym typeface="Crimson Pro"/>
              </a:rPr>
              <a:t>Comprehensive Digital Ecosystem Threat</a:t>
            </a:r>
            <a:endParaRPr b="0" i="0" sz="1750" u="none" cap="none" strike="noStrike"/>
          </a:p>
        </p:txBody>
      </p:sp>
      <p:sp>
        <p:nvSpPr>
          <p:cNvPr id="260" name="Google Shape;260;p26"/>
          <p:cNvSpPr/>
          <p:nvPr/>
        </p:nvSpPr>
        <p:spPr>
          <a:xfrm>
            <a:off x="7496651" y="6218277"/>
            <a:ext cx="6158508"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4C4C4D"/>
              </a:buClr>
              <a:buSzPts val="1400"/>
              <a:buFont typeface="Heebo"/>
              <a:buNone/>
            </a:pPr>
            <a:r>
              <a:rPr b="0" i="0" lang="en-US" sz="1400" u="none" cap="none" strike="noStrike">
                <a:solidFill>
                  <a:srgbClr val="4C4C4D"/>
                </a:solidFill>
                <a:latin typeface="Heebo"/>
                <a:ea typeface="Heebo"/>
                <a:cs typeface="Heebo"/>
                <a:sym typeface="Heebo"/>
              </a:rPr>
              <a:t>Virtual care, digital health insurance, and direct-to-consumer wellness technologies create integrated alternatives, entirely bypassing traditional pharmacy touchpoints.</a:t>
            </a:r>
            <a:endParaRPr b="0" i="0" sz="14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p:nvPr/>
        </p:nvSpPr>
        <p:spPr>
          <a:xfrm>
            <a:off x="793790" y="640318"/>
            <a:ext cx="11074003" cy="602456"/>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B31849"/>
              </a:buClr>
              <a:buSzPts val="3750"/>
              <a:buFont typeface="Crimson Pro"/>
              <a:buNone/>
            </a:pPr>
            <a:r>
              <a:rPr b="0" i="0" lang="en-US" sz="3750" u="none" cap="none" strike="noStrike">
                <a:solidFill>
                  <a:srgbClr val="B31849"/>
                </a:solidFill>
                <a:latin typeface="Crimson Pro"/>
                <a:ea typeface="Crimson Pro"/>
                <a:cs typeface="Crimson Pro"/>
                <a:sym typeface="Crimson Pro"/>
              </a:rPr>
              <a:t>Recommendation : Aggressively Implement Technology</a:t>
            </a:r>
            <a:endParaRPr b="0" i="0" sz="3750" u="none" cap="none" strike="noStrike"/>
          </a:p>
        </p:txBody>
      </p:sp>
      <p:sp>
        <p:nvSpPr>
          <p:cNvPr id="267" name="Google Shape;267;p27"/>
          <p:cNvSpPr/>
          <p:nvPr/>
        </p:nvSpPr>
        <p:spPr>
          <a:xfrm>
            <a:off x="793790" y="1319808"/>
            <a:ext cx="5172670" cy="48196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3000"/>
              <a:buFont typeface="Crimson Pro"/>
              <a:buNone/>
            </a:pPr>
            <a:r>
              <a:rPr b="0" i="0" lang="en-US" sz="3000" u="none" cap="none" strike="noStrike">
                <a:solidFill>
                  <a:srgbClr val="4C4C4D"/>
                </a:solidFill>
                <a:latin typeface="Crimson Pro"/>
                <a:ea typeface="Crimson Pro"/>
                <a:cs typeface="Crimson Pro"/>
                <a:sym typeface="Crimson Pro"/>
              </a:rPr>
              <a:t>To maintain vertical integration </a:t>
            </a:r>
            <a:endParaRPr b="0" i="0" sz="3000" u="none" cap="none" strike="noStrike"/>
          </a:p>
        </p:txBody>
      </p:sp>
      <p:sp>
        <p:nvSpPr>
          <p:cNvPr id="268" name="Google Shape;268;p27"/>
          <p:cNvSpPr/>
          <p:nvPr/>
        </p:nvSpPr>
        <p:spPr>
          <a:xfrm>
            <a:off x="793790" y="1878806"/>
            <a:ext cx="13042821" cy="903684"/>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To effectively compete with technologically advanced rivals like Amazon, we must aggressively implement and integrate cutting-edge technology and analytics across its entire business. This strategic pivot is essential not just for maintaining market share but for redefining its role in the healthcare landscape.</a:t>
            </a:r>
            <a:endParaRPr b="0" i="0" sz="1850" u="none" cap="none" strike="noStrike"/>
          </a:p>
        </p:txBody>
      </p:sp>
      <p:pic>
        <p:nvPicPr>
          <p:cNvPr descr="preencoded.png" id="269" name="Google Shape;269;p27"/>
          <p:cNvPicPr preferRelativeResize="0"/>
          <p:nvPr/>
        </p:nvPicPr>
        <p:blipFill rotWithShape="1">
          <a:blip r:embed="rId3">
            <a:alphaModFix/>
          </a:blip>
          <a:srcRect b="0" l="0" r="0" t="0"/>
          <a:stretch/>
        </p:blipFill>
        <p:spPr>
          <a:xfrm>
            <a:off x="793790" y="3071693"/>
            <a:ext cx="481965" cy="481965"/>
          </a:xfrm>
          <a:prstGeom prst="rect">
            <a:avLst/>
          </a:prstGeom>
          <a:noFill/>
          <a:ln>
            <a:noFill/>
          </a:ln>
        </p:spPr>
      </p:pic>
      <p:sp>
        <p:nvSpPr>
          <p:cNvPr id="270" name="Google Shape;270;p27"/>
          <p:cNvSpPr/>
          <p:nvPr/>
        </p:nvSpPr>
        <p:spPr>
          <a:xfrm>
            <a:off x="1516737" y="3186113"/>
            <a:ext cx="346400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AI-Powered Robotic Prescription Dispensing</a:t>
            </a:r>
            <a:endParaRPr b="0" i="0" sz="1850" u="none" cap="none" strike="noStrike"/>
          </a:p>
        </p:txBody>
      </p:sp>
      <p:sp>
        <p:nvSpPr>
          <p:cNvPr id="271" name="Google Shape;271;p27"/>
          <p:cNvSpPr/>
          <p:nvPr/>
        </p:nvSpPr>
        <p:spPr>
          <a:xfrm>
            <a:off x="1516737" y="3904178"/>
            <a:ext cx="3464004" cy="9251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500"/>
              <a:buFont typeface="Heebo"/>
              <a:buNone/>
            </a:pPr>
            <a:r>
              <a:rPr b="0" i="0" lang="en-US" sz="1500" u="none" cap="none" strike="noStrike">
                <a:solidFill>
                  <a:srgbClr val="4C4C4D"/>
                </a:solidFill>
                <a:latin typeface="Heebo"/>
                <a:ea typeface="Heebo"/>
                <a:cs typeface="Heebo"/>
                <a:sym typeface="Heebo"/>
              </a:rPr>
              <a:t>Automating prescription fulfillment to enhance speed, accuracy, and efficiency across all pharmacy operations.</a:t>
            </a:r>
            <a:endParaRPr b="0" i="0" sz="1500" u="none" cap="none" strike="noStrike"/>
          </a:p>
        </p:txBody>
      </p:sp>
      <p:pic>
        <p:nvPicPr>
          <p:cNvPr descr="preencoded.png" id="272" name="Google Shape;272;p27"/>
          <p:cNvPicPr preferRelativeResize="0"/>
          <p:nvPr/>
        </p:nvPicPr>
        <p:blipFill rotWithShape="1">
          <a:blip r:embed="rId4">
            <a:alphaModFix/>
          </a:blip>
          <a:srcRect b="0" l="0" r="0" t="0"/>
          <a:stretch/>
        </p:blipFill>
        <p:spPr>
          <a:xfrm>
            <a:off x="5221724" y="3071693"/>
            <a:ext cx="481965" cy="481965"/>
          </a:xfrm>
          <a:prstGeom prst="rect">
            <a:avLst/>
          </a:prstGeom>
          <a:noFill/>
          <a:ln>
            <a:noFill/>
          </a:ln>
        </p:spPr>
      </p:pic>
      <p:sp>
        <p:nvSpPr>
          <p:cNvPr id="273" name="Google Shape;273;p27"/>
          <p:cNvSpPr/>
          <p:nvPr/>
        </p:nvSpPr>
        <p:spPr>
          <a:xfrm>
            <a:off x="5944672" y="3186113"/>
            <a:ext cx="346400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Predictive Analytics for Supply Chain Management</a:t>
            </a:r>
            <a:endParaRPr b="0" i="0" sz="1850" u="none" cap="none" strike="noStrike"/>
          </a:p>
        </p:txBody>
      </p:sp>
      <p:sp>
        <p:nvSpPr>
          <p:cNvPr id="274" name="Google Shape;274;p27"/>
          <p:cNvSpPr/>
          <p:nvPr/>
        </p:nvSpPr>
        <p:spPr>
          <a:xfrm>
            <a:off x="5944672" y="3904178"/>
            <a:ext cx="3464004" cy="123348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500"/>
              <a:buFont typeface="Heebo"/>
              <a:buNone/>
            </a:pPr>
            <a:r>
              <a:rPr b="0" i="0" lang="en-US" sz="1500" u="none" cap="none" strike="noStrike">
                <a:solidFill>
                  <a:srgbClr val="4C4C4D"/>
                </a:solidFill>
                <a:latin typeface="Heebo"/>
                <a:ea typeface="Heebo"/>
                <a:cs typeface="Heebo"/>
                <a:sym typeface="Heebo"/>
              </a:rPr>
              <a:t>Utilizing data to forecast demand, optimize inventory, and streamline logistics, reducing waste and improving availability.</a:t>
            </a:r>
            <a:endParaRPr b="0" i="0" sz="1500" u="none" cap="none" strike="noStrike"/>
          </a:p>
        </p:txBody>
      </p:sp>
      <p:pic>
        <p:nvPicPr>
          <p:cNvPr descr="preencoded.png" id="275" name="Google Shape;275;p27"/>
          <p:cNvPicPr preferRelativeResize="0"/>
          <p:nvPr/>
        </p:nvPicPr>
        <p:blipFill rotWithShape="1">
          <a:blip r:embed="rId5">
            <a:alphaModFix/>
          </a:blip>
          <a:srcRect b="0" l="0" r="0" t="0"/>
          <a:stretch/>
        </p:blipFill>
        <p:spPr>
          <a:xfrm>
            <a:off x="9649658" y="3071693"/>
            <a:ext cx="481965" cy="481965"/>
          </a:xfrm>
          <a:prstGeom prst="rect">
            <a:avLst/>
          </a:prstGeom>
          <a:noFill/>
          <a:ln>
            <a:noFill/>
          </a:ln>
        </p:spPr>
      </p:pic>
      <p:sp>
        <p:nvSpPr>
          <p:cNvPr id="276" name="Google Shape;276;p27"/>
          <p:cNvSpPr/>
          <p:nvPr/>
        </p:nvSpPr>
        <p:spPr>
          <a:xfrm>
            <a:off x="10372606" y="3186113"/>
            <a:ext cx="346400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Hyper-Personalized Customer Engagement via Mobile App</a:t>
            </a:r>
            <a:endParaRPr b="0" i="0" sz="1850" u="none" cap="none" strike="noStrike"/>
          </a:p>
        </p:txBody>
      </p:sp>
      <p:sp>
        <p:nvSpPr>
          <p:cNvPr id="277" name="Google Shape;277;p27"/>
          <p:cNvSpPr/>
          <p:nvPr/>
        </p:nvSpPr>
        <p:spPr>
          <a:xfrm>
            <a:off x="10372606" y="3904178"/>
            <a:ext cx="3464004" cy="123348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500"/>
              <a:buFont typeface="Heebo"/>
              <a:buNone/>
            </a:pPr>
            <a:r>
              <a:rPr b="0" i="0" lang="en-US" sz="1500" u="none" cap="none" strike="noStrike">
                <a:solidFill>
                  <a:srgbClr val="4C4C4D"/>
                </a:solidFill>
                <a:latin typeface="Heebo"/>
                <a:ea typeface="Heebo"/>
                <a:cs typeface="Heebo"/>
                <a:sym typeface="Heebo"/>
              </a:rPr>
              <a:t>Delivering tailored health insights, medication reminders, and service recommendations directly to customers' devices.</a:t>
            </a:r>
            <a:endParaRPr b="0" i="0" sz="1500" u="none" cap="none" strike="noStrike"/>
          </a:p>
        </p:txBody>
      </p:sp>
      <p:pic>
        <p:nvPicPr>
          <p:cNvPr descr="preencoded.png" id="278" name="Google Shape;278;p27"/>
          <p:cNvPicPr preferRelativeResize="0"/>
          <p:nvPr/>
        </p:nvPicPr>
        <p:blipFill rotWithShape="1">
          <a:blip r:embed="rId6">
            <a:alphaModFix/>
          </a:blip>
          <a:srcRect b="0" l="0" r="0" t="0"/>
          <a:stretch/>
        </p:blipFill>
        <p:spPr>
          <a:xfrm>
            <a:off x="793790" y="5523190"/>
            <a:ext cx="481965" cy="481965"/>
          </a:xfrm>
          <a:prstGeom prst="rect">
            <a:avLst/>
          </a:prstGeom>
          <a:noFill/>
          <a:ln>
            <a:noFill/>
          </a:ln>
        </p:spPr>
      </p:pic>
      <p:sp>
        <p:nvSpPr>
          <p:cNvPr id="279" name="Google Shape;279;p27"/>
          <p:cNvSpPr/>
          <p:nvPr/>
        </p:nvSpPr>
        <p:spPr>
          <a:xfrm>
            <a:off x="1516737" y="5637609"/>
            <a:ext cx="346400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Seamlessly Integrated Telehealth and Digital Health Services</a:t>
            </a:r>
            <a:endParaRPr b="0" i="0" sz="1850" u="none" cap="none" strike="noStrike"/>
          </a:p>
        </p:txBody>
      </p:sp>
      <p:sp>
        <p:nvSpPr>
          <p:cNvPr id="280" name="Google Shape;280;p27"/>
          <p:cNvSpPr/>
          <p:nvPr/>
        </p:nvSpPr>
        <p:spPr>
          <a:xfrm>
            <a:off x="1516737" y="6355675"/>
            <a:ext cx="3464004" cy="123348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500"/>
              <a:buFont typeface="Heebo"/>
              <a:buNone/>
            </a:pPr>
            <a:r>
              <a:rPr b="0" i="0" lang="en-US" sz="1500" u="none" cap="none" strike="noStrike">
                <a:solidFill>
                  <a:srgbClr val="4C4C4D"/>
                </a:solidFill>
                <a:latin typeface="Heebo"/>
                <a:ea typeface="Heebo"/>
                <a:cs typeface="Heebo"/>
                <a:sym typeface="Heebo"/>
              </a:rPr>
              <a:t>Expanding virtual care access, connecting patients with providers and pharmacists for remote consultations and support.</a:t>
            </a:r>
            <a:endParaRPr b="0" i="0" sz="1500" u="none" cap="none" strike="noStrike"/>
          </a:p>
        </p:txBody>
      </p:sp>
      <p:pic>
        <p:nvPicPr>
          <p:cNvPr descr="preencoded.png" id="281" name="Google Shape;281;p27"/>
          <p:cNvPicPr preferRelativeResize="0"/>
          <p:nvPr/>
        </p:nvPicPr>
        <p:blipFill rotWithShape="1">
          <a:blip r:embed="rId7">
            <a:alphaModFix/>
          </a:blip>
          <a:srcRect b="0" l="0" r="0" t="0"/>
          <a:stretch/>
        </p:blipFill>
        <p:spPr>
          <a:xfrm>
            <a:off x="5221724" y="5523190"/>
            <a:ext cx="481965" cy="481965"/>
          </a:xfrm>
          <a:prstGeom prst="rect">
            <a:avLst/>
          </a:prstGeom>
          <a:noFill/>
          <a:ln>
            <a:noFill/>
          </a:ln>
        </p:spPr>
      </p:pic>
      <p:sp>
        <p:nvSpPr>
          <p:cNvPr id="282" name="Google Shape;282;p27"/>
          <p:cNvSpPr/>
          <p:nvPr/>
        </p:nvSpPr>
        <p:spPr>
          <a:xfrm>
            <a:off x="5944672" y="5637609"/>
            <a:ext cx="346400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4C4C4D"/>
              </a:buClr>
              <a:buSzPts val="1850"/>
              <a:buFont typeface="Crimson Pro"/>
              <a:buNone/>
            </a:pPr>
            <a:r>
              <a:rPr b="0" i="0" lang="en-US" sz="1850" u="none" cap="none" strike="noStrike">
                <a:solidFill>
                  <a:srgbClr val="4C4C4D"/>
                </a:solidFill>
                <a:latin typeface="Crimson Pro"/>
                <a:ea typeface="Crimson Pro"/>
                <a:cs typeface="Crimson Pro"/>
                <a:sym typeface="Crimson Pro"/>
              </a:rPr>
              <a:t>Advanced Data Analytics for Negotiations</a:t>
            </a:r>
            <a:endParaRPr b="0" i="0" sz="1850" u="none" cap="none" strike="noStrike"/>
          </a:p>
        </p:txBody>
      </p:sp>
      <p:sp>
        <p:nvSpPr>
          <p:cNvPr id="283" name="Google Shape;283;p27"/>
          <p:cNvSpPr/>
          <p:nvPr/>
        </p:nvSpPr>
        <p:spPr>
          <a:xfrm>
            <a:off x="5944672" y="6355675"/>
            <a:ext cx="3464004" cy="123348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500"/>
              <a:buFont typeface="Heebo"/>
              <a:buNone/>
            </a:pPr>
            <a:r>
              <a:rPr b="0" i="0" lang="en-US" sz="1500" u="none" cap="none" strike="noStrike">
                <a:solidFill>
                  <a:srgbClr val="4C4C4D"/>
                </a:solidFill>
                <a:latin typeface="Heebo"/>
                <a:ea typeface="Heebo"/>
                <a:cs typeface="Heebo"/>
                <a:sym typeface="Heebo"/>
              </a:rPr>
              <a:t>Leveraging comprehensive data insights to strengthen positions in supplier and buyer negotiations, ensuring competitive pricing and terms.</a:t>
            </a:r>
            <a:endParaRPr b="0" i="0" sz="15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8"/>
          <p:cNvSpPr/>
          <p:nvPr/>
        </p:nvSpPr>
        <p:spPr>
          <a:xfrm>
            <a:off x="793790" y="801529"/>
            <a:ext cx="12026027"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31849"/>
              </a:buClr>
              <a:buSzPts val="4000"/>
              <a:buFont typeface="Crimson Pro"/>
              <a:buNone/>
            </a:pPr>
            <a:r>
              <a:rPr b="0" i="0" lang="en-US" sz="4000" u="none" cap="none" strike="noStrike">
                <a:solidFill>
                  <a:srgbClr val="B31849"/>
                </a:solidFill>
                <a:latin typeface="Crimson Pro"/>
                <a:ea typeface="Crimson Pro"/>
                <a:cs typeface="Crimson Pro"/>
                <a:sym typeface="Crimson Pro"/>
              </a:rPr>
              <a:t>Key Takeaways from the Competitive Landscape Analysis</a:t>
            </a:r>
            <a:endParaRPr b="0" i="0" sz="4000" u="none" cap="none" strike="noStrike"/>
          </a:p>
        </p:txBody>
      </p:sp>
      <p:sp>
        <p:nvSpPr>
          <p:cNvPr id="290" name="Google Shape;290;p28"/>
          <p:cNvSpPr/>
          <p:nvPr/>
        </p:nvSpPr>
        <p:spPr>
          <a:xfrm>
            <a:off x="793790" y="1847731"/>
            <a:ext cx="4211479" cy="2847499"/>
          </a:xfrm>
          <a:prstGeom prst="roundRect">
            <a:avLst>
              <a:gd fmla="val 3853"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
          <p:cNvSpPr/>
          <p:nvPr/>
        </p:nvSpPr>
        <p:spPr>
          <a:xfrm>
            <a:off x="770930" y="1847731"/>
            <a:ext cx="91440" cy="2847499"/>
          </a:xfrm>
          <a:prstGeom prst="roundRect">
            <a:avLst>
              <a:gd fmla="val 33488"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8"/>
          <p:cNvSpPr/>
          <p:nvPr/>
        </p:nvSpPr>
        <p:spPr>
          <a:xfrm>
            <a:off x="1089303" y="2074664"/>
            <a:ext cx="3272671"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000"/>
              <a:buFont typeface="Crimson Pro"/>
              <a:buNone/>
            </a:pPr>
            <a:r>
              <a:rPr b="0" i="0" lang="en-US" sz="2000" u="none" cap="none" strike="noStrike">
                <a:solidFill>
                  <a:srgbClr val="4C4C4D"/>
                </a:solidFill>
                <a:latin typeface="Crimson Pro"/>
                <a:ea typeface="Crimson Pro"/>
                <a:cs typeface="Crimson Pro"/>
                <a:sym typeface="Crimson Pro"/>
              </a:rPr>
              <a:t>Vertical Integration Dominates</a:t>
            </a:r>
            <a:endParaRPr b="0" i="0" sz="2000" u="none" cap="none" strike="noStrike"/>
          </a:p>
        </p:txBody>
      </p:sp>
      <p:sp>
        <p:nvSpPr>
          <p:cNvPr id="293" name="Google Shape;293;p28"/>
          <p:cNvSpPr/>
          <p:nvPr/>
        </p:nvSpPr>
        <p:spPr>
          <a:xfrm>
            <a:off x="1089303" y="2515910"/>
            <a:ext cx="3689033" cy="163353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C4C4D"/>
              </a:buClr>
              <a:buSzPts val="1600"/>
              <a:buFont typeface="Heebo"/>
              <a:buNone/>
            </a:pPr>
            <a:r>
              <a:rPr b="0" i="0" lang="en-US" sz="1600" u="none" cap="none" strike="noStrike">
                <a:solidFill>
                  <a:srgbClr val="4C4C4D"/>
                </a:solidFill>
                <a:latin typeface="Heebo"/>
                <a:ea typeface="Heebo"/>
                <a:cs typeface="Heebo"/>
                <a:sym typeface="Heebo"/>
              </a:rPr>
              <a:t>Competitors like UnitedHealth Group and Kaiser Permanente integrate insurance, providers, and pharmacy to control costs, improve outcomes, and secure customers.</a:t>
            </a:r>
            <a:endParaRPr b="0" i="0" sz="1600" u="none" cap="none" strike="noStrike"/>
          </a:p>
        </p:txBody>
      </p:sp>
      <p:sp>
        <p:nvSpPr>
          <p:cNvPr id="294" name="Google Shape;294;p28"/>
          <p:cNvSpPr/>
          <p:nvPr/>
        </p:nvSpPr>
        <p:spPr>
          <a:xfrm>
            <a:off x="5209342" y="1847731"/>
            <a:ext cx="4211598" cy="2847499"/>
          </a:xfrm>
          <a:prstGeom prst="roundRect">
            <a:avLst>
              <a:gd fmla="val 3853"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
          <p:cNvSpPr/>
          <p:nvPr/>
        </p:nvSpPr>
        <p:spPr>
          <a:xfrm>
            <a:off x="5186482" y="1847731"/>
            <a:ext cx="91440" cy="2847499"/>
          </a:xfrm>
          <a:prstGeom prst="roundRect">
            <a:avLst>
              <a:gd fmla="val 33488"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
          <p:cNvSpPr/>
          <p:nvPr/>
        </p:nvSpPr>
        <p:spPr>
          <a:xfrm>
            <a:off x="5504855" y="2074664"/>
            <a:ext cx="3225046"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000"/>
              <a:buFont typeface="Crimson Pro"/>
              <a:buNone/>
            </a:pPr>
            <a:r>
              <a:rPr b="0" i="0" lang="en-US" sz="2000" u="none" cap="none" strike="noStrike">
                <a:solidFill>
                  <a:srgbClr val="4C4C4D"/>
                </a:solidFill>
                <a:latin typeface="Crimson Pro"/>
                <a:ea typeface="Crimson Pro"/>
                <a:cs typeface="Crimson Pro"/>
                <a:sym typeface="Crimson Pro"/>
              </a:rPr>
              <a:t>Diversifying Healthcare Access</a:t>
            </a:r>
            <a:endParaRPr b="0" i="0" sz="2000" u="none" cap="none" strike="noStrike"/>
          </a:p>
        </p:txBody>
      </p:sp>
      <p:sp>
        <p:nvSpPr>
          <p:cNvPr id="297" name="Google Shape;297;p28"/>
          <p:cNvSpPr/>
          <p:nvPr/>
        </p:nvSpPr>
        <p:spPr>
          <a:xfrm>
            <a:off x="5504855" y="2515910"/>
            <a:ext cx="3689152" cy="163353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C4C4D"/>
              </a:buClr>
              <a:buSzPts val="1600"/>
              <a:buFont typeface="Heebo"/>
              <a:buNone/>
            </a:pPr>
            <a:r>
              <a:rPr b="0" i="0" lang="en-US" sz="1600" u="none" cap="none" strike="noStrike">
                <a:solidFill>
                  <a:srgbClr val="4C4C4D"/>
                </a:solidFill>
                <a:latin typeface="Heebo"/>
                <a:ea typeface="Heebo"/>
                <a:cs typeface="Heebo"/>
                <a:sym typeface="Heebo"/>
              </a:rPr>
              <a:t>The "front door" to healthcare is expanding beyond traditional doctor's offices, with retail clinics, digital platforms, and telehealth becoming key entry points.</a:t>
            </a:r>
            <a:endParaRPr b="0" i="0" sz="1600" u="none" cap="none" strike="noStrike"/>
          </a:p>
        </p:txBody>
      </p:sp>
      <p:sp>
        <p:nvSpPr>
          <p:cNvPr id="298" name="Google Shape;298;p28"/>
          <p:cNvSpPr/>
          <p:nvPr/>
        </p:nvSpPr>
        <p:spPr>
          <a:xfrm>
            <a:off x="9625013" y="1847731"/>
            <a:ext cx="4211598" cy="2847499"/>
          </a:xfrm>
          <a:prstGeom prst="roundRect">
            <a:avLst>
              <a:gd fmla="val 3853"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8"/>
          <p:cNvSpPr/>
          <p:nvPr/>
        </p:nvSpPr>
        <p:spPr>
          <a:xfrm>
            <a:off x="9602153" y="1847731"/>
            <a:ext cx="91440" cy="2847499"/>
          </a:xfrm>
          <a:prstGeom prst="roundRect">
            <a:avLst>
              <a:gd fmla="val 33488"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8"/>
          <p:cNvSpPr/>
          <p:nvPr/>
        </p:nvSpPr>
        <p:spPr>
          <a:xfrm>
            <a:off x="9920526" y="2074664"/>
            <a:ext cx="3689152" cy="63769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000"/>
              <a:buFont typeface="Crimson Pro"/>
              <a:buNone/>
            </a:pPr>
            <a:r>
              <a:rPr b="0" i="0" lang="en-US" sz="2000" u="none" cap="none" strike="noStrike">
                <a:solidFill>
                  <a:srgbClr val="4C4C4D"/>
                </a:solidFill>
                <a:latin typeface="Crimson Pro"/>
                <a:ea typeface="Crimson Pro"/>
                <a:cs typeface="Crimson Pro"/>
                <a:sym typeface="Crimson Pro"/>
              </a:rPr>
              <a:t>Data &amp; Analytics: New Battleground</a:t>
            </a:r>
            <a:endParaRPr b="0" i="0" sz="2000" u="none" cap="none" strike="noStrike"/>
          </a:p>
        </p:txBody>
      </p:sp>
      <p:sp>
        <p:nvSpPr>
          <p:cNvPr id="301" name="Google Shape;301;p28"/>
          <p:cNvSpPr/>
          <p:nvPr/>
        </p:nvSpPr>
        <p:spPr>
          <a:xfrm>
            <a:off x="9920526" y="2834759"/>
            <a:ext cx="3689152" cy="163353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C4C4D"/>
              </a:buClr>
              <a:buSzPts val="1600"/>
              <a:buFont typeface="Heebo"/>
              <a:buNone/>
            </a:pPr>
            <a:r>
              <a:rPr b="0" i="0" lang="en-US" sz="1600" u="none" cap="none" strike="noStrike">
                <a:solidFill>
                  <a:srgbClr val="4C4C4D"/>
                </a:solidFill>
                <a:latin typeface="Heebo"/>
                <a:ea typeface="Heebo"/>
                <a:cs typeface="Heebo"/>
                <a:sym typeface="Heebo"/>
              </a:rPr>
              <a:t>Heavy investment in technology for population health, cost control, and personalized care is a critical differentiator, as seen with Optum and Kaiser.</a:t>
            </a:r>
            <a:endParaRPr b="0" i="0" sz="1600" u="none" cap="none" strike="noStrike"/>
          </a:p>
        </p:txBody>
      </p:sp>
      <p:sp>
        <p:nvSpPr>
          <p:cNvPr id="302" name="Google Shape;302;p28"/>
          <p:cNvSpPr/>
          <p:nvPr/>
        </p:nvSpPr>
        <p:spPr>
          <a:xfrm>
            <a:off x="793790" y="4899303"/>
            <a:ext cx="4211479" cy="2528649"/>
          </a:xfrm>
          <a:prstGeom prst="roundRect">
            <a:avLst>
              <a:gd fmla="val 4339"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8"/>
          <p:cNvSpPr/>
          <p:nvPr/>
        </p:nvSpPr>
        <p:spPr>
          <a:xfrm>
            <a:off x="770930" y="4899303"/>
            <a:ext cx="91440" cy="2528649"/>
          </a:xfrm>
          <a:prstGeom prst="roundRect">
            <a:avLst>
              <a:gd fmla="val 33488"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
          <p:cNvSpPr/>
          <p:nvPr/>
        </p:nvSpPr>
        <p:spPr>
          <a:xfrm>
            <a:off x="1089303" y="5126236"/>
            <a:ext cx="2850237"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000"/>
              <a:buFont typeface="Crimson Pro"/>
              <a:buNone/>
            </a:pPr>
            <a:r>
              <a:rPr b="0" i="0" lang="en-US" sz="2000" u="none" cap="none" strike="noStrike">
                <a:solidFill>
                  <a:srgbClr val="4C4C4D"/>
                </a:solidFill>
                <a:latin typeface="Crimson Pro"/>
                <a:ea typeface="Crimson Pro"/>
                <a:cs typeface="Crimson Pro"/>
                <a:sym typeface="Crimson Pro"/>
              </a:rPr>
              <a:t>Value-Based Care Standard</a:t>
            </a:r>
            <a:endParaRPr b="0" i="0" sz="2000" u="none" cap="none" strike="noStrike"/>
          </a:p>
        </p:txBody>
      </p:sp>
      <p:sp>
        <p:nvSpPr>
          <p:cNvPr id="305" name="Google Shape;305;p28"/>
          <p:cNvSpPr/>
          <p:nvPr/>
        </p:nvSpPr>
        <p:spPr>
          <a:xfrm>
            <a:off x="1089303" y="5567482"/>
            <a:ext cx="3689033" cy="163353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C4C4D"/>
              </a:buClr>
              <a:buSzPts val="1600"/>
              <a:buFont typeface="Heebo"/>
              <a:buNone/>
            </a:pPr>
            <a:r>
              <a:rPr b="0" i="0" lang="en-US" sz="1600" u="none" cap="none" strike="noStrike">
                <a:solidFill>
                  <a:srgbClr val="4C4C4D"/>
                </a:solidFill>
                <a:latin typeface="Heebo"/>
                <a:ea typeface="Heebo"/>
                <a:cs typeface="Heebo"/>
                <a:sym typeface="Heebo"/>
              </a:rPr>
              <a:t>A shift from fee-for-service to value-based care models is becoming standard, focusing on keeping patients healthy and reducing overall system costs.</a:t>
            </a:r>
            <a:endParaRPr b="0" i="0" sz="1600" u="none" cap="none" strike="noStrike"/>
          </a:p>
        </p:txBody>
      </p:sp>
      <p:sp>
        <p:nvSpPr>
          <p:cNvPr id="306" name="Google Shape;306;p28"/>
          <p:cNvSpPr/>
          <p:nvPr/>
        </p:nvSpPr>
        <p:spPr>
          <a:xfrm>
            <a:off x="5209342" y="4899303"/>
            <a:ext cx="4211598" cy="2528649"/>
          </a:xfrm>
          <a:prstGeom prst="roundRect">
            <a:avLst>
              <a:gd fmla="val 4339"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8"/>
          <p:cNvSpPr/>
          <p:nvPr/>
        </p:nvSpPr>
        <p:spPr>
          <a:xfrm>
            <a:off x="5186482" y="4899303"/>
            <a:ext cx="91440" cy="2528649"/>
          </a:xfrm>
          <a:prstGeom prst="roundRect">
            <a:avLst>
              <a:gd fmla="val 33488"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
          <p:cNvSpPr/>
          <p:nvPr/>
        </p:nvSpPr>
        <p:spPr>
          <a:xfrm>
            <a:off x="5504855" y="5126236"/>
            <a:ext cx="3540085"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C4C4D"/>
              </a:buClr>
              <a:buSzPts val="2000"/>
              <a:buFont typeface="Crimson Pro"/>
              <a:buNone/>
            </a:pPr>
            <a:r>
              <a:rPr b="0" i="0" lang="en-US" sz="2000" u="none" cap="none" strike="noStrike">
                <a:solidFill>
                  <a:srgbClr val="4C4C4D"/>
                </a:solidFill>
                <a:latin typeface="Crimson Pro"/>
                <a:ea typeface="Crimson Pro"/>
                <a:cs typeface="Crimson Pro"/>
                <a:sym typeface="Crimson Pro"/>
              </a:rPr>
              <a:t>Niche &amp; Community Focus Power</a:t>
            </a:r>
            <a:endParaRPr b="0" i="0" sz="2000" u="none" cap="none" strike="noStrike"/>
          </a:p>
        </p:txBody>
      </p:sp>
      <p:sp>
        <p:nvSpPr>
          <p:cNvPr id="309" name="Google Shape;309;p28"/>
          <p:cNvSpPr/>
          <p:nvPr/>
        </p:nvSpPr>
        <p:spPr>
          <a:xfrm>
            <a:off x="5504855" y="5567482"/>
            <a:ext cx="3689152" cy="163353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4C4C4D"/>
              </a:buClr>
              <a:buSzPts val="1600"/>
              <a:buFont typeface="Heebo"/>
              <a:buNone/>
            </a:pPr>
            <a:r>
              <a:rPr b="0" i="0" lang="en-US" sz="1600" u="none" cap="none" strike="noStrike">
                <a:solidFill>
                  <a:srgbClr val="4C4C4D"/>
                </a:solidFill>
                <a:latin typeface="Heebo"/>
                <a:ea typeface="Heebo"/>
                <a:cs typeface="Heebo"/>
                <a:sym typeface="Heebo"/>
              </a:rPr>
              <a:t>Targeting specific communities or patient populations (e.g., Medicare beneficiaries) builds strong loyalty and addresses gaps missed by larger players.</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9"/>
          <p:cNvSpPr/>
          <p:nvPr/>
        </p:nvSpPr>
        <p:spPr>
          <a:xfrm>
            <a:off x="793790" y="699016"/>
            <a:ext cx="3969425"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B31849"/>
              </a:buClr>
              <a:buSzPts val="3100"/>
              <a:buFont typeface="Crimson Pro"/>
              <a:buNone/>
            </a:pPr>
            <a:r>
              <a:rPr b="0" i="0" lang="en-US" sz="3100" u="none" cap="none" strike="noStrike">
                <a:solidFill>
                  <a:srgbClr val="B31849"/>
                </a:solidFill>
                <a:latin typeface="Crimson Pro"/>
                <a:ea typeface="Crimson Pro"/>
                <a:cs typeface="Crimson Pro"/>
                <a:sym typeface="Crimson Pro"/>
              </a:rPr>
              <a:t>Recommendation : </a:t>
            </a:r>
            <a:endParaRPr b="0" i="0" sz="3100" u="none" cap="none" strike="noStrike"/>
          </a:p>
        </p:txBody>
      </p:sp>
      <p:sp>
        <p:nvSpPr>
          <p:cNvPr id="316" name="Google Shape;316;p29"/>
          <p:cNvSpPr/>
          <p:nvPr/>
        </p:nvSpPr>
        <p:spPr>
          <a:xfrm>
            <a:off x="793790" y="1512689"/>
            <a:ext cx="6441996" cy="2675453"/>
          </a:xfrm>
          <a:prstGeom prst="roundRect">
            <a:avLst>
              <a:gd fmla="val 4101"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9"/>
          <p:cNvSpPr/>
          <p:nvPr/>
        </p:nvSpPr>
        <p:spPr>
          <a:xfrm>
            <a:off x="770930" y="1512689"/>
            <a:ext cx="91440" cy="2675453"/>
          </a:xfrm>
          <a:prstGeom prst="roundRect">
            <a:avLst>
              <a:gd fmla="val 26046"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9"/>
          <p:cNvSpPr/>
          <p:nvPr/>
        </p:nvSpPr>
        <p:spPr>
          <a:xfrm>
            <a:off x="1043940" y="1694259"/>
            <a:ext cx="3362206"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B31849"/>
              </a:buClr>
              <a:buSzPts val="1550"/>
              <a:buFont typeface="Crimson Pro"/>
              <a:buNone/>
            </a:pPr>
            <a:r>
              <a:rPr b="0" i="0" lang="en-US" sz="1550" u="none" cap="none" strike="noStrike">
                <a:solidFill>
                  <a:srgbClr val="B31849"/>
                </a:solidFill>
                <a:latin typeface="Crimson Pro"/>
                <a:ea typeface="Crimson Pro"/>
                <a:cs typeface="Crimson Pro"/>
                <a:sym typeface="Crimson Pro"/>
              </a:rPr>
              <a:t>Deepen &amp; Differentiate Integrated Model</a:t>
            </a:r>
            <a:endParaRPr b="0" i="0" sz="1550" u="none" cap="none" strike="noStrike"/>
          </a:p>
        </p:txBody>
      </p:sp>
      <p:sp>
        <p:nvSpPr>
          <p:cNvPr id="319" name="Google Shape;319;p29"/>
          <p:cNvSpPr/>
          <p:nvPr/>
        </p:nvSpPr>
        <p:spPr>
          <a:xfrm>
            <a:off x="1043940" y="2037517"/>
            <a:ext cx="6010275"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To build patient trust and provide defense against legal risk by demonstrating pro-competitive value.</a:t>
            </a:r>
            <a:endParaRPr b="0" i="0" sz="1250" u="none" cap="none" strike="noStrike"/>
          </a:p>
        </p:txBody>
      </p:sp>
      <p:sp>
        <p:nvSpPr>
          <p:cNvPr id="320" name="Google Shape;320;p29"/>
          <p:cNvSpPr/>
          <p:nvPr/>
        </p:nvSpPr>
        <p:spPr>
          <a:xfrm>
            <a:off x="1043940" y="2640925"/>
            <a:ext cx="6010275" cy="50815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4C4C4D"/>
              </a:buClr>
              <a:buSzPts val="1250"/>
              <a:buFont typeface="Heebo"/>
              <a:buChar char="•"/>
            </a:pPr>
            <a:r>
              <a:rPr b="0" i="0" lang="en-US" sz="1250" u="none" cap="none" strike="noStrike">
                <a:solidFill>
                  <a:srgbClr val="4C4C4D"/>
                </a:solidFill>
                <a:latin typeface="Heebo"/>
                <a:ea typeface="Heebo"/>
                <a:cs typeface="Heebo"/>
                <a:sym typeface="Heebo"/>
              </a:rPr>
              <a:t>Our acquisitions of Aetna and Oak Street Health provide a unique opportunity for vertical integration. It's crucial to make this integration seamless and superior.</a:t>
            </a:r>
            <a:endParaRPr b="0" i="0" sz="1250" u="none" cap="none" strike="noStrike"/>
          </a:p>
        </p:txBody>
      </p:sp>
      <p:sp>
        <p:nvSpPr>
          <p:cNvPr id="321" name="Google Shape;321;p29"/>
          <p:cNvSpPr/>
          <p:nvPr/>
        </p:nvSpPr>
        <p:spPr>
          <a:xfrm>
            <a:off x="1043940" y="3244334"/>
            <a:ext cx="6010275"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Example :</a:t>
            </a:r>
            <a:r>
              <a:rPr b="0" i="0" lang="en-US" sz="1250" u="none" cap="none" strike="noStrike">
                <a:solidFill>
                  <a:srgbClr val="4C4C4D"/>
                </a:solidFill>
                <a:latin typeface="Heebo"/>
                <a:ea typeface="Heebo"/>
                <a:cs typeface="Heebo"/>
                <a:sym typeface="Heebo"/>
              </a:rPr>
              <a:t> Create a "CVS Prime" experience offering tangible benefits like zero-copay MinuteClinic visits, personalized health plans via the CVS app, and streamlined prescription coordination for Aetna members.</a:t>
            </a:r>
            <a:endParaRPr b="0" i="0" sz="1250" u="none" cap="none" strike="noStrike"/>
          </a:p>
        </p:txBody>
      </p:sp>
      <p:sp>
        <p:nvSpPr>
          <p:cNvPr id="322" name="Google Shape;322;p29"/>
          <p:cNvSpPr/>
          <p:nvPr/>
        </p:nvSpPr>
        <p:spPr>
          <a:xfrm>
            <a:off x="7394496" y="1512689"/>
            <a:ext cx="6442115" cy="2675453"/>
          </a:xfrm>
          <a:prstGeom prst="roundRect">
            <a:avLst>
              <a:gd fmla="val 4101"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9"/>
          <p:cNvSpPr/>
          <p:nvPr/>
        </p:nvSpPr>
        <p:spPr>
          <a:xfrm>
            <a:off x="7371636" y="1512689"/>
            <a:ext cx="91440" cy="2675453"/>
          </a:xfrm>
          <a:prstGeom prst="roundRect">
            <a:avLst>
              <a:gd fmla="val 26046"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9"/>
          <p:cNvSpPr/>
          <p:nvPr/>
        </p:nvSpPr>
        <p:spPr>
          <a:xfrm>
            <a:off x="7644646" y="1694259"/>
            <a:ext cx="341209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B31849"/>
              </a:buClr>
              <a:buSzPts val="1550"/>
              <a:buFont typeface="Crimson Pro"/>
              <a:buNone/>
            </a:pPr>
            <a:r>
              <a:rPr b="0" i="0" lang="en-US" sz="1550" u="none" cap="none" strike="noStrike">
                <a:solidFill>
                  <a:srgbClr val="B31849"/>
                </a:solidFill>
                <a:latin typeface="Crimson Pro"/>
                <a:ea typeface="Crimson Pro"/>
                <a:cs typeface="Crimson Pro"/>
                <a:sym typeface="Crimson Pro"/>
              </a:rPr>
              <a:t>Win the "Last Mile" with Retail Footprint</a:t>
            </a:r>
            <a:endParaRPr b="0" i="0" sz="1550" u="none" cap="none" strike="noStrike"/>
          </a:p>
        </p:txBody>
      </p:sp>
      <p:sp>
        <p:nvSpPr>
          <p:cNvPr id="325" name="Google Shape;325;p29"/>
          <p:cNvSpPr/>
          <p:nvPr/>
        </p:nvSpPr>
        <p:spPr>
          <a:xfrm>
            <a:off x="7644646" y="2037517"/>
            <a:ext cx="6010394"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To build trust by improving access while mitigating legal risk by focusing on convenience rather than corporate coercion.</a:t>
            </a:r>
            <a:endParaRPr b="0" i="0" sz="1250" u="none" cap="none" strike="noStrike"/>
          </a:p>
        </p:txBody>
      </p:sp>
      <p:sp>
        <p:nvSpPr>
          <p:cNvPr id="326" name="Google Shape;326;p29"/>
          <p:cNvSpPr/>
          <p:nvPr/>
        </p:nvSpPr>
        <p:spPr>
          <a:xfrm>
            <a:off x="7644646" y="2640925"/>
            <a:ext cx="6010394" cy="50815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4C4C4D"/>
              </a:buClr>
              <a:buSzPts val="1250"/>
              <a:buFont typeface="Heebo"/>
              <a:buChar char="•"/>
            </a:pPr>
            <a:r>
              <a:rPr b="0" i="0" lang="en-US" sz="1250" u="none" cap="none" strike="noStrike">
                <a:solidFill>
                  <a:srgbClr val="4C4C4D"/>
                </a:solidFill>
                <a:latin typeface="Heebo"/>
                <a:ea typeface="Heebo"/>
                <a:cs typeface="Heebo"/>
                <a:sym typeface="Heebo"/>
              </a:rPr>
              <a:t>Our extensive retail presence is an unmatched asset. Transform these locations into accessible hubs for comprehensive healthcare services.</a:t>
            </a:r>
            <a:endParaRPr b="0" i="0" sz="1250" u="none" cap="none" strike="noStrike"/>
          </a:p>
        </p:txBody>
      </p:sp>
      <p:sp>
        <p:nvSpPr>
          <p:cNvPr id="327" name="Google Shape;327;p29"/>
          <p:cNvSpPr/>
          <p:nvPr/>
        </p:nvSpPr>
        <p:spPr>
          <a:xfrm>
            <a:off x="7644646" y="3244334"/>
            <a:ext cx="6010394"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Example : </a:t>
            </a:r>
            <a:r>
              <a:rPr b="0" i="0" lang="en-US" sz="1250" u="none" cap="none" strike="noStrike">
                <a:solidFill>
                  <a:srgbClr val="4C4C4D"/>
                </a:solidFill>
                <a:latin typeface="Heebo"/>
                <a:ea typeface="Heebo"/>
                <a:cs typeface="Heebo"/>
                <a:sym typeface="Heebo"/>
              </a:rPr>
              <a:t> Evolve our stores into full "HealthHUBs" by integrating Oak Street Health primary care, Aetna enrollment assistance, nutrition counseling, and mental health screenings, making them the primary entry point to your ecosystem.</a:t>
            </a:r>
            <a:endParaRPr b="0" i="0" sz="1250" u="none" cap="none" strike="noStrike"/>
          </a:p>
        </p:txBody>
      </p:sp>
      <p:sp>
        <p:nvSpPr>
          <p:cNvPr id="328" name="Google Shape;328;p29"/>
          <p:cNvSpPr/>
          <p:nvPr/>
        </p:nvSpPr>
        <p:spPr>
          <a:xfrm>
            <a:off x="793790" y="4346853"/>
            <a:ext cx="6441996" cy="3183612"/>
          </a:xfrm>
          <a:prstGeom prst="roundRect">
            <a:avLst>
              <a:gd fmla="val 3447"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9"/>
          <p:cNvSpPr/>
          <p:nvPr/>
        </p:nvSpPr>
        <p:spPr>
          <a:xfrm>
            <a:off x="770930" y="4346853"/>
            <a:ext cx="91440" cy="3183612"/>
          </a:xfrm>
          <a:prstGeom prst="roundRect">
            <a:avLst>
              <a:gd fmla="val 26046"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9"/>
          <p:cNvSpPr/>
          <p:nvPr/>
        </p:nvSpPr>
        <p:spPr>
          <a:xfrm>
            <a:off x="1043940" y="4528423"/>
            <a:ext cx="3140869"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B31849"/>
              </a:buClr>
              <a:buSzPts val="1550"/>
              <a:buFont typeface="Crimson Pro"/>
              <a:buNone/>
            </a:pPr>
            <a:r>
              <a:rPr b="0" i="0" lang="en-US" sz="1550" u="none" cap="none" strike="noStrike">
                <a:solidFill>
                  <a:srgbClr val="B31849"/>
                </a:solidFill>
                <a:latin typeface="Crimson Pro"/>
                <a:ea typeface="Crimson Pro"/>
                <a:cs typeface="Crimson Pro"/>
                <a:sym typeface="Crimson Pro"/>
              </a:rPr>
              <a:t>Unify Technology on a Single Platform</a:t>
            </a:r>
            <a:endParaRPr b="0" i="0" sz="1550" u="none" cap="none" strike="noStrike"/>
          </a:p>
        </p:txBody>
      </p:sp>
      <p:sp>
        <p:nvSpPr>
          <p:cNvPr id="331" name="Google Shape;331;p29"/>
          <p:cNvSpPr/>
          <p:nvPr/>
        </p:nvSpPr>
        <p:spPr>
          <a:xfrm>
            <a:off x="1043940" y="4871680"/>
            <a:ext cx="6010275" cy="101631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30000"/>
              </a:buClr>
              <a:buSzPts val="1250"/>
              <a:buFont typeface="Heebo"/>
              <a:buNone/>
            </a:pPr>
            <a:r>
              <a:rPr b="1" i="0" lang="en-US" sz="1250" u="none" cap="none" strike="noStrike">
                <a:solidFill>
                  <a:srgbClr val="030000"/>
                </a:solidFill>
                <a:latin typeface="Heebo"/>
                <a:ea typeface="Heebo"/>
                <a:cs typeface="Heebo"/>
                <a:sym typeface="Heebo"/>
              </a:rPr>
              <a:t>To deliver a seamless integrated experience that builds consumer trust, and keep a competitive edge in the vertical model.</a:t>
            </a:r>
            <a:r>
              <a:rPr b="0" i="0" lang="en-US" sz="1250" u="none" cap="none" strike="noStrike">
                <a:solidFill>
                  <a:srgbClr val="4C4C4D"/>
                </a:solidFill>
                <a:latin typeface="Heebo"/>
                <a:ea typeface="Heebo"/>
                <a:cs typeface="Heebo"/>
                <a:sym typeface="Heebo"/>
              </a:rPr>
              <a:t> Note : this requires robust data governance to manage the significant legal risks associated with handling unified patient information.</a:t>
            </a:r>
            <a:endParaRPr b="0" i="0" sz="1250" u="none" cap="none" strike="noStrike"/>
          </a:p>
        </p:txBody>
      </p:sp>
      <p:sp>
        <p:nvSpPr>
          <p:cNvPr id="332" name="Google Shape;332;p29"/>
          <p:cNvSpPr/>
          <p:nvPr/>
        </p:nvSpPr>
        <p:spPr>
          <a:xfrm>
            <a:off x="1043940" y="5983248"/>
            <a:ext cx="6010275" cy="50815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4C4C4D"/>
              </a:buClr>
              <a:buSzPts val="1250"/>
              <a:buFont typeface="Heebo"/>
              <a:buChar char="•"/>
            </a:pPr>
            <a:r>
              <a:rPr b="0" i="0" lang="en-US" sz="1250" u="none" cap="none" strike="noStrike">
                <a:solidFill>
                  <a:srgbClr val="4C4C4D"/>
                </a:solidFill>
                <a:latin typeface="Heebo"/>
                <a:ea typeface="Heebo"/>
                <a:cs typeface="Heebo"/>
                <a:sym typeface="Heebo"/>
              </a:rPr>
              <a:t>Leverage our vast data assets from Aetna, Caremark, retail, and Oak Street Health by connecting them into one cohesive digital experience.</a:t>
            </a:r>
            <a:endParaRPr b="0" i="0" sz="1250" u="none" cap="none" strike="noStrike"/>
          </a:p>
        </p:txBody>
      </p:sp>
      <p:sp>
        <p:nvSpPr>
          <p:cNvPr id="333" name="Google Shape;333;p29"/>
          <p:cNvSpPr/>
          <p:nvPr/>
        </p:nvSpPr>
        <p:spPr>
          <a:xfrm>
            <a:off x="1043940" y="6586657"/>
            <a:ext cx="6010275"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Example :</a:t>
            </a:r>
            <a:r>
              <a:rPr b="0" i="0" lang="en-US" sz="1250" u="none" cap="none" strike="noStrike">
                <a:solidFill>
                  <a:srgbClr val="4C4C4D"/>
                </a:solidFill>
                <a:latin typeface="Heebo"/>
                <a:ea typeface="Heebo"/>
                <a:cs typeface="Heebo"/>
                <a:sym typeface="Heebo"/>
              </a:rPr>
              <a:t> Develop a single, user-friendly "super-app" for patients to manage Aetna insurance, schedule appointments, refill prescriptions, and receive personalized wellness advice based on their complete health profile.</a:t>
            </a:r>
            <a:endParaRPr b="0" i="0" sz="1250" u="none" cap="none" strike="noStrike"/>
          </a:p>
        </p:txBody>
      </p:sp>
      <p:sp>
        <p:nvSpPr>
          <p:cNvPr id="334" name="Google Shape;334;p29"/>
          <p:cNvSpPr/>
          <p:nvPr/>
        </p:nvSpPr>
        <p:spPr>
          <a:xfrm>
            <a:off x="7394496" y="4346853"/>
            <a:ext cx="6442115" cy="3183612"/>
          </a:xfrm>
          <a:prstGeom prst="roundRect">
            <a:avLst>
              <a:gd fmla="val 3447" name="adj"/>
            </a:avLst>
          </a:prstGeom>
          <a:solidFill>
            <a:srgbClr val="FFFFFF"/>
          </a:solidFill>
          <a:ln cap="flat" cmpd="sng" w="22850">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9"/>
          <p:cNvSpPr/>
          <p:nvPr/>
        </p:nvSpPr>
        <p:spPr>
          <a:xfrm>
            <a:off x="7371636" y="4346853"/>
            <a:ext cx="91440" cy="3183612"/>
          </a:xfrm>
          <a:prstGeom prst="roundRect">
            <a:avLst>
              <a:gd fmla="val 26046" name="adj"/>
            </a:avLst>
          </a:prstGeom>
          <a:solidFill>
            <a:srgbClr val="B31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9"/>
          <p:cNvSpPr/>
          <p:nvPr/>
        </p:nvSpPr>
        <p:spPr>
          <a:xfrm>
            <a:off x="7644646" y="4528423"/>
            <a:ext cx="285452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B31849"/>
              </a:buClr>
              <a:buSzPts val="1550"/>
              <a:buFont typeface="Crimson Pro"/>
              <a:buNone/>
            </a:pPr>
            <a:r>
              <a:rPr b="0" i="0" lang="en-US" sz="1550" u="none" cap="none" strike="noStrike">
                <a:solidFill>
                  <a:srgbClr val="B31849"/>
                </a:solidFill>
                <a:latin typeface="Crimson Pro"/>
                <a:ea typeface="Crimson Pro"/>
                <a:cs typeface="Crimson Pro"/>
                <a:sym typeface="Crimson Pro"/>
              </a:rPr>
              <a:t>Double Down on Value-Based Care</a:t>
            </a:r>
            <a:endParaRPr b="0" i="0" sz="1550" u="none" cap="none" strike="noStrike"/>
          </a:p>
        </p:txBody>
      </p:sp>
      <p:sp>
        <p:nvSpPr>
          <p:cNvPr id="337" name="Google Shape;337;p29"/>
          <p:cNvSpPr/>
          <p:nvPr/>
        </p:nvSpPr>
        <p:spPr>
          <a:xfrm>
            <a:off x="7644646" y="4871680"/>
            <a:ext cx="6010394"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To build patient trust and substantially reduce legal risk by aligning the company's financial incentives with the public good.</a:t>
            </a:r>
            <a:endParaRPr b="0" i="0" sz="1250" u="none" cap="none" strike="noStrike"/>
          </a:p>
        </p:txBody>
      </p:sp>
      <p:sp>
        <p:nvSpPr>
          <p:cNvPr id="338" name="Google Shape;338;p29"/>
          <p:cNvSpPr/>
          <p:nvPr/>
        </p:nvSpPr>
        <p:spPr>
          <a:xfrm>
            <a:off x="7644646" y="5475089"/>
            <a:ext cx="6010394" cy="50815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4C4C4D"/>
              </a:buClr>
              <a:buSzPts val="1250"/>
              <a:buFont typeface="Heebo"/>
              <a:buChar char="•"/>
            </a:pPr>
            <a:r>
              <a:rPr b="0" i="0" lang="en-US" sz="1250" u="none" cap="none" strike="noStrike">
                <a:solidFill>
                  <a:srgbClr val="4C4C4D"/>
                </a:solidFill>
                <a:latin typeface="Heebo"/>
                <a:ea typeface="Heebo"/>
                <a:cs typeface="Heebo"/>
                <a:sym typeface="Heebo"/>
              </a:rPr>
              <a:t>Oak Street Health offers a robust foundation for value-based care, particularly for the high-cost Medicare population.</a:t>
            </a:r>
            <a:endParaRPr b="0" i="0" sz="1250" u="none" cap="none" strike="noStrike"/>
          </a:p>
        </p:txBody>
      </p:sp>
      <p:sp>
        <p:nvSpPr>
          <p:cNvPr id="339" name="Google Shape;339;p29"/>
          <p:cNvSpPr/>
          <p:nvPr/>
        </p:nvSpPr>
        <p:spPr>
          <a:xfrm>
            <a:off x="7644646" y="6078498"/>
            <a:ext cx="6010394"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4C4C4D"/>
              </a:buClr>
              <a:buSzPts val="1250"/>
              <a:buFont typeface="Heebo"/>
              <a:buNone/>
            </a:pPr>
            <a:r>
              <a:rPr b="1" i="0" lang="en-US" sz="1250" u="none" cap="none" strike="noStrike">
                <a:solidFill>
                  <a:srgbClr val="4C4C4D"/>
                </a:solidFill>
                <a:latin typeface="Heebo"/>
                <a:ea typeface="Heebo"/>
                <a:cs typeface="Heebo"/>
                <a:sym typeface="Heebo"/>
              </a:rPr>
              <a:t>Example :</a:t>
            </a:r>
            <a:r>
              <a:rPr b="0" i="0" lang="en-US" sz="1250" u="none" cap="none" strike="noStrike">
                <a:solidFill>
                  <a:srgbClr val="4C4C4D"/>
                </a:solidFill>
                <a:latin typeface="Heebo"/>
                <a:ea typeface="Heebo"/>
                <a:cs typeface="Heebo"/>
                <a:sym typeface="Heebo"/>
              </a:rPr>
              <a:t> Rapidly scale the Oak Street Health model nationwide, utilizing CVS's real estate and Aetna's patient data to identify and serve communities most in need, focusing on proactive chronic disease management.</a:t>
            </a:r>
            <a:endParaRPr b="0" i="0" sz="12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575548" y="452199"/>
            <a:ext cx="3967520" cy="33397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B31849"/>
              </a:buClr>
              <a:buSzPts val="2100"/>
              <a:buFont typeface="Crimson Pro"/>
              <a:buNone/>
            </a:pPr>
            <a:r>
              <a:rPr b="0" i="0" lang="en-US" sz="2100" u="none" cap="none" strike="noStrike">
                <a:solidFill>
                  <a:srgbClr val="B31849"/>
                </a:solidFill>
                <a:latin typeface="Crimson Pro"/>
                <a:ea typeface="Crimson Pro"/>
                <a:cs typeface="Crimson Pro"/>
                <a:sym typeface="Crimson Pro"/>
              </a:rPr>
              <a:t>CVS Health Activity System Analysis</a:t>
            </a:r>
            <a:endParaRPr b="0" i="0" sz="2100" u="none" cap="none" strike="noStrike"/>
          </a:p>
        </p:txBody>
      </p:sp>
      <p:sp>
        <p:nvSpPr>
          <p:cNvPr id="346" name="Google Shape;346;p30"/>
          <p:cNvSpPr/>
          <p:nvPr/>
        </p:nvSpPr>
        <p:spPr>
          <a:xfrm>
            <a:off x="575548" y="999887"/>
            <a:ext cx="13479304"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Mapping CVS Health’s Activity System: Integration and Coordination Dynamics</a:t>
            </a:r>
            <a:endParaRPr b="0" i="0" sz="800" u="none" cap="none" strike="noStrike"/>
          </a:p>
        </p:txBody>
      </p:sp>
      <p:sp>
        <p:nvSpPr>
          <p:cNvPr id="347" name="Google Shape;347;p30"/>
          <p:cNvSpPr/>
          <p:nvPr/>
        </p:nvSpPr>
        <p:spPr>
          <a:xfrm>
            <a:off x="575548" y="1291114"/>
            <a:ext cx="13479304" cy="17859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r>
              <a:rPr b="0" i="0" lang="en-US" sz="800" u="none" cap="none" strike="noStrike">
                <a:solidFill>
                  <a:srgbClr val="000000"/>
                </a:solidFill>
                <a:latin typeface="Heebo"/>
                <a:ea typeface="Heebo"/>
                <a:cs typeface="Heebo"/>
                <a:sym typeface="Heebo"/>
              </a:rPr>
              <a:t>🧰</a:t>
            </a:r>
            <a:r>
              <a:rPr b="0" i="0" lang="en-US" sz="800" u="none" cap="none" strike="noStrike">
                <a:solidFill>
                  <a:srgbClr val="4C4C4D"/>
                </a:solidFill>
                <a:latin typeface="Heebo"/>
                <a:ea typeface="Heebo"/>
                <a:cs typeface="Heebo"/>
                <a:sym typeface="Heebo"/>
              </a:rPr>
              <a:t>  INSTRUMENTS</a:t>
            </a:r>
            <a:endParaRPr b="0" i="0" sz="800" u="none" cap="none" strike="noStrike"/>
          </a:p>
        </p:txBody>
      </p:sp>
      <p:sp>
        <p:nvSpPr>
          <p:cNvPr id="348" name="Google Shape;348;p30"/>
          <p:cNvSpPr/>
          <p:nvPr/>
        </p:nvSpPr>
        <p:spPr>
          <a:xfrm>
            <a:off x="575548" y="1589961"/>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(Digital health platforms, AI systems, Electronic Health Records (EHRs),</a:t>
            </a:r>
            <a:endParaRPr b="0" i="0" sz="800" u="none" cap="none" strike="noStrike"/>
          </a:p>
        </p:txBody>
      </p:sp>
      <p:sp>
        <p:nvSpPr>
          <p:cNvPr id="349" name="Google Shape;349;p30"/>
          <p:cNvSpPr/>
          <p:nvPr/>
        </p:nvSpPr>
        <p:spPr>
          <a:xfrm>
            <a:off x="575548" y="1881188"/>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HealthHUBs, Cordavis, and analytics dashboards)</a:t>
            </a:r>
            <a:endParaRPr b="0" i="0" sz="800" u="none" cap="none" strike="noStrike"/>
          </a:p>
        </p:txBody>
      </p:sp>
      <p:sp>
        <p:nvSpPr>
          <p:cNvPr id="350" name="Google Shape;350;p30"/>
          <p:cNvSpPr/>
          <p:nvPr/>
        </p:nvSpPr>
        <p:spPr>
          <a:xfrm>
            <a:off x="575548" y="2172414"/>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51" name="Google Shape;351;p30"/>
          <p:cNvSpPr/>
          <p:nvPr/>
        </p:nvSpPr>
        <p:spPr>
          <a:xfrm>
            <a:off x="575548" y="2463641"/>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52" name="Google Shape;352;p30"/>
          <p:cNvSpPr/>
          <p:nvPr/>
        </p:nvSpPr>
        <p:spPr>
          <a:xfrm>
            <a:off x="575548" y="2754868"/>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53" name="Google Shape;353;p30"/>
          <p:cNvSpPr/>
          <p:nvPr/>
        </p:nvSpPr>
        <p:spPr>
          <a:xfrm>
            <a:off x="575548" y="3046095"/>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                                                                                                                                                            │                                                                                                                                                               │               </a:t>
            </a:r>
            <a:endParaRPr b="0" i="0" sz="800" u="none" cap="none" strike="noStrike"/>
          </a:p>
        </p:txBody>
      </p:sp>
      <p:sp>
        <p:nvSpPr>
          <p:cNvPr id="354" name="Google Shape;354;p30"/>
          <p:cNvSpPr/>
          <p:nvPr/>
        </p:nvSpPr>
        <p:spPr>
          <a:xfrm>
            <a:off x="575548" y="3337322"/>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                                                                                                                                                            ▼                                                                                                                                                             │</a:t>
            </a:r>
            <a:endParaRPr b="0" i="0" sz="800" u="none" cap="none" strike="noStrike"/>
          </a:p>
        </p:txBody>
      </p:sp>
      <p:sp>
        <p:nvSpPr>
          <p:cNvPr id="355" name="Google Shape;355;p30"/>
          <p:cNvSpPr/>
          <p:nvPr/>
        </p:nvSpPr>
        <p:spPr>
          <a:xfrm>
            <a:off x="575548" y="3628549"/>
            <a:ext cx="13479304" cy="17859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000000"/>
              </a:buClr>
              <a:buSzPts val="800"/>
              <a:buFont typeface="Heebo"/>
              <a:buNone/>
            </a:pPr>
            <a:r>
              <a:rPr b="0" i="0" lang="en-US" sz="800" u="none" cap="none" strike="noStrike">
                <a:solidFill>
                  <a:srgbClr val="000000"/>
                </a:solidFill>
                <a:latin typeface="Heebo"/>
                <a:ea typeface="Heebo"/>
                <a:cs typeface="Heebo"/>
                <a:sym typeface="Heebo"/>
              </a:rPr>
              <a:t>👥</a:t>
            </a:r>
            <a:r>
              <a:rPr b="0" i="0" lang="en-US" sz="800" u="none" cap="none" strike="noStrike">
                <a:solidFill>
                  <a:srgbClr val="4C4C4D"/>
                </a:solidFill>
                <a:latin typeface="Heebo"/>
                <a:ea typeface="Heebo"/>
                <a:cs typeface="Heebo"/>
                <a:sym typeface="Heebo"/>
              </a:rPr>
              <a:t> SUBJECT  ───────────────────────────────►  </a:t>
            </a:r>
            <a:r>
              <a:rPr b="0" i="0" lang="en-US" sz="800" u="none" cap="none" strike="noStrike">
                <a:solidFill>
                  <a:srgbClr val="000000"/>
                </a:solidFill>
                <a:latin typeface="Heebo"/>
                <a:ea typeface="Heebo"/>
                <a:cs typeface="Heebo"/>
                <a:sym typeface="Heebo"/>
              </a:rPr>
              <a:t>🎯</a:t>
            </a:r>
            <a:r>
              <a:rPr b="0" i="0" lang="en-US" sz="800" u="none" cap="none" strike="noStrike">
                <a:solidFill>
                  <a:srgbClr val="4C4C4D"/>
                </a:solidFill>
                <a:latin typeface="Heebo"/>
                <a:ea typeface="Heebo"/>
                <a:cs typeface="Heebo"/>
                <a:sym typeface="Heebo"/>
              </a:rPr>
              <a:t> OBJECT (GOAL)  ─────────────────────────►                    </a:t>
            </a:r>
            <a:r>
              <a:rPr b="0" i="0" lang="en-US" sz="800" u="none" cap="none" strike="noStrike">
                <a:solidFill>
                  <a:srgbClr val="000000"/>
                </a:solidFill>
                <a:latin typeface="Heebo"/>
                <a:ea typeface="Heebo"/>
                <a:cs typeface="Heebo"/>
                <a:sym typeface="Heebo"/>
              </a:rPr>
              <a:t>🌍</a:t>
            </a:r>
            <a:r>
              <a:rPr b="0" i="0" lang="en-US" sz="800" u="none" cap="none" strike="noStrike">
                <a:solidFill>
                  <a:srgbClr val="4C4C4D"/>
                </a:solidFill>
                <a:latin typeface="Heebo"/>
                <a:ea typeface="Heebo"/>
                <a:cs typeface="Heebo"/>
                <a:sym typeface="Heebo"/>
              </a:rPr>
              <a:t> OUTCOME</a:t>
            </a:r>
            <a:endParaRPr b="0" i="0" sz="800" u="none" cap="none" strike="noStrike"/>
          </a:p>
        </p:txBody>
      </p:sp>
      <p:sp>
        <p:nvSpPr>
          <p:cNvPr id="356" name="Google Shape;356;p30"/>
          <p:cNvSpPr/>
          <p:nvPr/>
        </p:nvSpPr>
        <p:spPr>
          <a:xfrm>
            <a:off x="575548" y="3927396"/>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(CVS Health leadership, clinicians,                                                                                    (Deliver integrated, accessible,                                                                                                  (Seamless, data-driven, and</a:t>
            </a:r>
            <a:endParaRPr b="0" i="0" sz="800" u="none" cap="none" strike="noStrike"/>
          </a:p>
        </p:txBody>
      </p:sp>
      <p:sp>
        <p:nvSpPr>
          <p:cNvPr id="357" name="Google Shape;357;p30"/>
          <p:cNvSpPr/>
          <p:nvPr/>
        </p:nvSpPr>
        <p:spPr>
          <a:xfrm>
            <a:off x="575548" y="4218623"/>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and technology teams driving digital                                                                             and coordinated healthcare through                                                                                            efficient healthcare delivery;</a:t>
            </a:r>
            <a:endParaRPr b="0" i="0" sz="800" u="none" cap="none" strike="noStrike"/>
          </a:p>
        </p:txBody>
      </p:sp>
      <p:sp>
        <p:nvSpPr>
          <p:cNvPr id="358" name="Google Shape;358;p30"/>
          <p:cNvSpPr/>
          <p:nvPr/>
        </p:nvSpPr>
        <p:spPr>
          <a:xfrm>
            <a:off x="575548" y="4509849"/>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integration and innovation across                                                                                  digital transformation and vertical                                                                                     strengthened customer engagement;</a:t>
            </a:r>
            <a:endParaRPr b="0" i="0" sz="800" u="none" cap="none" strike="noStrike"/>
          </a:p>
        </p:txBody>
      </p:sp>
      <p:sp>
        <p:nvSpPr>
          <p:cNvPr id="359" name="Google Shape;359;p30"/>
          <p:cNvSpPr/>
          <p:nvPr/>
        </p:nvSpPr>
        <p:spPr>
          <a:xfrm>
            <a:off x="575548" y="4801076"/>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Aetna, Caremark, and HealthHUBs)                                                                                      integration)                                                                                                                         regulatory and ethical tensions)</a:t>
            </a:r>
            <a:endParaRPr b="0" i="0" sz="800" u="none" cap="none" strike="noStrike"/>
          </a:p>
        </p:txBody>
      </p:sp>
      <p:sp>
        <p:nvSpPr>
          <p:cNvPr id="360" name="Google Shape;360;p30"/>
          <p:cNvSpPr/>
          <p:nvPr/>
        </p:nvSpPr>
        <p:spPr>
          <a:xfrm>
            <a:off x="575548" y="5092303"/>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                                                                                                                                                         ▲                                                                                                                                                           │</a:t>
            </a:r>
            <a:endParaRPr b="0" i="0" sz="800" u="none" cap="none" strike="noStrike"/>
          </a:p>
        </p:txBody>
      </p:sp>
      <p:sp>
        <p:nvSpPr>
          <p:cNvPr id="361" name="Google Shape;361;p30"/>
          <p:cNvSpPr/>
          <p:nvPr/>
        </p:nvSpPr>
        <p:spPr>
          <a:xfrm>
            <a:off x="575548" y="5383530"/>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                                                                                                                                                          │                                                                                                                                                            │</a:t>
            </a:r>
            <a:endParaRPr b="0" i="0" sz="800" u="none" cap="none" strike="noStrike"/>
          </a:p>
        </p:txBody>
      </p:sp>
      <p:sp>
        <p:nvSpPr>
          <p:cNvPr id="362" name="Google Shape;362;p30"/>
          <p:cNvSpPr/>
          <p:nvPr/>
        </p:nvSpPr>
        <p:spPr>
          <a:xfrm>
            <a:off x="575548" y="5674757"/>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63" name="Google Shape;363;p30"/>
          <p:cNvSpPr/>
          <p:nvPr/>
        </p:nvSpPr>
        <p:spPr>
          <a:xfrm>
            <a:off x="575548" y="5965984"/>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t>
            </a:r>
            <a:endParaRPr b="0" i="0" sz="800" u="none" cap="none" strike="noStrike"/>
          </a:p>
        </p:txBody>
      </p:sp>
      <p:sp>
        <p:nvSpPr>
          <p:cNvPr id="364" name="Google Shape;364;p30"/>
          <p:cNvSpPr/>
          <p:nvPr/>
        </p:nvSpPr>
        <p:spPr>
          <a:xfrm>
            <a:off x="575548" y="6257211"/>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t>
            </a:r>
            <a:endParaRPr b="0" i="0" sz="800" u="none" cap="none" strike="noStrike"/>
          </a:p>
        </p:txBody>
      </p:sp>
      <p:sp>
        <p:nvSpPr>
          <p:cNvPr id="365" name="Google Shape;365;p30"/>
          <p:cNvSpPr/>
          <p:nvPr/>
        </p:nvSpPr>
        <p:spPr>
          <a:xfrm>
            <a:off x="575548" y="6548438"/>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t>
            </a:r>
            <a:endParaRPr b="0" i="0" sz="800" u="none" cap="none" strike="noStrike"/>
          </a:p>
        </p:txBody>
      </p:sp>
      <p:sp>
        <p:nvSpPr>
          <p:cNvPr id="366" name="Google Shape;366;p30"/>
          <p:cNvSpPr/>
          <p:nvPr/>
        </p:nvSpPr>
        <p:spPr>
          <a:xfrm>
            <a:off x="575548" y="6839664"/>
            <a:ext cx="13479304" cy="17859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r>
              <a:rPr b="0" i="0" lang="en-US" sz="800" u="none" cap="none" strike="noStrike">
                <a:solidFill>
                  <a:srgbClr val="000000"/>
                </a:solidFill>
                <a:latin typeface="Heebo"/>
                <a:ea typeface="Heebo"/>
                <a:cs typeface="Heebo"/>
                <a:sym typeface="Heebo"/>
              </a:rPr>
              <a:t>⚙️</a:t>
            </a:r>
            <a:r>
              <a:rPr b="0" i="0" lang="en-US" sz="800" u="none" cap="none" strike="noStrike">
                <a:solidFill>
                  <a:srgbClr val="4C4C4D"/>
                </a:solidFill>
                <a:latin typeface="Heebo"/>
                <a:ea typeface="Heebo"/>
                <a:cs typeface="Heebo"/>
                <a:sym typeface="Heebo"/>
              </a:rPr>
              <a:t>  CONTEXTUAL STRUCTURES (BASE LAYER)</a:t>
            </a:r>
            <a:endParaRPr b="0" i="0" sz="800" u="none" cap="none" strike="noStrike"/>
          </a:p>
        </p:txBody>
      </p:sp>
      <p:sp>
        <p:nvSpPr>
          <p:cNvPr id="367" name="Google Shape;367;p30"/>
          <p:cNvSpPr/>
          <p:nvPr/>
        </p:nvSpPr>
        <p:spPr>
          <a:xfrm>
            <a:off x="575548" y="7138511"/>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68" name="Google Shape;368;p30"/>
          <p:cNvSpPr/>
          <p:nvPr/>
        </p:nvSpPr>
        <p:spPr>
          <a:xfrm>
            <a:off x="575548" y="7429738"/>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1. RULES: Regulatory frameworks (FTC, HIPAA, CMS), ethical standards,  </a:t>
            </a:r>
            <a:endParaRPr b="0" i="0" sz="800" u="none" cap="none" strike="noStrike"/>
          </a:p>
        </p:txBody>
      </p:sp>
      <p:sp>
        <p:nvSpPr>
          <p:cNvPr id="369" name="Google Shape;369;p30"/>
          <p:cNvSpPr/>
          <p:nvPr/>
        </p:nvSpPr>
        <p:spPr>
          <a:xfrm>
            <a:off x="575548" y="7720965"/>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and corporate compliance policies guiding integration and data use.    </a:t>
            </a:r>
            <a:endParaRPr b="0" i="0" sz="800" u="none" cap="none" strike="noStrike"/>
          </a:p>
        </p:txBody>
      </p:sp>
      <p:sp>
        <p:nvSpPr>
          <p:cNvPr id="370" name="Google Shape;370;p30"/>
          <p:cNvSpPr/>
          <p:nvPr/>
        </p:nvSpPr>
        <p:spPr>
          <a:xfrm>
            <a:off x="575548" y="8012192"/>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2. COMMUNITY: Patients, regulators, partner organizations, employees, insurers,  </a:t>
            </a:r>
            <a:endParaRPr b="0" i="0" sz="800" u="none" cap="none" strike="noStrike"/>
          </a:p>
        </p:txBody>
      </p:sp>
      <p:sp>
        <p:nvSpPr>
          <p:cNvPr id="371" name="Google Shape;371;p30"/>
          <p:cNvSpPr/>
          <p:nvPr/>
        </p:nvSpPr>
        <p:spPr>
          <a:xfrm>
            <a:off x="575548" y="8303419"/>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and healthcare stakeholders shaping CVS’s ecosystem.      </a:t>
            </a:r>
            <a:endParaRPr b="0" i="0" sz="800" u="none" cap="none" strike="noStrike"/>
          </a:p>
        </p:txBody>
      </p:sp>
      <p:sp>
        <p:nvSpPr>
          <p:cNvPr id="372" name="Google Shape;372;p30"/>
          <p:cNvSpPr/>
          <p:nvPr/>
        </p:nvSpPr>
        <p:spPr>
          <a:xfrm>
            <a:off x="575548" y="8594646"/>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3. DIVISION OF LABOR: Executives – strategic governance; Clinicians – care delivery;                                │</a:t>
            </a:r>
            <a:endParaRPr b="0" i="0" sz="800" u="none" cap="none" strike="noStrike"/>
          </a:p>
        </p:txBody>
      </p:sp>
      <p:sp>
        <p:nvSpPr>
          <p:cNvPr id="373" name="Google Shape;373;p30"/>
          <p:cNvSpPr/>
          <p:nvPr/>
        </p:nvSpPr>
        <p:spPr>
          <a:xfrm>
            <a:off x="575548" y="8885873"/>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IT teams – digital infrastructure; Legal – compliance and oversight.</a:t>
            </a:r>
            <a:endParaRPr b="0" i="0" sz="800" u="none" cap="none" strike="noStrike"/>
          </a:p>
        </p:txBody>
      </p:sp>
      <p:sp>
        <p:nvSpPr>
          <p:cNvPr id="374" name="Google Shape;374;p30"/>
          <p:cNvSpPr/>
          <p:nvPr/>
        </p:nvSpPr>
        <p:spPr>
          <a:xfrm>
            <a:off x="575548" y="9177099"/>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     └───────────────────────────────────────────────────────────────────────────────┘</a:t>
            </a:r>
            <a:endParaRPr b="0" i="0" sz="800" u="none" cap="none" strike="noStrike"/>
          </a:p>
        </p:txBody>
      </p:sp>
      <p:sp>
        <p:nvSpPr>
          <p:cNvPr id="375" name="Google Shape;375;p30"/>
          <p:cNvSpPr/>
          <p:nvPr/>
        </p:nvSpPr>
        <p:spPr>
          <a:xfrm>
            <a:off x="575548" y="9468326"/>
            <a:ext cx="13479304" cy="170974"/>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SzPts val="800"/>
              <a:buFont typeface="Arial"/>
              <a:buNone/>
            </a:pPr>
            <a:r>
              <a:t/>
            </a:r>
            <a:endParaRPr b="0" i="0" sz="8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1"/>
          <p:cNvSpPr/>
          <p:nvPr/>
        </p:nvSpPr>
        <p:spPr>
          <a:xfrm>
            <a:off x="575548" y="452199"/>
            <a:ext cx="4799528" cy="33397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B31849"/>
              </a:buClr>
              <a:buSzPts val="2100"/>
              <a:buFont typeface="Crimson Pro"/>
              <a:buNone/>
            </a:pPr>
            <a:r>
              <a:rPr b="0" i="0" lang="en-US" sz="2100" u="none" cap="none" strike="noStrike">
                <a:solidFill>
                  <a:srgbClr val="B31849"/>
                </a:solidFill>
                <a:latin typeface="Crimson Pro"/>
                <a:ea typeface="Crimson Pro"/>
                <a:cs typeface="Crimson Pro"/>
                <a:sym typeface="Crimson Pro"/>
              </a:rPr>
              <a:t>Appendix : Competitive Landscape Analysis</a:t>
            </a:r>
            <a:endParaRPr b="0" i="0" sz="2100" u="none" cap="none" strike="noStrike"/>
          </a:p>
        </p:txBody>
      </p:sp>
      <p:sp>
        <p:nvSpPr>
          <p:cNvPr id="382" name="Google Shape;382;p31"/>
          <p:cNvSpPr/>
          <p:nvPr/>
        </p:nvSpPr>
        <p:spPr>
          <a:xfrm>
            <a:off x="575548" y="999887"/>
            <a:ext cx="13479304"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 detailed analysis of CVS Health's primary competitors in the evolving healthcare market, outlining their strategies, objectives, assumptions, and key resources.</a:t>
            </a:r>
            <a:endParaRPr b="0" i="0" sz="800" u="none" cap="none" strike="noStrike"/>
          </a:p>
        </p:txBody>
      </p:sp>
      <p:sp>
        <p:nvSpPr>
          <p:cNvPr id="383" name="Google Shape;383;p31"/>
          <p:cNvSpPr/>
          <p:nvPr/>
        </p:nvSpPr>
        <p:spPr>
          <a:xfrm>
            <a:off x="575548" y="1291114"/>
            <a:ext cx="13479304" cy="2629138"/>
          </a:xfrm>
          <a:prstGeom prst="roundRect">
            <a:avLst>
              <a:gd fmla="val 610"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1"/>
          <p:cNvSpPr/>
          <p:nvPr/>
        </p:nvSpPr>
        <p:spPr>
          <a:xfrm>
            <a:off x="590788" y="1306354"/>
            <a:ext cx="427553" cy="2598658"/>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5" name="Google Shape;385;p31"/>
          <p:cNvPicPr preferRelativeResize="0"/>
          <p:nvPr/>
        </p:nvPicPr>
        <p:blipFill rotWithShape="1">
          <a:blip r:embed="rId3">
            <a:alphaModFix/>
          </a:blip>
          <a:srcRect b="0" l="0" r="0" t="0"/>
          <a:stretch/>
        </p:blipFill>
        <p:spPr>
          <a:xfrm>
            <a:off x="724376" y="2505432"/>
            <a:ext cx="160258" cy="200382"/>
          </a:xfrm>
          <a:prstGeom prst="rect">
            <a:avLst/>
          </a:prstGeom>
          <a:noFill/>
          <a:ln>
            <a:noFill/>
          </a:ln>
        </p:spPr>
      </p:pic>
      <p:sp>
        <p:nvSpPr>
          <p:cNvPr id="386" name="Google Shape;386;p31"/>
          <p:cNvSpPr/>
          <p:nvPr/>
        </p:nvSpPr>
        <p:spPr>
          <a:xfrm>
            <a:off x="1125141" y="1413153"/>
            <a:ext cx="2304574" cy="20038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C4C4D"/>
              </a:buClr>
              <a:buSzPts val="1250"/>
              <a:buFont typeface="Crimson Pro"/>
              <a:buNone/>
            </a:pPr>
            <a:r>
              <a:rPr b="0" i="0" lang="en-US" sz="1250" u="none" cap="none" strike="noStrike">
                <a:solidFill>
                  <a:srgbClr val="4C4C4D"/>
                </a:solidFill>
                <a:latin typeface="Crimson Pro"/>
                <a:ea typeface="Crimson Pro"/>
                <a:cs typeface="Crimson Pro"/>
                <a:sym typeface="Crimson Pro"/>
              </a:rPr>
              <a:t>UnitedHealth Group (Optum Care)</a:t>
            </a:r>
            <a:endParaRPr b="0" i="0" sz="1250" u="none" cap="none" strike="noStrike"/>
          </a:p>
        </p:txBody>
      </p:sp>
      <p:sp>
        <p:nvSpPr>
          <p:cNvPr id="387" name="Google Shape;387;p31"/>
          <p:cNvSpPr/>
          <p:nvPr/>
        </p:nvSpPr>
        <p:spPr>
          <a:xfrm>
            <a:off x="1125141" y="1656278"/>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Strategy:</a:t>
            </a:r>
            <a:endParaRPr b="0" i="0" sz="1050" u="none" cap="none" strike="noStrike"/>
          </a:p>
        </p:txBody>
      </p:sp>
      <p:sp>
        <p:nvSpPr>
          <p:cNvPr id="388" name="Google Shape;388;p31"/>
          <p:cNvSpPr/>
          <p:nvPr/>
        </p:nvSpPr>
        <p:spPr>
          <a:xfrm>
            <a:off x="1125141" y="1887260"/>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Pursues vertical integration through insurance (UnitedHealthCare), outpatient clinics, pharmacy services and advanced data analytics (Optum Care). Invests heavily in digital health innovation and telehealth platforms aiming to shift to lower cost care and outpatient settings. Expands value based care contracts to align financial incentives with outcomes and population health management.</a:t>
            </a:r>
            <a:endParaRPr b="0" i="0" sz="800" u="none" cap="none" strike="noStrike"/>
          </a:p>
        </p:txBody>
      </p:sp>
      <p:sp>
        <p:nvSpPr>
          <p:cNvPr id="389" name="Google Shape;389;p31"/>
          <p:cNvSpPr/>
          <p:nvPr/>
        </p:nvSpPr>
        <p:spPr>
          <a:xfrm>
            <a:off x="1125141" y="2293263"/>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Objectives:</a:t>
            </a:r>
            <a:endParaRPr b="0" i="0" sz="1050" u="none" cap="none" strike="noStrike"/>
          </a:p>
        </p:txBody>
      </p:sp>
      <p:sp>
        <p:nvSpPr>
          <p:cNvPr id="390" name="Google Shape;390;p31"/>
          <p:cNvSpPr/>
          <p:nvPr/>
        </p:nvSpPr>
        <p:spPr>
          <a:xfrm>
            <a:off x="1125141" y="2524244"/>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Grow insurance membership and provide data analytics with provider network worldwide. Value based partnerships, expand clinic footprint and use technology for patient engagement and care management. Expand risk stratification, hospital avoidance and improved outcomes.</a:t>
            </a:r>
            <a:endParaRPr b="0" i="0" sz="800" u="none" cap="none" strike="noStrike"/>
          </a:p>
        </p:txBody>
      </p:sp>
      <p:sp>
        <p:nvSpPr>
          <p:cNvPr id="391" name="Google Shape;391;p31"/>
          <p:cNvSpPr/>
          <p:nvPr/>
        </p:nvSpPr>
        <p:spPr>
          <a:xfrm>
            <a:off x="1125141" y="2930247"/>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Assumptions:</a:t>
            </a:r>
            <a:endParaRPr b="0" i="0" sz="1050" u="none" cap="none" strike="noStrike"/>
          </a:p>
        </p:txBody>
      </p:sp>
      <p:sp>
        <p:nvSpPr>
          <p:cNvPr id="392" name="Google Shape;392;p31"/>
          <p:cNvSpPr/>
          <p:nvPr/>
        </p:nvSpPr>
        <p:spPr>
          <a:xfrm>
            <a:off x="1125141" y="3161228"/>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US healthcare market will favor outpatient, digital first coordinated care and insurers acting like direct providers. Data and technology to be key differentiations for cost control and efficiency to scale.</a:t>
            </a:r>
            <a:endParaRPr b="0" i="0" sz="800" u="none" cap="none" strike="noStrike"/>
          </a:p>
        </p:txBody>
      </p:sp>
      <p:sp>
        <p:nvSpPr>
          <p:cNvPr id="393" name="Google Shape;393;p31"/>
          <p:cNvSpPr/>
          <p:nvPr/>
        </p:nvSpPr>
        <p:spPr>
          <a:xfrm>
            <a:off x="1125141" y="3396258"/>
            <a:ext cx="1508403"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Resources and Capabilities:</a:t>
            </a:r>
            <a:endParaRPr b="0" i="0" sz="1050" u="none" cap="none" strike="noStrike"/>
          </a:p>
        </p:txBody>
      </p:sp>
      <p:sp>
        <p:nvSpPr>
          <p:cNvPr id="394" name="Google Shape;394;p31"/>
          <p:cNvSpPr/>
          <p:nvPr/>
        </p:nvSpPr>
        <p:spPr>
          <a:xfrm>
            <a:off x="1125141" y="3627239"/>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One of the largest health insurance platforms in the states with a lot of capital resources, national clinic network and healthcare analytics with great amount of investment in R&amp;D and innovations.</a:t>
            </a:r>
            <a:endParaRPr b="0" i="0" sz="800" u="none" cap="none" strike="noStrike"/>
          </a:p>
        </p:txBody>
      </p:sp>
      <p:sp>
        <p:nvSpPr>
          <p:cNvPr id="395" name="Google Shape;395;p31"/>
          <p:cNvSpPr/>
          <p:nvPr/>
        </p:nvSpPr>
        <p:spPr>
          <a:xfrm>
            <a:off x="575548" y="4027051"/>
            <a:ext cx="13479304" cy="2287191"/>
          </a:xfrm>
          <a:prstGeom prst="roundRect">
            <a:avLst>
              <a:gd fmla="val 701"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1"/>
          <p:cNvSpPr/>
          <p:nvPr/>
        </p:nvSpPr>
        <p:spPr>
          <a:xfrm>
            <a:off x="590788" y="4042291"/>
            <a:ext cx="427553" cy="2256711"/>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7" name="Google Shape;397;p31"/>
          <p:cNvPicPr preferRelativeResize="0"/>
          <p:nvPr/>
        </p:nvPicPr>
        <p:blipFill rotWithShape="1">
          <a:blip r:embed="rId4">
            <a:alphaModFix/>
          </a:blip>
          <a:srcRect b="0" l="0" r="0" t="0"/>
          <a:stretch/>
        </p:blipFill>
        <p:spPr>
          <a:xfrm>
            <a:off x="724376" y="5070396"/>
            <a:ext cx="160258" cy="200382"/>
          </a:xfrm>
          <a:prstGeom prst="rect">
            <a:avLst/>
          </a:prstGeom>
          <a:noFill/>
          <a:ln>
            <a:noFill/>
          </a:ln>
        </p:spPr>
      </p:pic>
      <p:sp>
        <p:nvSpPr>
          <p:cNvPr id="398" name="Google Shape;398;p31"/>
          <p:cNvSpPr/>
          <p:nvPr/>
        </p:nvSpPr>
        <p:spPr>
          <a:xfrm>
            <a:off x="1125141" y="4149090"/>
            <a:ext cx="1672114" cy="20038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C4C4D"/>
              </a:buClr>
              <a:buSzPts val="1250"/>
              <a:buFont typeface="Crimson Pro"/>
              <a:buNone/>
            </a:pPr>
            <a:r>
              <a:rPr b="0" i="0" lang="en-US" sz="1250" u="none" cap="none" strike="noStrike">
                <a:solidFill>
                  <a:srgbClr val="4C4C4D"/>
                </a:solidFill>
                <a:latin typeface="Crimson Pro"/>
                <a:ea typeface="Crimson Pro"/>
                <a:cs typeface="Crimson Pro"/>
                <a:sym typeface="Crimson Pro"/>
              </a:rPr>
              <a:t>Walgreens Boots Alliance</a:t>
            </a:r>
            <a:endParaRPr b="0" i="0" sz="1250" u="none" cap="none" strike="noStrike"/>
          </a:p>
        </p:txBody>
      </p:sp>
      <p:sp>
        <p:nvSpPr>
          <p:cNvPr id="399" name="Google Shape;399;p31"/>
          <p:cNvSpPr/>
          <p:nvPr/>
        </p:nvSpPr>
        <p:spPr>
          <a:xfrm>
            <a:off x="1125141" y="4392216"/>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Strategy:</a:t>
            </a:r>
            <a:endParaRPr b="0" i="0" sz="1050" u="none" cap="none" strike="noStrike"/>
          </a:p>
        </p:txBody>
      </p:sp>
      <p:sp>
        <p:nvSpPr>
          <p:cNvPr id="400" name="Google Shape;400;p31"/>
          <p:cNvSpPr/>
          <p:nvPr/>
        </p:nvSpPr>
        <p:spPr>
          <a:xfrm>
            <a:off x="1125141" y="4623197"/>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Combines retail pharmacy with primary care with high investments in store clinics and partnerships with VillageMD. Expands in telehealth and digital prescription fulfillment. Moving towards health services in retail and capture convenience driven consumer segments.</a:t>
            </a:r>
            <a:endParaRPr b="0" i="0" sz="800" u="none" cap="none" strike="noStrike"/>
          </a:p>
        </p:txBody>
      </p:sp>
      <p:sp>
        <p:nvSpPr>
          <p:cNvPr id="401" name="Google Shape;401;p31"/>
          <p:cNvSpPr/>
          <p:nvPr/>
        </p:nvSpPr>
        <p:spPr>
          <a:xfrm>
            <a:off x="1125141" y="4858226"/>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Objectives:</a:t>
            </a:r>
            <a:endParaRPr b="0" i="0" sz="1050" u="none" cap="none" strike="noStrike"/>
          </a:p>
        </p:txBody>
      </p:sp>
      <p:sp>
        <p:nvSpPr>
          <p:cNvPr id="402" name="Google Shape;402;p31"/>
          <p:cNvSpPr/>
          <p:nvPr/>
        </p:nvSpPr>
        <p:spPr>
          <a:xfrm>
            <a:off x="1125141" y="5089208"/>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Scale in-store and partnered clinics with integrated pharmacy services and digital care. Cross selling in retail stores and clinical settings while increasing their digital presence.</a:t>
            </a:r>
            <a:endParaRPr b="0" i="0" sz="800" u="none" cap="none" strike="noStrike"/>
          </a:p>
        </p:txBody>
      </p:sp>
      <p:sp>
        <p:nvSpPr>
          <p:cNvPr id="403" name="Google Shape;403;p31"/>
          <p:cNvSpPr/>
          <p:nvPr/>
        </p:nvSpPr>
        <p:spPr>
          <a:xfrm>
            <a:off x="1125141" y="5324237"/>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Assumptions:</a:t>
            </a:r>
            <a:endParaRPr b="0" i="0" sz="1050" u="none" cap="none" strike="noStrike"/>
          </a:p>
        </p:txBody>
      </p:sp>
      <p:sp>
        <p:nvSpPr>
          <p:cNvPr id="404" name="Google Shape;404;p31"/>
          <p:cNvSpPr/>
          <p:nvPr/>
        </p:nvSpPr>
        <p:spPr>
          <a:xfrm>
            <a:off x="1125141" y="5555218"/>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Stores will always have a lot of traffic and convenient access points for healthcare and consumer preference will be expected to shift from traditional settings to retail and digital.</a:t>
            </a:r>
            <a:endParaRPr b="0" i="0" sz="800" u="none" cap="none" strike="noStrike"/>
          </a:p>
        </p:txBody>
      </p:sp>
      <p:sp>
        <p:nvSpPr>
          <p:cNvPr id="405" name="Google Shape;405;p31"/>
          <p:cNvSpPr/>
          <p:nvPr/>
        </p:nvSpPr>
        <p:spPr>
          <a:xfrm>
            <a:off x="1125141" y="5790247"/>
            <a:ext cx="1508403"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Resources and Capabilities:</a:t>
            </a:r>
            <a:endParaRPr b="0" i="0" sz="1050" u="none" cap="none" strike="noStrike"/>
          </a:p>
        </p:txBody>
      </p:sp>
      <p:sp>
        <p:nvSpPr>
          <p:cNvPr id="406" name="Google Shape;406;p31"/>
          <p:cNvSpPr/>
          <p:nvPr/>
        </p:nvSpPr>
        <p:spPr>
          <a:xfrm>
            <a:off x="1125141" y="6021229"/>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Major retail footprint across the US trusted brand. Growing clinical staff and partnerships. Digital health expansion and pharmacy expansion with a lot of expertise.</a:t>
            </a:r>
            <a:endParaRPr b="0" i="0" sz="800" u="none" cap="none" strike="noStrike"/>
          </a:p>
        </p:txBody>
      </p:sp>
      <p:sp>
        <p:nvSpPr>
          <p:cNvPr id="407" name="Google Shape;407;p31"/>
          <p:cNvSpPr/>
          <p:nvPr/>
        </p:nvSpPr>
        <p:spPr>
          <a:xfrm>
            <a:off x="575548" y="6421041"/>
            <a:ext cx="13479304" cy="2629138"/>
          </a:xfrm>
          <a:prstGeom prst="roundRect">
            <a:avLst>
              <a:gd fmla="val 610"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1"/>
          <p:cNvSpPr/>
          <p:nvPr/>
        </p:nvSpPr>
        <p:spPr>
          <a:xfrm>
            <a:off x="590788" y="6436281"/>
            <a:ext cx="427553" cy="2598658"/>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9" name="Google Shape;409;p31"/>
          <p:cNvPicPr preferRelativeResize="0"/>
          <p:nvPr/>
        </p:nvPicPr>
        <p:blipFill rotWithShape="1">
          <a:blip r:embed="rId5">
            <a:alphaModFix/>
          </a:blip>
          <a:srcRect b="0" l="0" r="0" t="0"/>
          <a:stretch/>
        </p:blipFill>
        <p:spPr>
          <a:xfrm>
            <a:off x="724376" y="7635359"/>
            <a:ext cx="160258" cy="200382"/>
          </a:xfrm>
          <a:prstGeom prst="rect">
            <a:avLst/>
          </a:prstGeom>
          <a:noFill/>
          <a:ln>
            <a:noFill/>
          </a:ln>
        </p:spPr>
      </p:pic>
      <p:sp>
        <p:nvSpPr>
          <p:cNvPr id="410" name="Google Shape;410;p31"/>
          <p:cNvSpPr/>
          <p:nvPr/>
        </p:nvSpPr>
        <p:spPr>
          <a:xfrm>
            <a:off x="1125141" y="6543080"/>
            <a:ext cx="1603296" cy="20038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C4C4D"/>
              </a:buClr>
              <a:buSzPts val="1250"/>
              <a:buFont typeface="Crimson Pro"/>
              <a:buNone/>
            </a:pPr>
            <a:r>
              <a:rPr b="0" i="0" lang="en-US" sz="1250" u="none" cap="none" strike="noStrike">
                <a:solidFill>
                  <a:srgbClr val="4C4C4D"/>
                </a:solidFill>
                <a:latin typeface="Crimson Pro"/>
                <a:ea typeface="Crimson Pro"/>
                <a:cs typeface="Crimson Pro"/>
                <a:sym typeface="Crimson Pro"/>
              </a:rPr>
              <a:t>Kaiser Permanente</a:t>
            </a:r>
            <a:endParaRPr b="0" i="0" sz="1250" u="none" cap="none" strike="noStrike"/>
          </a:p>
        </p:txBody>
      </p:sp>
      <p:sp>
        <p:nvSpPr>
          <p:cNvPr id="411" name="Google Shape;411;p31"/>
          <p:cNvSpPr/>
          <p:nvPr/>
        </p:nvSpPr>
        <p:spPr>
          <a:xfrm>
            <a:off x="1125141" y="6786205"/>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Strategy:</a:t>
            </a:r>
            <a:endParaRPr b="0" i="0" sz="1050" u="none" cap="none" strike="noStrike"/>
          </a:p>
        </p:txBody>
      </p:sp>
      <p:sp>
        <p:nvSpPr>
          <p:cNvPr id="412" name="Google Shape;412;p31"/>
          <p:cNvSpPr/>
          <p:nvPr/>
        </p:nvSpPr>
        <p:spPr>
          <a:xfrm>
            <a:off x="1125141" y="7017187"/>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Holistic healthcare system combining insurance, medical groups, hospitals and outpatient clinics are all under one roof. They focus on high-quality and preventive care. Heavy invest in technology, data-analytics and sustainability efforts to reduce waste and emissions while improving care delivery. Community health through partnerships and social determinants programs.</a:t>
            </a:r>
            <a:endParaRPr b="0" i="0" sz="800" u="none" cap="none" strike="noStrike"/>
          </a:p>
        </p:txBody>
      </p:sp>
      <p:sp>
        <p:nvSpPr>
          <p:cNvPr id="413" name="Google Shape;413;p31"/>
          <p:cNvSpPr/>
          <p:nvPr/>
        </p:nvSpPr>
        <p:spPr>
          <a:xfrm>
            <a:off x="1125141" y="7423190"/>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Objectives:</a:t>
            </a:r>
            <a:endParaRPr b="0" i="0" sz="1050" u="none" cap="none" strike="noStrike"/>
          </a:p>
        </p:txBody>
      </p:sp>
      <p:sp>
        <p:nvSpPr>
          <p:cNvPr id="414" name="Google Shape;414;p31"/>
          <p:cNvSpPr/>
          <p:nvPr/>
        </p:nvSpPr>
        <p:spPr>
          <a:xfrm>
            <a:off x="1125141" y="7654171"/>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Serve 13 million high quality care. Navigating cost pressure and evolving federal regulations. 1.1 billion quarterly investments in facilities and technology to improve clinical outcomes and customer/member experience to support and improve care and operations. Achieve net zero emissions by 2050 and reduce greenhouse gases by 50% by 2030 leading towards sustainability.</a:t>
            </a:r>
            <a:endParaRPr b="0" i="0" sz="800" u="none" cap="none" strike="noStrike"/>
          </a:p>
        </p:txBody>
      </p:sp>
      <p:sp>
        <p:nvSpPr>
          <p:cNvPr id="415" name="Google Shape;415;p31"/>
          <p:cNvSpPr/>
          <p:nvPr/>
        </p:nvSpPr>
        <p:spPr>
          <a:xfrm>
            <a:off x="1125141" y="8060174"/>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Assumptions:</a:t>
            </a:r>
            <a:endParaRPr b="0" i="0" sz="1050" u="none" cap="none" strike="noStrike"/>
          </a:p>
        </p:txBody>
      </p:sp>
      <p:sp>
        <p:nvSpPr>
          <p:cNvPr id="416" name="Google Shape;416;p31"/>
          <p:cNvSpPr/>
          <p:nvPr/>
        </p:nvSpPr>
        <p:spPr>
          <a:xfrm>
            <a:off x="1125141" y="8291155"/>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Care models combining insurance and provider services will continue to be effective in improving population health. Government policy shifts and demographic aging as primary challenges.</a:t>
            </a:r>
            <a:endParaRPr b="0" i="0" sz="800" u="none" cap="none" strike="noStrike"/>
          </a:p>
        </p:txBody>
      </p:sp>
      <p:sp>
        <p:nvSpPr>
          <p:cNvPr id="417" name="Google Shape;417;p31"/>
          <p:cNvSpPr/>
          <p:nvPr/>
        </p:nvSpPr>
        <p:spPr>
          <a:xfrm>
            <a:off x="1125141" y="8526185"/>
            <a:ext cx="1508403"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Resources and Capabilities:</a:t>
            </a:r>
            <a:endParaRPr b="0" i="0" sz="1050" u="none" cap="none" strike="noStrike"/>
          </a:p>
        </p:txBody>
      </p:sp>
      <p:sp>
        <p:nvSpPr>
          <p:cNvPr id="418" name="Google Shape;418;p31"/>
          <p:cNvSpPr/>
          <p:nvPr/>
        </p:nvSpPr>
        <p:spPr>
          <a:xfrm>
            <a:off x="1125141" y="8757166"/>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13 million members with great hospital and clinical network. Robust digital infrastructure with great amount of capital investment and strong culture of innovations and equity. Certified carbon-neutral operations.</a:t>
            </a:r>
            <a:endParaRPr b="0" i="0" sz="800" u="none" cap="none" strike="noStrike"/>
          </a:p>
        </p:txBody>
      </p:sp>
      <p:sp>
        <p:nvSpPr>
          <p:cNvPr id="419" name="Google Shape;419;p31"/>
          <p:cNvSpPr/>
          <p:nvPr/>
        </p:nvSpPr>
        <p:spPr>
          <a:xfrm>
            <a:off x="575548" y="9156978"/>
            <a:ext cx="13479304" cy="2287191"/>
          </a:xfrm>
          <a:prstGeom prst="roundRect">
            <a:avLst>
              <a:gd fmla="val 701"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1"/>
          <p:cNvSpPr/>
          <p:nvPr/>
        </p:nvSpPr>
        <p:spPr>
          <a:xfrm>
            <a:off x="590788" y="9172218"/>
            <a:ext cx="427553" cy="2256711"/>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1" name="Google Shape;421;p31"/>
          <p:cNvPicPr preferRelativeResize="0"/>
          <p:nvPr/>
        </p:nvPicPr>
        <p:blipFill rotWithShape="1">
          <a:blip r:embed="rId6">
            <a:alphaModFix/>
          </a:blip>
          <a:srcRect b="0" l="0" r="0" t="0"/>
          <a:stretch/>
        </p:blipFill>
        <p:spPr>
          <a:xfrm>
            <a:off x="724376" y="10200322"/>
            <a:ext cx="160258" cy="200382"/>
          </a:xfrm>
          <a:prstGeom prst="rect">
            <a:avLst/>
          </a:prstGeom>
          <a:noFill/>
          <a:ln>
            <a:noFill/>
          </a:ln>
        </p:spPr>
      </p:pic>
      <p:sp>
        <p:nvSpPr>
          <p:cNvPr id="422" name="Google Shape;422;p31"/>
          <p:cNvSpPr/>
          <p:nvPr/>
        </p:nvSpPr>
        <p:spPr>
          <a:xfrm>
            <a:off x="1125141" y="9279017"/>
            <a:ext cx="1603296" cy="20038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C4C4D"/>
              </a:buClr>
              <a:buSzPts val="1250"/>
              <a:buFont typeface="Crimson Pro"/>
              <a:buNone/>
            </a:pPr>
            <a:r>
              <a:rPr b="0" i="0" lang="en-US" sz="1250" u="none" cap="none" strike="noStrike">
                <a:solidFill>
                  <a:srgbClr val="4C4C4D"/>
                </a:solidFill>
                <a:latin typeface="Crimson Pro"/>
                <a:ea typeface="Crimson Pro"/>
                <a:cs typeface="Crimson Pro"/>
                <a:sym typeface="Crimson Pro"/>
              </a:rPr>
              <a:t>Advent Health</a:t>
            </a:r>
            <a:endParaRPr b="0" i="0" sz="1250" u="none" cap="none" strike="noStrike"/>
          </a:p>
        </p:txBody>
      </p:sp>
      <p:sp>
        <p:nvSpPr>
          <p:cNvPr id="423" name="Google Shape;423;p31"/>
          <p:cNvSpPr/>
          <p:nvPr/>
        </p:nvSpPr>
        <p:spPr>
          <a:xfrm>
            <a:off x="1125141" y="9522143"/>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Strategy:</a:t>
            </a:r>
            <a:endParaRPr b="0" i="0" sz="1050" u="none" cap="none" strike="noStrike"/>
          </a:p>
        </p:txBody>
      </p:sp>
      <p:sp>
        <p:nvSpPr>
          <p:cNvPr id="424" name="Google Shape;424;p31"/>
          <p:cNvSpPr/>
          <p:nvPr/>
        </p:nvSpPr>
        <p:spPr>
          <a:xfrm>
            <a:off x="1125141" y="9753124"/>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Non-Profit health system focused on full health care across hospitals, outpatient clinics. Community Health with better clinical experience. Expands in telehealth and digital prescription fulfillment. Evidence based medicine, with diversity.</a:t>
            </a:r>
            <a:endParaRPr b="0" i="0" sz="800" u="none" cap="none" strike="noStrike"/>
          </a:p>
        </p:txBody>
      </p:sp>
      <p:sp>
        <p:nvSpPr>
          <p:cNvPr id="425" name="Google Shape;425;p31"/>
          <p:cNvSpPr/>
          <p:nvPr/>
        </p:nvSpPr>
        <p:spPr>
          <a:xfrm>
            <a:off x="1125141" y="9988153"/>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Objectives:</a:t>
            </a:r>
            <a:endParaRPr b="0" i="0" sz="1050" u="none" cap="none" strike="noStrike"/>
          </a:p>
        </p:txBody>
      </p:sp>
      <p:sp>
        <p:nvSpPr>
          <p:cNvPr id="426" name="Google Shape;426;p31"/>
          <p:cNvSpPr/>
          <p:nvPr/>
        </p:nvSpPr>
        <p:spPr>
          <a:xfrm>
            <a:off x="1125141" y="10219134"/>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4.7 million patients annually through 50 hospital campuses and hundreds of care sites. Address community health priorities such nutrition, mental health preventive care and diseases. Measurable community health improvement plans.</a:t>
            </a:r>
            <a:endParaRPr b="0" i="0" sz="800" u="none" cap="none" strike="noStrike"/>
          </a:p>
        </p:txBody>
      </p:sp>
      <p:sp>
        <p:nvSpPr>
          <p:cNvPr id="427" name="Google Shape;427;p31"/>
          <p:cNvSpPr/>
          <p:nvPr/>
        </p:nvSpPr>
        <p:spPr>
          <a:xfrm>
            <a:off x="1125141" y="10454164"/>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Assumptions:</a:t>
            </a:r>
            <a:endParaRPr b="0" i="0" sz="1050" u="none" cap="none" strike="noStrike"/>
          </a:p>
        </p:txBody>
      </p:sp>
      <p:sp>
        <p:nvSpPr>
          <p:cNvPr id="428" name="Google Shape;428;p31"/>
          <p:cNvSpPr/>
          <p:nvPr/>
        </p:nvSpPr>
        <p:spPr>
          <a:xfrm>
            <a:off x="1125141" y="10685145"/>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Assumes health care services that blend clinical, behavioral and spirituality. Community engagement and social determinants are critical to reduce health disparities.</a:t>
            </a:r>
            <a:endParaRPr b="0" i="0" sz="800" u="none" cap="none" strike="noStrike"/>
          </a:p>
        </p:txBody>
      </p:sp>
      <p:sp>
        <p:nvSpPr>
          <p:cNvPr id="429" name="Google Shape;429;p31"/>
          <p:cNvSpPr/>
          <p:nvPr/>
        </p:nvSpPr>
        <p:spPr>
          <a:xfrm>
            <a:off x="1125141" y="10920174"/>
            <a:ext cx="1508403"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Resources and Capabilities:</a:t>
            </a:r>
            <a:endParaRPr b="0" i="0" sz="1050" u="none" cap="none" strike="noStrike"/>
          </a:p>
        </p:txBody>
      </p:sp>
      <p:sp>
        <p:nvSpPr>
          <p:cNvPr id="430" name="Google Shape;430;p31"/>
          <p:cNvSpPr/>
          <p:nvPr/>
        </p:nvSpPr>
        <p:spPr>
          <a:xfrm>
            <a:off x="1125141" y="11151156"/>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Great number of people in the workforce with 80,000+ caregivers. Extensive hospital and outpatient infrastructure with operational commitment to research and innovation. Community Health Planning and targeted investments and partnerships.</a:t>
            </a:r>
            <a:endParaRPr b="0" i="0" sz="800" u="none" cap="none" strike="noStrike"/>
          </a:p>
        </p:txBody>
      </p:sp>
      <p:sp>
        <p:nvSpPr>
          <p:cNvPr id="431" name="Google Shape;431;p31"/>
          <p:cNvSpPr/>
          <p:nvPr/>
        </p:nvSpPr>
        <p:spPr>
          <a:xfrm>
            <a:off x="575548" y="11550968"/>
            <a:ext cx="13479304" cy="2800112"/>
          </a:xfrm>
          <a:prstGeom prst="roundRect">
            <a:avLst>
              <a:gd fmla="val 573" name="adj"/>
            </a:avLst>
          </a:prstGeom>
          <a:solidFill>
            <a:srgbClr val="FFFFFF"/>
          </a:solidFill>
          <a:ln cap="flat" cmpd="sng" w="15225">
            <a:solidFill>
              <a:srgbClr val="D8D4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1"/>
          <p:cNvSpPr/>
          <p:nvPr/>
        </p:nvSpPr>
        <p:spPr>
          <a:xfrm>
            <a:off x="590788" y="11566208"/>
            <a:ext cx="427553" cy="2769632"/>
          </a:xfrm>
          <a:prstGeom prst="rect">
            <a:avLst/>
          </a:prstGeom>
          <a:solidFill>
            <a:srgbClr val="F2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3" name="Google Shape;433;p31"/>
          <p:cNvPicPr preferRelativeResize="0"/>
          <p:nvPr/>
        </p:nvPicPr>
        <p:blipFill rotWithShape="1">
          <a:blip r:embed="rId7">
            <a:alphaModFix/>
          </a:blip>
          <a:srcRect b="0" l="0" r="0" t="0"/>
          <a:stretch/>
        </p:blipFill>
        <p:spPr>
          <a:xfrm>
            <a:off x="724376" y="12850773"/>
            <a:ext cx="160258" cy="200382"/>
          </a:xfrm>
          <a:prstGeom prst="rect">
            <a:avLst/>
          </a:prstGeom>
          <a:noFill/>
          <a:ln>
            <a:noFill/>
          </a:ln>
        </p:spPr>
      </p:pic>
      <p:sp>
        <p:nvSpPr>
          <p:cNvPr id="434" name="Google Shape;434;p31"/>
          <p:cNvSpPr/>
          <p:nvPr/>
        </p:nvSpPr>
        <p:spPr>
          <a:xfrm>
            <a:off x="1125141" y="11673007"/>
            <a:ext cx="1603296" cy="20038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4C4C4D"/>
              </a:buClr>
              <a:buSzPts val="1250"/>
              <a:buFont typeface="Crimson Pro"/>
              <a:buNone/>
            </a:pPr>
            <a:r>
              <a:rPr b="0" i="0" lang="en-US" sz="1250" u="none" cap="none" strike="noStrike">
                <a:solidFill>
                  <a:srgbClr val="4C4C4D"/>
                </a:solidFill>
                <a:latin typeface="Crimson Pro"/>
                <a:ea typeface="Crimson Pro"/>
                <a:cs typeface="Crimson Pro"/>
                <a:sym typeface="Crimson Pro"/>
              </a:rPr>
              <a:t>Oak Street Health</a:t>
            </a:r>
            <a:endParaRPr b="0" i="0" sz="1250" u="none" cap="none" strike="noStrike"/>
          </a:p>
        </p:txBody>
      </p:sp>
      <p:sp>
        <p:nvSpPr>
          <p:cNvPr id="435" name="Google Shape;435;p31"/>
          <p:cNvSpPr/>
          <p:nvPr/>
        </p:nvSpPr>
        <p:spPr>
          <a:xfrm>
            <a:off x="1125141" y="11916132"/>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Strategy:</a:t>
            </a:r>
            <a:endParaRPr b="0" i="0" sz="1050" u="none" cap="none" strike="noStrike"/>
          </a:p>
        </p:txBody>
      </p:sp>
      <p:sp>
        <p:nvSpPr>
          <p:cNvPr id="436" name="Google Shape;436;p31"/>
          <p:cNvSpPr/>
          <p:nvPr/>
        </p:nvSpPr>
        <p:spPr>
          <a:xfrm>
            <a:off x="1125141" y="12147113"/>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Advanced primary care is primarily to Medicare beneficiaries, particularly in underserved communities. It emphasizes value-based care models and integration of behavioral health and social services. After its acquisition by CVS Health, Oak Street aims to expand rapidly using CVS's assets (pharmacy, Aetna insurance) to increase care access and continuity. Reduction of hospital admissions and urgent care visits through proactive chronic disease management and holistic patient support.</a:t>
            </a:r>
            <a:endParaRPr b="0" i="0" sz="800" u="none" cap="none" strike="noStrike"/>
          </a:p>
        </p:txBody>
      </p:sp>
      <p:sp>
        <p:nvSpPr>
          <p:cNvPr id="437" name="Google Shape;437;p31"/>
          <p:cNvSpPr/>
          <p:nvPr/>
        </p:nvSpPr>
        <p:spPr>
          <a:xfrm>
            <a:off x="1125141" y="12553117"/>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Objectives:</a:t>
            </a:r>
            <a:endParaRPr b="0" i="0" sz="1050" u="none" cap="none" strike="noStrike"/>
          </a:p>
        </p:txBody>
      </p:sp>
      <p:sp>
        <p:nvSpPr>
          <p:cNvPr id="438" name="Google Shape;438;p31"/>
          <p:cNvSpPr/>
          <p:nvPr/>
        </p:nvSpPr>
        <p:spPr>
          <a:xfrm>
            <a:off x="1125141" y="12784098"/>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Expand from 230+ centers to over 300 centers by 2026, increasing geographic reach and patient base. Continue reducing hospital admissions by 44% compared to Medicare benchmarks and improving patient satisfaction scores (NPS of 90). Maintain high provider satisfaction to ease staffing challenges.</a:t>
            </a:r>
            <a:endParaRPr b="0" i="0" sz="800" u="none" cap="none" strike="noStrike"/>
          </a:p>
        </p:txBody>
      </p:sp>
      <p:sp>
        <p:nvSpPr>
          <p:cNvPr id="439" name="Google Shape;439;p31"/>
          <p:cNvSpPr/>
          <p:nvPr/>
        </p:nvSpPr>
        <p:spPr>
          <a:xfrm>
            <a:off x="1125141" y="13190101"/>
            <a:ext cx="1336119"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Assumptions:</a:t>
            </a:r>
            <a:endParaRPr b="0" i="0" sz="1050" u="none" cap="none" strike="noStrike"/>
          </a:p>
        </p:txBody>
      </p:sp>
      <p:sp>
        <p:nvSpPr>
          <p:cNvPr id="440" name="Google Shape;440;p31"/>
          <p:cNvSpPr/>
          <p:nvPr/>
        </p:nvSpPr>
        <p:spPr>
          <a:xfrm>
            <a:off x="1125141" y="13421082"/>
            <a:ext cx="12914471" cy="17097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The Medicare population increasingly demands accessible, integrated primary care that addresses social determinants of health. Believes value-based care can improve outcomes and reduce system costs.</a:t>
            </a:r>
            <a:endParaRPr b="0" i="0" sz="800" u="none" cap="none" strike="noStrike"/>
          </a:p>
        </p:txBody>
      </p:sp>
      <p:sp>
        <p:nvSpPr>
          <p:cNvPr id="441" name="Google Shape;441;p31"/>
          <p:cNvSpPr/>
          <p:nvPr/>
        </p:nvSpPr>
        <p:spPr>
          <a:xfrm>
            <a:off x="1125141" y="13656112"/>
            <a:ext cx="1396484" cy="166926"/>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4C4C4D"/>
              </a:buClr>
              <a:buSzPts val="1050"/>
              <a:buFont typeface="Crimson Pro"/>
              <a:buNone/>
            </a:pPr>
            <a:r>
              <a:rPr b="0" i="0" lang="en-US" sz="1050" u="none" cap="none" strike="noStrike">
                <a:solidFill>
                  <a:srgbClr val="4C4C4D"/>
                </a:solidFill>
                <a:latin typeface="Crimson Pro"/>
                <a:ea typeface="Crimson Pro"/>
                <a:cs typeface="Crimson Pro"/>
                <a:sym typeface="Crimson Pro"/>
              </a:rPr>
              <a:t>Resources &amp; Capabilities:</a:t>
            </a:r>
            <a:endParaRPr b="0" i="0" sz="1050" u="none" cap="none" strike="noStrike"/>
          </a:p>
        </p:txBody>
      </p:sp>
      <p:sp>
        <p:nvSpPr>
          <p:cNvPr id="442" name="Google Shape;442;p31"/>
          <p:cNvSpPr/>
          <p:nvPr/>
        </p:nvSpPr>
        <p:spPr>
          <a:xfrm>
            <a:off x="1125141" y="13887093"/>
            <a:ext cx="12914471" cy="341948"/>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C4C4D"/>
              </a:buClr>
              <a:buSzPts val="800"/>
              <a:buFont typeface="Heebo"/>
              <a:buNone/>
            </a:pPr>
            <a:r>
              <a:rPr b="0" i="0" lang="en-US" sz="800" u="none" cap="none" strike="noStrike">
                <a:solidFill>
                  <a:srgbClr val="4C4C4D"/>
                </a:solidFill>
                <a:latin typeface="Heebo"/>
                <a:ea typeface="Heebo"/>
                <a:cs typeface="Heebo"/>
                <a:sym typeface="Heebo"/>
              </a:rPr>
              <a:t>Operates 230+ centers in 27 states with ~900 primary care providers (physicians and advanced practice providers). Proprietary technology platform (Canopy EMR) supports longitudinal care and population health analytics. Interdisciplinary care teams including behavioral health and telehealth providers contribute to comprehensive care.</a:t>
            </a:r>
            <a:endParaRPr b="0" i="0" sz="8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2"/>
          <p:cNvSpPr/>
          <p:nvPr/>
        </p:nvSpPr>
        <p:spPr>
          <a:xfrm>
            <a:off x="722233" y="863203"/>
            <a:ext cx="3353633" cy="419219"/>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B31849"/>
              </a:buClr>
              <a:buSzPts val="2600"/>
              <a:buFont typeface="Crimson Pro"/>
              <a:buNone/>
            </a:pPr>
            <a:r>
              <a:rPr b="0" i="0" lang="en-US" sz="2600" u="none" cap="none" strike="noStrike">
                <a:solidFill>
                  <a:srgbClr val="B31849"/>
                </a:solidFill>
                <a:latin typeface="Crimson Pro"/>
                <a:ea typeface="Crimson Pro"/>
                <a:cs typeface="Crimson Pro"/>
                <a:sym typeface="Crimson Pro"/>
              </a:rPr>
              <a:t>References</a:t>
            </a:r>
            <a:endParaRPr b="0" i="0" sz="2600" u="none" cap="none" strike="noStrike"/>
          </a:p>
        </p:txBody>
      </p:sp>
      <p:sp>
        <p:nvSpPr>
          <p:cNvPr id="449" name="Google Shape;449;p32"/>
          <p:cNvSpPr/>
          <p:nvPr/>
        </p:nvSpPr>
        <p:spPr>
          <a:xfrm>
            <a:off x="722233" y="1604367"/>
            <a:ext cx="4132064" cy="64400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
              </a:rPr>
              <a:t>drugchannels.net</a:t>
            </a:r>
            <a:r>
              <a:rPr b="0" i="0" lang="en-US" sz="1050" u="none" cap="none" strike="noStrike">
                <a:solidFill>
                  <a:srgbClr val="4C4C4D"/>
                </a:solidFill>
                <a:latin typeface="Heebo"/>
                <a:ea typeface="Heebo"/>
                <a:cs typeface="Heebo"/>
                <a:sym typeface="Heebo"/>
              </a:rPr>
              <a:t>: The Top 15 U.S. Pharmacies of 2024: Market Shares and Revenues at the Biggest Chains, PBMs, and Specialty Pharmacies</a:t>
            </a:r>
            <a:endParaRPr b="0" i="0" sz="1050" u="none" cap="none" strike="noStrike"/>
          </a:p>
        </p:txBody>
      </p:sp>
      <p:sp>
        <p:nvSpPr>
          <p:cNvPr id="450" name="Google Shape;450;p32"/>
          <p:cNvSpPr/>
          <p:nvPr/>
        </p:nvSpPr>
        <p:spPr>
          <a:xfrm>
            <a:off x="722233" y="2295287"/>
            <a:ext cx="4132064"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4"/>
              </a:rPr>
              <a:t>beckershospitalreview.com</a:t>
            </a:r>
            <a:r>
              <a:rPr b="0" i="0" lang="en-US" sz="1050" u="none" cap="none" strike="noStrike">
                <a:solidFill>
                  <a:srgbClr val="4C4C4D"/>
                </a:solidFill>
                <a:latin typeface="Heebo"/>
                <a:ea typeface="Heebo"/>
                <a:cs typeface="Heebo"/>
                <a:sym typeface="Heebo"/>
              </a:rPr>
              <a:t>: 15 largest pharmacies in the US</a:t>
            </a:r>
            <a:endParaRPr b="0" i="0" sz="1050" u="none" cap="none" strike="noStrike"/>
          </a:p>
        </p:txBody>
      </p:sp>
      <p:sp>
        <p:nvSpPr>
          <p:cNvPr id="451" name="Google Shape;451;p32"/>
          <p:cNvSpPr/>
          <p:nvPr/>
        </p:nvSpPr>
        <p:spPr>
          <a:xfrm>
            <a:off x="722233" y="25568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5"/>
              </a:rPr>
              <a:t>investopedia.com</a:t>
            </a:r>
            <a:r>
              <a:rPr b="0" i="0" lang="en-US" sz="1050" u="none" cap="none" strike="noStrike">
                <a:solidFill>
                  <a:srgbClr val="4C4C4D"/>
                </a:solidFill>
                <a:latin typeface="Heebo"/>
                <a:ea typeface="Heebo"/>
                <a:cs typeface="Heebo"/>
                <a:sym typeface="Heebo"/>
              </a:rPr>
              <a:t>: What Are Barriers to Entry for Pharma Companies?</a:t>
            </a:r>
            <a:endParaRPr b="0" i="0" sz="1050" u="none" cap="none" strike="noStrike"/>
          </a:p>
        </p:txBody>
      </p:sp>
      <p:sp>
        <p:nvSpPr>
          <p:cNvPr id="452" name="Google Shape;452;p32"/>
          <p:cNvSpPr/>
          <p:nvPr/>
        </p:nvSpPr>
        <p:spPr>
          <a:xfrm>
            <a:off x="722233" y="3033117"/>
            <a:ext cx="4132064"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6"/>
              </a:rPr>
              <a:t>ajmc.com</a:t>
            </a:r>
            <a:r>
              <a:rPr b="0" i="0" lang="en-US" sz="1050" u="none" cap="none" strike="noStrike">
                <a:solidFill>
                  <a:srgbClr val="4C4C4D"/>
                </a:solidFill>
                <a:latin typeface="Heebo"/>
                <a:ea typeface="Heebo"/>
                <a:cs typeface="Heebo"/>
                <a:sym typeface="Heebo"/>
              </a:rPr>
              <a:t>: Amazon Pharmacy: Distraction or Disruption?</a:t>
            </a:r>
            <a:endParaRPr b="0" i="0" sz="1050" u="none" cap="none" strike="noStrike"/>
          </a:p>
        </p:txBody>
      </p:sp>
      <p:sp>
        <p:nvSpPr>
          <p:cNvPr id="453" name="Google Shape;453;p32"/>
          <p:cNvSpPr/>
          <p:nvPr/>
        </p:nvSpPr>
        <p:spPr>
          <a:xfrm>
            <a:off x="722233" y="3294697"/>
            <a:ext cx="4132064"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7"/>
              </a:rPr>
              <a:t>ama-assn.org</a:t>
            </a:r>
            <a:r>
              <a:rPr b="0" i="0" lang="en-US" sz="1050" u="none" cap="none" strike="noStrike">
                <a:solidFill>
                  <a:srgbClr val="4C4C4D"/>
                </a:solidFill>
                <a:latin typeface="Heebo"/>
                <a:ea typeface="Heebo"/>
                <a:cs typeface="Heebo"/>
                <a:sym typeface="Heebo"/>
              </a:rPr>
              <a:t>: In PBM market, competition is hard to come by</a:t>
            </a:r>
            <a:endParaRPr b="0" i="0" sz="1050" u="none" cap="none" strike="noStrike"/>
          </a:p>
        </p:txBody>
      </p:sp>
      <p:sp>
        <p:nvSpPr>
          <p:cNvPr id="454" name="Google Shape;454;p32"/>
          <p:cNvSpPr/>
          <p:nvPr/>
        </p:nvSpPr>
        <p:spPr>
          <a:xfrm>
            <a:off x="722233" y="355627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8"/>
              </a:rPr>
              <a:t>commonwealthfund.org</a:t>
            </a:r>
            <a:r>
              <a:rPr b="0" i="0" lang="en-US" sz="1050" u="none" cap="none" strike="noStrike">
                <a:solidFill>
                  <a:srgbClr val="4C4C4D"/>
                </a:solidFill>
                <a:latin typeface="Heebo"/>
                <a:ea typeface="Heebo"/>
                <a:cs typeface="Heebo"/>
                <a:sym typeface="Heebo"/>
              </a:rPr>
              <a:t>: What Pharmacy Benefit Managers Do, and How They Contribute to Drug Spending</a:t>
            </a:r>
            <a:endParaRPr b="0" i="0" sz="1050" u="none" cap="none" strike="noStrike"/>
          </a:p>
        </p:txBody>
      </p:sp>
      <p:sp>
        <p:nvSpPr>
          <p:cNvPr id="455" name="Google Shape;455;p32"/>
          <p:cNvSpPr/>
          <p:nvPr/>
        </p:nvSpPr>
        <p:spPr>
          <a:xfrm>
            <a:off x="722233" y="4032528"/>
            <a:ext cx="4132064"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9"/>
              </a:rPr>
              <a:t>zacks.com</a:t>
            </a:r>
            <a:r>
              <a:rPr b="0" i="0" lang="en-US" sz="1050" u="none" cap="none" strike="noStrike">
                <a:solidFill>
                  <a:srgbClr val="4C4C4D"/>
                </a:solidFill>
                <a:latin typeface="Heebo"/>
                <a:ea typeface="Heebo"/>
                <a:cs typeface="Heebo"/>
                <a:sym typeface="Heebo"/>
              </a:rPr>
              <a:t>: CVS Health - Full Company Report</a:t>
            </a:r>
            <a:endParaRPr b="0" i="0" sz="1050" u="none" cap="none" strike="noStrike"/>
          </a:p>
        </p:txBody>
      </p:sp>
      <p:sp>
        <p:nvSpPr>
          <p:cNvPr id="456" name="Google Shape;456;p32"/>
          <p:cNvSpPr/>
          <p:nvPr/>
        </p:nvSpPr>
        <p:spPr>
          <a:xfrm>
            <a:off x="722233" y="429410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0"/>
              </a:rPr>
              <a:t>hospitalogy.com</a:t>
            </a:r>
            <a:r>
              <a:rPr b="0" i="0" lang="en-US" sz="1050" u="none" cap="none" strike="noStrike">
                <a:solidFill>
                  <a:srgbClr val="4C4C4D"/>
                </a:solidFill>
                <a:latin typeface="Heebo"/>
                <a:ea typeface="Heebo"/>
                <a:cs typeface="Heebo"/>
                <a:sym typeface="Heebo"/>
              </a:rPr>
              <a:t>: CVS, Oak Street Health, and the Great Payor Vertical Integration War</a:t>
            </a:r>
            <a:endParaRPr b="0" i="0" sz="1050" u="none" cap="none" strike="noStrike"/>
          </a:p>
        </p:txBody>
      </p:sp>
      <p:sp>
        <p:nvSpPr>
          <p:cNvPr id="457" name="Google Shape;457;p32"/>
          <p:cNvSpPr/>
          <p:nvPr/>
        </p:nvSpPr>
        <p:spPr>
          <a:xfrm>
            <a:off x="722233" y="477035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1"/>
              </a:rPr>
              <a:t>fiercehealthcare.com</a:t>
            </a:r>
            <a:r>
              <a:rPr b="0" i="0" lang="en-US" sz="1050" u="none" cap="none" strike="noStrike">
                <a:solidFill>
                  <a:srgbClr val="4C4C4D"/>
                </a:solidFill>
                <a:latin typeface="Heebo"/>
                <a:ea typeface="Heebo"/>
                <a:cs typeface="Heebo"/>
                <a:sym typeface="Heebo"/>
              </a:rPr>
              <a:t>: CVS' Omnicare unit files for bankruptcy amid legal fallout</a:t>
            </a:r>
            <a:endParaRPr b="0" i="0" sz="1050" u="none" cap="none" strike="noStrike"/>
          </a:p>
        </p:txBody>
      </p:sp>
      <p:sp>
        <p:nvSpPr>
          <p:cNvPr id="458" name="Google Shape;458;p32"/>
          <p:cNvSpPr/>
          <p:nvPr/>
        </p:nvSpPr>
        <p:spPr>
          <a:xfrm>
            <a:off x="722233" y="524660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2"/>
              </a:rPr>
              <a:t>ag.ny.gov</a:t>
            </a:r>
            <a:r>
              <a:rPr b="0" i="0" lang="en-US" sz="1050" u="none" cap="none" strike="noStrike">
                <a:solidFill>
                  <a:srgbClr val="4C4C4D"/>
                </a:solidFill>
                <a:latin typeface="Heebo"/>
                <a:ea typeface="Heebo"/>
                <a:cs typeface="Heebo"/>
                <a:sym typeface="Heebo"/>
              </a:rPr>
              <a:t>: Attorney General James Sues CVS for Harming New York Safety ...</a:t>
            </a:r>
            <a:endParaRPr b="0" i="0" sz="1050" u="none" cap="none" strike="noStrike"/>
          </a:p>
        </p:txBody>
      </p:sp>
      <p:sp>
        <p:nvSpPr>
          <p:cNvPr id="459" name="Google Shape;459;p32"/>
          <p:cNvSpPr/>
          <p:nvPr/>
        </p:nvSpPr>
        <p:spPr>
          <a:xfrm>
            <a:off x="722233" y="572285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3"/>
              </a:rPr>
              <a:t>grandviewresearch.com</a:t>
            </a:r>
            <a:r>
              <a:rPr b="0" i="0" lang="en-US" sz="1050" u="none" cap="none" strike="noStrike">
                <a:solidFill>
                  <a:srgbClr val="4C4C4D"/>
                </a:solidFill>
                <a:latin typeface="Heebo"/>
                <a:ea typeface="Heebo"/>
                <a:cs typeface="Heebo"/>
                <a:sym typeface="Heebo"/>
              </a:rPr>
              <a:t>: Pharmacy Market Size And Share | Industry Report, 2030</a:t>
            </a:r>
            <a:endParaRPr b="0" i="0" sz="1050" u="none" cap="none" strike="noStrike"/>
          </a:p>
        </p:txBody>
      </p:sp>
      <p:sp>
        <p:nvSpPr>
          <p:cNvPr id="460" name="Google Shape;460;p32"/>
          <p:cNvSpPr/>
          <p:nvPr/>
        </p:nvSpPr>
        <p:spPr>
          <a:xfrm>
            <a:off x="722233" y="619910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4"/>
              </a:rPr>
              <a:t>precedenceresearch.com</a:t>
            </a:r>
            <a:r>
              <a:rPr b="0" i="0" lang="en-US" sz="1050" u="none" cap="none" strike="noStrike">
                <a:solidFill>
                  <a:srgbClr val="4C4C4D"/>
                </a:solidFill>
                <a:latin typeface="Heebo"/>
                <a:ea typeface="Heebo"/>
                <a:cs typeface="Heebo"/>
                <a:sym typeface="Heebo"/>
              </a:rPr>
              <a:t>: Pharmacy Market Size to Hit USD 1.92 Trillion by 2034</a:t>
            </a:r>
            <a:endParaRPr b="0" i="0" sz="1050" u="none" cap="none" strike="noStrike"/>
          </a:p>
        </p:txBody>
      </p:sp>
      <p:sp>
        <p:nvSpPr>
          <p:cNvPr id="461" name="Google Shape;461;p32"/>
          <p:cNvSpPr/>
          <p:nvPr/>
        </p:nvSpPr>
        <p:spPr>
          <a:xfrm>
            <a:off x="722233" y="6675358"/>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5"/>
              </a:rPr>
              <a:t>scoop.market.us</a:t>
            </a:r>
            <a:r>
              <a:rPr b="0" i="0" lang="en-US" sz="1050" u="none" cap="none" strike="noStrike">
                <a:solidFill>
                  <a:srgbClr val="4C4C4D"/>
                </a:solidFill>
                <a:latin typeface="Heebo"/>
                <a:ea typeface="Heebo"/>
                <a:cs typeface="Heebo"/>
                <a:sym typeface="Heebo"/>
              </a:rPr>
              <a:t>: Mail Order Pharmacy Market Rapid Growth at 180.5 Bn</a:t>
            </a:r>
            <a:endParaRPr b="0" i="0" sz="1050" u="none" cap="none" strike="noStrike"/>
          </a:p>
        </p:txBody>
      </p:sp>
      <p:sp>
        <p:nvSpPr>
          <p:cNvPr id="462" name="Google Shape;462;p32"/>
          <p:cNvSpPr/>
          <p:nvPr/>
        </p:nvSpPr>
        <p:spPr>
          <a:xfrm>
            <a:off x="5189101" y="160436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6"/>
              </a:rPr>
              <a:t>persistencemarketresearch.com</a:t>
            </a:r>
            <a:r>
              <a:rPr b="0" i="0" lang="en-US" sz="1050" u="none" cap="none" strike="noStrike">
                <a:solidFill>
                  <a:srgbClr val="4C4C4D"/>
                </a:solidFill>
                <a:latin typeface="Heebo"/>
                <a:ea typeface="Heebo"/>
                <a:cs typeface="Heebo"/>
                <a:sym typeface="Heebo"/>
              </a:rPr>
              <a:t>: U.S. Retail Pharmacy Market Size &amp; Share Report, 2025-2032</a:t>
            </a:r>
            <a:endParaRPr b="0" i="0" sz="1050" u="none" cap="none" strike="noStrike"/>
          </a:p>
        </p:txBody>
      </p:sp>
      <p:sp>
        <p:nvSpPr>
          <p:cNvPr id="463" name="Google Shape;463;p32"/>
          <p:cNvSpPr/>
          <p:nvPr/>
        </p:nvSpPr>
        <p:spPr>
          <a:xfrm>
            <a:off x="5189101" y="208061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7"/>
              </a:rPr>
              <a:t>aithor.com</a:t>
            </a:r>
            <a:r>
              <a:rPr b="0" i="0" lang="en-US" sz="1050" u="none" cap="none" strike="noStrike">
                <a:solidFill>
                  <a:srgbClr val="4C4C4D"/>
                </a:solidFill>
                <a:latin typeface="Heebo"/>
                <a:ea typeface="Heebo"/>
                <a:cs typeface="Heebo"/>
                <a:sym typeface="Heebo"/>
              </a:rPr>
              <a:t>: CVS Health's Vertical Integration | Free Essay Example for Students</a:t>
            </a:r>
            <a:endParaRPr b="0" i="0" sz="1050" u="none" cap="none" strike="noStrike"/>
          </a:p>
        </p:txBody>
      </p:sp>
      <p:sp>
        <p:nvSpPr>
          <p:cNvPr id="464" name="Google Shape;464;p32"/>
          <p:cNvSpPr/>
          <p:nvPr/>
        </p:nvSpPr>
        <p:spPr>
          <a:xfrm>
            <a:off x="5189101" y="255686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8"/>
              </a:rPr>
              <a:t>christenseninstitute.org</a:t>
            </a:r>
            <a:r>
              <a:rPr b="0" i="0" lang="en-US" sz="1050" u="none" cap="none" strike="noStrike">
                <a:solidFill>
                  <a:srgbClr val="4C4C4D"/>
                </a:solidFill>
                <a:latin typeface="Heebo"/>
                <a:ea typeface="Heebo"/>
                <a:cs typeface="Heebo"/>
                <a:sym typeface="Heebo"/>
              </a:rPr>
              <a:t>: 2 critical steps will make or break CVS's acquisition of Oak Street Health</a:t>
            </a:r>
            <a:endParaRPr b="0" i="0" sz="1050" u="none" cap="none" strike="noStrike"/>
          </a:p>
        </p:txBody>
      </p:sp>
      <p:sp>
        <p:nvSpPr>
          <p:cNvPr id="465" name="Google Shape;465;p32"/>
          <p:cNvSpPr/>
          <p:nvPr/>
        </p:nvSpPr>
        <p:spPr>
          <a:xfrm>
            <a:off x="5189101" y="303311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19"/>
              </a:rPr>
              <a:t>webull.com</a:t>
            </a:r>
            <a:r>
              <a:rPr b="0" i="0" lang="en-US" sz="1050" u="none" cap="none" strike="noStrike">
                <a:solidFill>
                  <a:srgbClr val="4C4C4D"/>
                </a:solidFill>
                <a:latin typeface="Heebo"/>
                <a:ea typeface="Heebo"/>
                <a:cs typeface="Heebo"/>
                <a:sym typeface="Heebo"/>
              </a:rPr>
              <a:t>: CVS Health Corporation's Annual Report (Form 10-K) for the Fiscal Year Ended December 31, 2024</a:t>
            </a:r>
            <a:endParaRPr b="0" i="0" sz="1050" u="none" cap="none" strike="noStrike"/>
          </a:p>
        </p:txBody>
      </p:sp>
      <p:sp>
        <p:nvSpPr>
          <p:cNvPr id="466" name="Google Shape;466;p32"/>
          <p:cNvSpPr/>
          <p:nvPr/>
        </p:nvSpPr>
        <p:spPr>
          <a:xfrm>
            <a:off x="5189101" y="350936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0"/>
              </a:rPr>
              <a:t>locationscloud.com</a:t>
            </a:r>
            <a:r>
              <a:rPr b="0" i="0" lang="en-US" sz="1050" u="none" cap="none" strike="noStrike">
                <a:solidFill>
                  <a:srgbClr val="4C4C4D"/>
                </a:solidFill>
                <a:latin typeface="Heebo"/>
                <a:ea typeface="Heebo"/>
                <a:cs typeface="Heebo"/>
                <a:sym typeface="Heebo"/>
              </a:rPr>
              <a:t>: Competitive Hotspots: Where Walgreens &amp; CVS Stores Overlap—and Who Wins?</a:t>
            </a:r>
            <a:endParaRPr b="0" i="0" sz="1050" u="none" cap="none" strike="noStrike"/>
          </a:p>
        </p:txBody>
      </p:sp>
      <p:sp>
        <p:nvSpPr>
          <p:cNvPr id="467" name="Google Shape;467;p32"/>
          <p:cNvSpPr/>
          <p:nvPr/>
        </p:nvSpPr>
        <p:spPr>
          <a:xfrm>
            <a:off x="5189101" y="398561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1"/>
              </a:rPr>
              <a:t>reddit.com</a:t>
            </a:r>
            <a:r>
              <a:rPr b="0" i="0" lang="en-US" sz="1050" u="none" cap="none" strike="noStrike">
                <a:solidFill>
                  <a:srgbClr val="4C4C4D"/>
                </a:solidFill>
                <a:latin typeface="Heebo"/>
                <a:ea typeface="Heebo"/>
                <a:cs typeface="Heebo"/>
                <a:sym typeface="Heebo"/>
              </a:rPr>
              <a:t>: ELI5: What is the business sense of Walgreens, CVS and Rite Aid all being on the same street corner?</a:t>
            </a:r>
            <a:endParaRPr b="0" i="0" sz="1050" u="none" cap="none" strike="noStrike"/>
          </a:p>
        </p:txBody>
      </p:sp>
      <p:sp>
        <p:nvSpPr>
          <p:cNvPr id="468" name="Google Shape;468;p32"/>
          <p:cNvSpPr/>
          <p:nvPr/>
        </p:nvSpPr>
        <p:spPr>
          <a:xfrm>
            <a:off x="5189101" y="4461867"/>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2"/>
              </a:rPr>
              <a:t>webull.com</a:t>
            </a:r>
            <a:r>
              <a:rPr b="0" i="0" lang="en-US" sz="1050" u="none" cap="none" strike="noStrike">
                <a:solidFill>
                  <a:srgbClr val="4C4C4D"/>
                </a:solidFill>
                <a:latin typeface="Heebo"/>
                <a:ea typeface="Heebo"/>
                <a:cs typeface="Heebo"/>
                <a:sym typeface="Heebo"/>
              </a:rPr>
              <a:t>: Walgreens Boots Alliance, Inc. (WBA) Form 10-K for the Fiscal Year Ended August 31, 2024</a:t>
            </a:r>
            <a:endParaRPr b="0" i="0" sz="1050" u="none" cap="none" strike="noStrike"/>
          </a:p>
        </p:txBody>
      </p:sp>
      <p:sp>
        <p:nvSpPr>
          <p:cNvPr id="469" name="Google Shape;469;p32"/>
          <p:cNvSpPr/>
          <p:nvPr/>
        </p:nvSpPr>
        <p:spPr>
          <a:xfrm>
            <a:off x="5189101" y="4938117"/>
            <a:ext cx="4267200"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3"/>
              </a:rPr>
              <a:t>placer.ai</a:t>
            </a:r>
            <a:r>
              <a:rPr b="0" i="0" lang="en-US" sz="1050" u="none" cap="none" strike="noStrike">
                <a:solidFill>
                  <a:srgbClr val="4C4C4D"/>
                </a:solidFill>
                <a:latin typeface="Heebo"/>
                <a:ea typeface="Heebo"/>
                <a:cs typeface="Heebo"/>
                <a:sym typeface="Heebo"/>
              </a:rPr>
              <a:t>: CVS and Walgreens in 2025 – Placer.ai Blog</a:t>
            </a:r>
            <a:endParaRPr b="0" i="0" sz="1050" u="none" cap="none" strike="noStrike"/>
          </a:p>
        </p:txBody>
      </p:sp>
      <p:sp>
        <p:nvSpPr>
          <p:cNvPr id="470" name="Google Shape;470;p32"/>
          <p:cNvSpPr/>
          <p:nvPr/>
        </p:nvSpPr>
        <p:spPr>
          <a:xfrm>
            <a:off x="5189101" y="5199698"/>
            <a:ext cx="4267200"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4"/>
              </a:rPr>
              <a:t>kslaw.com</a:t>
            </a:r>
            <a:r>
              <a:rPr b="0" i="0" lang="en-US" sz="1050" u="none" cap="none" strike="noStrike">
                <a:solidFill>
                  <a:srgbClr val="4C4C4D"/>
                </a:solidFill>
                <a:latin typeface="Heebo"/>
                <a:ea typeface="Heebo"/>
                <a:cs typeface="Heebo"/>
                <a:sym typeface="Heebo"/>
              </a:rPr>
              <a:t>: Pharmacy Regulatory Compliance</a:t>
            </a:r>
            <a:endParaRPr b="0" i="0" sz="1050" u="none" cap="none" strike="noStrike"/>
          </a:p>
        </p:txBody>
      </p:sp>
      <p:sp>
        <p:nvSpPr>
          <p:cNvPr id="471" name="Google Shape;471;p32"/>
          <p:cNvSpPr/>
          <p:nvPr/>
        </p:nvSpPr>
        <p:spPr>
          <a:xfrm>
            <a:off x="5189101" y="5461278"/>
            <a:ext cx="4267200" cy="64400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5"/>
              </a:rPr>
              <a:t>healthaffairs.org</a:t>
            </a:r>
            <a:r>
              <a:rPr b="0" i="0" lang="en-US" sz="1050" u="none" cap="none" strike="noStrike">
                <a:solidFill>
                  <a:srgbClr val="4C4C4D"/>
                </a:solidFill>
                <a:latin typeface="Heebo"/>
                <a:ea typeface="Heebo"/>
                <a:cs typeface="Heebo"/>
                <a:sym typeface="Heebo"/>
              </a:rPr>
              <a:t>: National Health Expenditure Projections, 2024–33: Despite Insurance Coverage Declines, Health To Grow As Share Of GDP</a:t>
            </a:r>
            <a:endParaRPr b="0" i="0" sz="1050" u="none" cap="none" strike="noStrike"/>
          </a:p>
        </p:txBody>
      </p:sp>
      <p:sp>
        <p:nvSpPr>
          <p:cNvPr id="472" name="Google Shape;472;p32"/>
          <p:cNvSpPr/>
          <p:nvPr/>
        </p:nvSpPr>
        <p:spPr>
          <a:xfrm>
            <a:off x="5189101" y="6152198"/>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6"/>
              </a:rPr>
              <a:t>healthsystemtracker.org</a:t>
            </a:r>
            <a:r>
              <a:rPr b="0" i="0" lang="en-US" sz="1050" u="none" cap="none" strike="noStrike">
                <a:solidFill>
                  <a:srgbClr val="4C4C4D"/>
                </a:solidFill>
                <a:latin typeface="Heebo"/>
                <a:ea typeface="Heebo"/>
                <a:cs typeface="Heebo"/>
                <a:sym typeface="Heebo"/>
              </a:rPr>
              <a:t>: How much is health spending expected to grow?</a:t>
            </a:r>
            <a:endParaRPr b="0" i="0" sz="1050" u="none" cap="none" strike="noStrike"/>
          </a:p>
        </p:txBody>
      </p:sp>
      <p:sp>
        <p:nvSpPr>
          <p:cNvPr id="473" name="Google Shape;473;p32"/>
          <p:cNvSpPr/>
          <p:nvPr/>
        </p:nvSpPr>
        <p:spPr>
          <a:xfrm>
            <a:off x="5189101" y="6628448"/>
            <a:ext cx="4267200"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7"/>
              </a:rPr>
              <a:t>pwc.com</a:t>
            </a:r>
            <a:r>
              <a:rPr b="0" i="0" lang="en-US" sz="1050" u="none" cap="none" strike="noStrike">
                <a:solidFill>
                  <a:srgbClr val="4C4C4D"/>
                </a:solidFill>
                <a:latin typeface="Heebo"/>
                <a:ea typeface="Heebo"/>
                <a:cs typeface="Heebo"/>
                <a:sym typeface="Heebo"/>
              </a:rPr>
              <a:t>: Next in health services 2025: Secure your future with resilience and reinvention</a:t>
            </a:r>
            <a:endParaRPr b="0" i="0" sz="1050" u="none" cap="none" strike="noStrike"/>
          </a:p>
        </p:txBody>
      </p:sp>
      <p:sp>
        <p:nvSpPr>
          <p:cNvPr id="474" name="Google Shape;474;p32"/>
          <p:cNvSpPr/>
          <p:nvPr/>
        </p:nvSpPr>
        <p:spPr>
          <a:xfrm>
            <a:off x="5189101" y="7104698"/>
            <a:ext cx="4267200"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8"/>
              </a:rPr>
              <a:t>shopify.com</a:t>
            </a:r>
            <a:r>
              <a:rPr b="0" i="0" lang="en-US" sz="1050" u="none" cap="none" strike="noStrike">
                <a:solidFill>
                  <a:srgbClr val="4C4C4D"/>
                </a:solidFill>
                <a:latin typeface="Heebo"/>
                <a:ea typeface="Heebo"/>
                <a:cs typeface="Heebo"/>
                <a:sym typeface="Heebo"/>
              </a:rPr>
              <a:t>: 12 Wellness Trends to Capitalize On for 2025</a:t>
            </a:r>
            <a:endParaRPr b="0" i="0" sz="1050" u="none" cap="none" strike="noStrike"/>
          </a:p>
        </p:txBody>
      </p:sp>
      <p:sp>
        <p:nvSpPr>
          <p:cNvPr id="475" name="Google Shape;475;p32"/>
          <p:cNvSpPr/>
          <p:nvPr/>
        </p:nvSpPr>
        <p:spPr>
          <a:xfrm>
            <a:off x="9791105" y="16043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29"/>
              </a:rPr>
              <a:t>kestria.com</a:t>
            </a:r>
            <a:r>
              <a:rPr b="0" i="0" lang="en-US" sz="1050" u="none" cap="none" strike="noStrike">
                <a:solidFill>
                  <a:srgbClr val="4C4C4D"/>
                </a:solidFill>
                <a:latin typeface="Heebo"/>
                <a:ea typeface="Heebo"/>
                <a:cs typeface="Heebo"/>
                <a:sym typeface="Heebo"/>
              </a:rPr>
              <a:t>: Health and wellness trends: Adapting to the new consumer demand for well-being</a:t>
            </a:r>
            <a:endParaRPr b="0" i="0" sz="1050" u="none" cap="none" strike="noStrike"/>
          </a:p>
        </p:txBody>
      </p:sp>
      <p:sp>
        <p:nvSpPr>
          <p:cNvPr id="476" name="Google Shape;476;p32"/>
          <p:cNvSpPr/>
          <p:nvPr/>
        </p:nvSpPr>
        <p:spPr>
          <a:xfrm>
            <a:off x="9791105" y="208061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0"/>
              </a:rPr>
              <a:t>ipcrx.com</a:t>
            </a:r>
            <a:r>
              <a:rPr b="0" i="0" lang="en-US" sz="1050" u="none" cap="none" strike="noStrike">
                <a:solidFill>
                  <a:srgbClr val="4C4C4D"/>
                </a:solidFill>
                <a:latin typeface="Heebo"/>
                <a:ea typeface="Heebo"/>
                <a:cs typeface="Heebo"/>
                <a:sym typeface="Heebo"/>
              </a:rPr>
              <a:t>: The Future of Community Pharmacy: Embracing Change for a Patient-Centered Model</a:t>
            </a:r>
            <a:endParaRPr b="0" i="0" sz="1050" u="none" cap="none" strike="noStrike"/>
          </a:p>
        </p:txBody>
      </p:sp>
      <p:sp>
        <p:nvSpPr>
          <p:cNvPr id="477" name="Google Shape;477;p32"/>
          <p:cNvSpPr/>
          <p:nvPr/>
        </p:nvSpPr>
        <p:spPr>
          <a:xfrm>
            <a:off x="9791105" y="25568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1"/>
              </a:rPr>
              <a:t>bmjopen.bmj.com</a:t>
            </a:r>
            <a:r>
              <a:rPr b="0" i="0" lang="en-US" sz="1050" u="none" cap="none" strike="noStrike">
                <a:solidFill>
                  <a:srgbClr val="4C4C4D"/>
                </a:solidFill>
                <a:latin typeface="Heebo"/>
                <a:ea typeface="Heebo"/>
                <a:cs typeface="Heebo"/>
                <a:sym typeface="Heebo"/>
              </a:rPr>
              <a:t>: Consumer perceptions and preferences of pharmacist- led professional services and attributes in Australia</a:t>
            </a:r>
            <a:endParaRPr b="0" i="0" sz="1050" u="none" cap="none" strike="noStrike"/>
          </a:p>
        </p:txBody>
      </p:sp>
      <p:sp>
        <p:nvSpPr>
          <p:cNvPr id="478" name="Google Shape;478;p32"/>
          <p:cNvSpPr/>
          <p:nvPr/>
        </p:nvSpPr>
        <p:spPr>
          <a:xfrm>
            <a:off x="9791105" y="303311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2"/>
              </a:rPr>
              <a:t>aiexpert.network</a:t>
            </a:r>
            <a:r>
              <a:rPr b="0" i="0" lang="en-US" sz="1050" u="none" cap="none" strike="noStrike">
                <a:solidFill>
                  <a:srgbClr val="4C4C4D"/>
                </a:solidFill>
                <a:latin typeface="Heebo"/>
                <a:ea typeface="Heebo"/>
                <a:cs typeface="Heebo"/>
                <a:sym typeface="Heebo"/>
              </a:rPr>
              <a:t>: Case Study: AI Transformation at Walgreens - AIX - AI Expert Network</a:t>
            </a:r>
            <a:endParaRPr b="0" i="0" sz="1050" u="none" cap="none" strike="noStrike"/>
          </a:p>
        </p:txBody>
      </p:sp>
      <p:sp>
        <p:nvSpPr>
          <p:cNvPr id="479" name="Google Shape;479;p32"/>
          <p:cNvSpPr/>
          <p:nvPr/>
        </p:nvSpPr>
        <p:spPr>
          <a:xfrm>
            <a:off x="9791105" y="35093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3"/>
              </a:rPr>
              <a:t>pharmacytimes.com</a:t>
            </a:r>
            <a:r>
              <a:rPr b="0" i="0" lang="en-US" sz="1050" u="none" cap="none" strike="noStrike">
                <a:solidFill>
                  <a:srgbClr val="4C4C4D"/>
                </a:solidFill>
                <a:latin typeface="Heebo"/>
                <a:ea typeface="Heebo"/>
                <a:cs typeface="Heebo"/>
                <a:sym typeface="Heebo"/>
              </a:rPr>
              <a:t>: Mail Order and Supermarkets Outpace Chain Pharmacies in Customer Satisfaction</a:t>
            </a:r>
            <a:endParaRPr b="0" i="0" sz="1050" u="none" cap="none" strike="noStrike"/>
          </a:p>
        </p:txBody>
      </p:sp>
      <p:sp>
        <p:nvSpPr>
          <p:cNvPr id="480" name="Google Shape;480;p32"/>
          <p:cNvSpPr/>
          <p:nvPr/>
        </p:nvSpPr>
        <p:spPr>
          <a:xfrm>
            <a:off x="9791105" y="398561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4"/>
              </a:rPr>
              <a:t>drugtopics.com</a:t>
            </a:r>
            <a:r>
              <a:rPr b="0" i="0" lang="en-US" sz="1050" u="none" cap="none" strike="noStrike">
                <a:solidFill>
                  <a:srgbClr val="4C4C4D"/>
                </a:solidFill>
                <a:latin typeface="Heebo"/>
                <a:ea typeface="Heebo"/>
                <a:cs typeface="Heebo"/>
                <a:sym typeface="Heebo"/>
              </a:rPr>
              <a:t>: Brick-and-Mortar Pharmacy Satisfaction Lags Behind Supermarket, Mail Order Pharmacies</a:t>
            </a:r>
            <a:endParaRPr b="0" i="0" sz="1050" u="none" cap="none" strike="noStrike"/>
          </a:p>
        </p:txBody>
      </p:sp>
      <p:sp>
        <p:nvSpPr>
          <p:cNvPr id="481" name="Google Shape;481;p32"/>
          <p:cNvSpPr/>
          <p:nvPr/>
        </p:nvSpPr>
        <p:spPr>
          <a:xfrm>
            <a:off x="9791105" y="44618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5"/>
              </a:rPr>
              <a:t>arkenea.com</a:t>
            </a:r>
            <a:r>
              <a:rPr b="0" i="0" lang="en-US" sz="1050" u="none" cap="none" strike="noStrike">
                <a:solidFill>
                  <a:srgbClr val="4C4C4D"/>
                </a:solidFill>
                <a:latin typeface="Heebo"/>
                <a:ea typeface="Heebo"/>
                <a:cs typeface="Heebo"/>
                <a:sym typeface="Heebo"/>
              </a:rPr>
              <a:t>: 9 Transformative Pharmacy Technology Advancements</a:t>
            </a:r>
            <a:endParaRPr b="0" i="0" sz="1050" u="none" cap="none" strike="noStrike"/>
          </a:p>
        </p:txBody>
      </p:sp>
      <p:sp>
        <p:nvSpPr>
          <p:cNvPr id="482" name="Google Shape;482;p32"/>
          <p:cNvSpPr/>
          <p:nvPr/>
        </p:nvSpPr>
        <p:spPr>
          <a:xfrm>
            <a:off x="9791105" y="493811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6"/>
              </a:rPr>
              <a:t>pharmacytimes.com</a:t>
            </a:r>
            <a:r>
              <a:rPr b="0" i="0" lang="en-US" sz="1050" u="none" cap="none" strike="noStrike">
                <a:solidFill>
                  <a:srgbClr val="4C4C4D"/>
                </a:solidFill>
                <a:latin typeface="Heebo"/>
                <a:ea typeface="Heebo"/>
                <a:cs typeface="Heebo"/>
                <a:sym typeface="Heebo"/>
              </a:rPr>
              <a:t>: Intelligent Pharmacy: Leveraging AI and Automation to Enhance Patient Care and Pharmacist Roles</a:t>
            </a:r>
            <a:endParaRPr b="0" i="0" sz="1050" u="none" cap="none" strike="noStrike"/>
          </a:p>
        </p:txBody>
      </p:sp>
      <p:sp>
        <p:nvSpPr>
          <p:cNvPr id="483" name="Google Shape;483;p32"/>
          <p:cNvSpPr/>
          <p:nvPr/>
        </p:nvSpPr>
        <p:spPr>
          <a:xfrm>
            <a:off x="9791105" y="54143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7"/>
              </a:rPr>
              <a:t>tandfonline.com</a:t>
            </a:r>
            <a:r>
              <a:rPr b="0" i="0" lang="en-US" sz="1050" u="none" cap="none" strike="noStrike">
                <a:solidFill>
                  <a:srgbClr val="4C4C4D"/>
                </a:solidFill>
                <a:latin typeface="Heebo"/>
                <a:ea typeface="Heebo"/>
                <a:cs typeface="Heebo"/>
                <a:sym typeface="Heebo"/>
              </a:rPr>
              <a:t>: Applications of AI in pharmacy practice: a look at hospital and community settings</a:t>
            </a:r>
            <a:endParaRPr b="0" i="0" sz="1050" u="none" cap="none" strike="noStrike"/>
          </a:p>
        </p:txBody>
      </p:sp>
      <p:sp>
        <p:nvSpPr>
          <p:cNvPr id="484" name="Google Shape;484;p32"/>
          <p:cNvSpPr/>
          <p:nvPr/>
        </p:nvSpPr>
        <p:spPr>
          <a:xfrm>
            <a:off x="9791105" y="589061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8"/>
              </a:rPr>
              <a:t>namusical.com</a:t>
            </a:r>
            <a:r>
              <a:rPr b="0" i="0" lang="en-US" sz="1050" u="none" cap="none" strike="noStrike">
                <a:solidFill>
                  <a:srgbClr val="4C4C4D"/>
                </a:solidFill>
                <a:latin typeface="Heebo"/>
                <a:ea typeface="Heebo"/>
                <a:cs typeface="Heebo"/>
                <a:sym typeface="Heebo"/>
              </a:rPr>
              <a:t>: The Evolution of CVS's Expansion into Online Prescriptions and Telemedicine: A Path to Enhanced Patient Care</a:t>
            </a:r>
            <a:endParaRPr b="0" i="0" sz="1050" u="none" cap="none" strike="noStrike"/>
          </a:p>
        </p:txBody>
      </p:sp>
      <p:sp>
        <p:nvSpPr>
          <p:cNvPr id="485" name="Google Shape;485;p32"/>
          <p:cNvSpPr/>
          <p:nvPr/>
        </p:nvSpPr>
        <p:spPr>
          <a:xfrm>
            <a:off x="9791105" y="6366867"/>
            <a:ext cx="4132064" cy="42933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39"/>
              </a:rPr>
              <a:t>ruralhealthinfo.org</a:t>
            </a:r>
            <a:r>
              <a:rPr b="0" i="0" lang="en-US" sz="1050" u="none" cap="none" strike="noStrike">
                <a:solidFill>
                  <a:srgbClr val="4C4C4D"/>
                </a:solidFill>
                <a:latin typeface="Heebo"/>
                <a:ea typeface="Heebo"/>
                <a:cs typeface="Heebo"/>
                <a:sym typeface="Heebo"/>
              </a:rPr>
              <a:t>: Telehealth Models for Increasing Access to Pharmacy Services</a:t>
            </a:r>
            <a:endParaRPr b="0" i="0" sz="1050" u="none" cap="none" strike="noStrike"/>
          </a:p>
        </p:txBody>
      </p:sp>
      <p:sp>
        <p:nvSpPr>
          <p:cNvPr id="486" name="Google Shape;486;p32"/>
          <p:cNvSpPr/>
          <p:nvPr/>
        </p:nvSpPr>
        <p:spPr>
          <a:xfrm>
            <a:off x="9791105" y="6843117"/>
            <a:ext cx="4132064" cy="21467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B31849"/>
              </a:buClr>
              <a:buSzPts val="1050"/>
              <a:buFont typeface="Heebo"/>
              <a:buNone/>
            </a:pPr>
            <a:r>
              <a:rPr b="0" i="0" lang="en-US" sz="1050" u="sng" cap="none" strike="noStrike">
                <a:solidFill>
                  <a:schemeClr val="hlink"/>
                </a:solidFill>
                <a:latin typeface="Heebo"/>
                <a:ea typeface="Heebo"/>
                <a:cs typeface="Heebo"/>
                <a:sym typeface="Heebo"/>
                <a:hlinkClick r:id="rId40"/>
              </a:rPr>
              <a:t>pmc.ncbi.nlm.nih.gov</a:t>
            </a:r>
            <a:r>
              <a:rPr b="0" i="0" lang="en-US" sz="1050" u="none" cap="none" strike="noStrike">
                <a:solidFill>
                  <a:srgbClr val="4C4C4D"/>
                </a:solidFill>
                <a:latin typeface="Heebo"/>
                <a:ea typeface="Heebo"/>
                <a:cs typeface="Heebo"/>
                <a:sym typeface="Heebo"/>
              </a:rPr>
              <a:t>: The era of telehealth pharmacy practice</a:t>
            </a:r>
            <a:endParaRPr b="0" i="0" sz="10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