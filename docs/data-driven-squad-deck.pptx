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8229600" cx="14630400"/>
  <p:notesSz cx="8229600" cy="14630400"/>
  <p:embeddedFontLst>
    <p:embeddedFont>
      <p:font typeface="Instrument Sans SemiBold"/>
      <p:regular r:id="rId14"/>
      <p:bold r:id="rId15"/>
      <p:italic r:id="rId16"/>
      <p:boldItalic r:id="rId17"/>
    </p:embeddedFont>
    <p:embeddedFont>
      <p:font typeface="Instrument Sans Medium"/>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strumentSansMedium-italic.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InstrumentSansMedium-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InstrumentSansSemiBold-bold.fntdata"/><Relationship Id="rId14" Type="http://schemas.openxmlformats.org/officeDocument/2006/relationships/font" Target="fonts/InstrumentSansSemiBold-regular.fntdata"/><Relationship Id="rId17" Type="http://schemas.openxmlformats.org/officeDocument/2006/relationships/font" Target="fonts/InstrumentSansSemiBold-boldItalic.fntdata"/><Relationship Id="rId16" Type="http://schemas.openxmlformats.org/officeDocument/2006/relationships/font" Target="fonts/InstrumentSansSemiBold-italic.fntdata"/><Relationship Id="rId5" Type="http://schemas.openxmlformats.org/officeDocument/2006/relationships/slide" Target="slides/slide1.xml"/><Relationship Id="rId19" Type="http://schemas.openxmlformats.org/officeDocument/2006/relationships/font" Target="fonts/InstrumentSansMedium-bold.fntdata"/><Relationship Id="rId6" Type="http://schemas.openxmlformats.org/officeDocument/2006/relationships/slide" Target="slides/slide2.xml"/><Relationship Id="rId18" Type="http://schemas.openxmlformats.org/officeDocument/2006/relationships/font" Target="fonts/InstrumentSansMedium-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2"/>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3"/>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4"/>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5"/>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6"/>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7"/>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8"/>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9"/>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pic>
        <p:nvPicPr>
          <p:cNvPr descr="preencoded.png" id="43" name="Google Shape;43;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4" name="Google Shape;44;p10"/>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9.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pic>
        <p:nvPicPr>
          <p:cNvPr descr="preencoded.png" id="52" name="Google Shape;52;p12"/>
          <p:cNvPicPr preferRelativeResize="0"/>
          <p:nvPr/>
        </p:nvPicPr>
        <p:blipFill rotWithShape="1">
          <a:blip r:embed="rId3">
            <a:alphaModFix/>
          </a:blip>
          <a:srcRect b="0" l="0" r="0" t="0"/>
          <a:stretch/>
        </p:blipFill>
        <p:spPr>
          <a:xfrm>
            <a:off x="0" y="0"/>
            <a:ext cx="14630400" cy="8229957"/>
          </a:xfrm>
          <a:prstGeom prst="rect">
            <a:avLst/>
          </a:prstGeom>
          <a:noFill/>
          <a:ln>
            <a:noFill/>
          </a:ln>
        </p:spPr>
      </p:pic>
      <p:sp>
        <p:nvSpPr>
          <p:cNvPr id="53" name="Google Shape;53;p12"/>
          <p:cNvSpPr/>
          <p:nvPr/>
        </p:nvSpPr>
        <p:spPr>
          <a:xfrm>
            <a:off x="0" y="0"/>
            <a:ext cx="14630400" cy="8229957"/>
          </a:xfrm>
          <a:prstGeom prst="rect">
            <a:avLst/>
          </a:prstGeom>
          <a:solidFill>
            <a:srgbClr val="FFFFFF">
              <a:alpha val="8470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2"/>
          <p:cNvSpPr/>
          <p:nvPr/>
        </p:nvSpPr>
        <p:spPr>
          <a:xfrm>
            <a:off x="700445" y="550307"/>
            <a:ext cx="13229511" cy="562856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5468"/>
              </a:buClr>
              <a:buSzPts val="11800"/>
              <a:buFont typeface="Instrument Sans SemiBold"/>
              <a:buNone/>
            </a:pPr>
            <a:r>
              <a:rPr b="1" i="0" lang="en-US" sz="11800" u="none" cap="none" strike="noStrike">
                <a:solidFill>
                  <a:srgbClr val="505468"/>
                </a:solidFill>
                <a:latin typeface="Instrument Sans SemiBold"/>
                <a:ea typeface="Instrument Sans SemiBold"/>
                <a:cs typeface="Instrument Sans SemiBold"/>
                <a:sym typeface="Instrument Sans SemiBold"/>
              </a:rPr>
              <a:t>Data-Driven Squad Construction</a:t>
            </a:r>
            <a:endParaRPr b="0" i="0" sz="11800" u="none" cap="none" strike="noStrike"/>
          </a:p>
        </p:txBody>
      </p:sp>
      <p:sp>
        <p:nvSpPr>
          <p:cNvPr id="55" name="Google Shape;55;p12"/>
          <p:cNvSpPr/>
          <p:nvPr/>
        </p:nvSpPr>
        <p:spPr>
          <a:xfrm>
            <a:off x="700451" y="6479025"/>
            <a:ext cx="11777100" cy="500400"/>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505468"/>
              </a:buClr>
              <a:buSzPts val="3150"/>
              <a:buFont typeface="Instrument Sans SemiBold"/>
              <a:buNone/>
            </a:pPr>
            <a:r>
              <a:rPr b="1" i="0" lang="en-US" sz="3150" u="none" cap="none" strike="noStrike">
                <a:solidFill>
                  <a:srgbClr val="505468"/>
                </a:solidFill>
                <a:latin typeface="Instrument Sans SemiBold"/>
                <a:ea typeface="Instrument Sans SemiBold"/>
                <a:cs typeface="Instrument Sans SemiBold"/>
                <a:sym typeface="Instrument Sans SemiBold"/>
              </a:rPr>
              <a:t>Building the Inaugural Roster for Durham Top Dogs F.C.</a:t>
            </a:r>
            <a:endParaRPr b="0" i="0" sz="3150" u="none" cap="none" strike="noStrike"/>
          </a:p>
        </p:txBody>
      </p:sp>
      <p:sp>
        <p:nvSpPr>
          <p:cNvPr id="56" name="Google Shape;56;p12"/>
          <p:cNvSpPr/>
          <p:nvPr/>
        </p:nvSpPr>
        <p:spPr>
          <a:xfrm>
            <a:off x="700445" y="7279481"/>
            <a:ext cx="13229511" cy="400169"/>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SzPts val="1950"/>
              <a:buFont typeface="Arial"/>
              <a:buNone/>
            </a:pPr>
            <a:r>
              <a:t/>
            </a:r>
            <a:endParaRPr b="0" i="0" sz="19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p:nvPr/>
        </p:nvSpPr>
        <p:spPr>
          <a:xfrm>
            <a:off x="793811" y="749025"/>
            <a:ext cx="66894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5468"/>
              </a:buClr>
              <a:buSzPts val="2200"/>
              <a:buFont typeface="Instrument Sans SemiBold"/>
              <a:buNone/>
            </a:pPr>
            <a:r>
              <a:rPr b="1" i="0" lang="en-US" sz="2200" u="none" cap="none" strike="noStrike">
                <a:solidFill>
                  <a:srgbClr val="505468"/>
                </a:solidFill>
                <a:latin typeface="Instrument Sans SemiBold"/>
                <a:ea typeface="Instrument Sans SemiBold"/>
                <a:cs typeface="Instrument Sans SemiBold"/>
                <a:sym typeface="Instrument Sans SemiBold"/>
              </a:rPr>
              <a:t>STRATEGIC OVERVIEW</a:t>
            </a:r>
            <a:endParaRPr b="0" i="0" sz="2200" u="none" cap="none" strike="noStrike"/>
          </a:p>
        </p:txBody>
      </p:sp>
      <p:sp>
        <p:nvSpPr>
          <p:cNvPr id="63" name="Google Shape;63;p13"/>
          <p:cNvSpPr/>
          <p:nvPr/>
        </p:nvSpPr>
        <p:spPr>
          <a:xfrm>
            <a:off x="793802" y="1194075"/>
            <a:ext cx="12584400" cy="567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505468"/>
              </a:buClr>
              <a:buSzPts val="3550"/>
              <a:buFont typeface="Instrument Sans SemiBold"/>
              <a:buNone/>
            </a:pPr>
            <a:r>
              <a:rPr b="1" i="0" lang="en-US" sz="3550" u="none" cap="none" strike="noStrike">
                <a:solidFill>
                  <a:srgbClr val="505468"/>
                </a:solidFill>
                <a:latin typeface="Instrument Sans SemiBold"/>
                <a:ea typeface="Instrument Sans SemiBold"/>
                <a:cs typeface="Instrument Sans SemiBold"/>
                <a:sym typeface="Instrument Sans SemiBold"/>
              </a:rPr>
              <a:t>Gaining a Competitive Edge in an Inefficient Market</a:t>
            </a:r>
            <a:endParaRPr b="0" i="0" sz="3550" u="none" cap="none" strike="noStrike"/>
          </a:p>
        </p:txBody>
      </p:sp>
      <p:sp>
        <p:nvSpPr>
          <p:cNvPr id="64" name="Google Shape;64;p13"/>
          <p:cNvSpPr/>
          <p:nvPr/>
        </p:nvSpPr>
        <p:spPr>
          <a:xfrm>
            <a:off x="793790" y="2101215"/>
            <a:ext cx="4196358" cy="4398288"/>
          </a:xfrm>
          <a:prstGeom prst="roundRect">
            <a:avLst>
              <a:gd fmla="val 2270" name="adj"/>
            </a:avLst>
          </a:prstGeom>
          <a:solidFill>
            <a:srgbClr val="E2E3E9"/>
          </a:solidFill>
          <a:ln cap="flat" cmpd="sng" w="9525">
            <a:solidFill>
              <a:srgbClr val="5054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1028224" y="2335649"/>
            <a:ext cx="680442" cy="680442"/>
          </a:xfrm>
          <a:prstGeom prst="roundRect">
            <a:avLst>
              <a:gd fmla="val 13436980" name="adj"/>
            </a:avLst>
          </a:prstGeom>
          <a:solidFill>
            <a:srgbClr val="5054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6" name="Google Shape;66;p13"/>
          <p:cNvPicPr preferRelativeResize="0"/>
          <p:nvPr/>
        </p:nvPicPr>
        <p:blipFill rotWithShape="1">
          <a:blip r:embed="rId3">
            <a:alphaModFix/>
          </a:blip>
          <a:srcRect b="0" l="0" r="0" t="0"/>
          <a:stretch/>
        </p:blipFill>
        <p:spPr>
          <a:xfrm>
            <a:off x="1215390" y="2484477"/>
            <a:ext cx="306110" cy="382667"/>
          </a:xfrm>
          <a:prstGeom prst="rect">
            <a:avLst/>
          </a:prstGeom>
          <a:noFill/>
          <a:ln>
            <a:noFill/>
          </a:ln>
        </p:spPr>
      </p:pic>
      <p:sp>
        <p:nvSpPr>
          <p:cNvPr id="67" name="Google Shape;67;p13"/>
          <p:cNvSpPr/>
          <p:nvPr/>
        </p:nvSpPr>
        <p:spPr>
          <a:xfrm>
            <a:off x="1028224" y="3242905"/>
            <a:ext cx="3727490"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B5F71"/>
              </a:buClr>
              <a:buSzPts val="2200"/>
              <a:buFont typeface="Instrument Sans SemiBold"/>
              <a:buNone/>
            </a:pPr>
            <a:r>
              <a:rPr b="1" i="0" lang="en-US" sz="2200" u="none" cap="none" strike="noStrike">
                <a:solidFill>
                  <a:srgbClr val="5B5F71"/>
                </a:solidFill>
                <a:latin typeface="Instrument Sans SemiBold"/>
                <a:ea typeface="Instrument Sans SemiBold"/>
                <a:cs typeface="Instrument Sans SemiBold"/>
                <a:sym typeface="Instrument Sans SemiBold"/>
              </a:rPr>
              <a:t>The Problem: Speculation &amp; Risk</a:t>
            </a:r>
            <a:endParaRPr b="0" i="0" sz="2200" u="none" cap="none" strike="noStrike"/>
          </a:p>
        </p:txBody>
      </p:sp>
      <p:sp>
        <p:nvSpPr>
          <p:cNvPr id="68" name="Google Shape;68;p13"/>
          <p:cNvSpPr/>
          <p:nvPr/>
        </p:nvSpPr>
        <p:spPr>
          <a:xfrm>
            <a:off x="1028224" y="4087654"/>
            <a:ext cx="3727500" cy="2177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0" i="0" lang="en-US" sz="1750" u="none" cap="none" strike="noStrike">
                <a:solidFill>
                  <a:srgbClr val="5B5F71"/>
                </a:solidFill>
                <a:latin typeface="Instrument Sans Medium"/>
                <a:ea typeface="Instrument Sans Medium"/>
                <a:cs typeface="Instrument Sans Medium"/>
                <a:sym typeface="Instrument Sans Medium"/>
              </a:rPr>
              <a:t>The global transfer market is driven by speculation, leading to inflated prices and high-risk investments. Traditional scouting is subjective and often misses high-value opportunities.</a:t>
            </a:r>
            <a:endParaRPr b="0" i="0" sz="1750" u="none" cap="none" strike="noStrike"/>
          </a:p>
        </p:txBody>
      </p:sp>
      <p:sp>
        <p:nvSpPr>
          <p:cNvPr id="69" name="Google Shape;69;p13"/>
          <p:cNvSpPr/>
          <p:nvPr/>
        </p:nvSpPr>
        <p:spPr>
          <a:xfrm>
            <a:off x="5216962" y="2101215"/>
            <a:ext cx="4196358" cy="4398288"/>
          </a:xfrm>
          <a:prstGeom prst="roundRect">
            <a:avLst>
              <a:gd fmla="val 2270" name="adj"/>
            </a:avLst>
          </a:prstGeom>
          <a:solidFill>
            <a:srgbClr val="E2E3E9"/>
          </a:solidFill>
          <a:ln cap="flat" cmpd="sng" w="9525">
            <a:solidFill>
              <a:srgbClr val="FF7F0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5451396" y="2335649"/>
            <a:ext cx="680442" cy="680442"/>
          </a:xfrm>
          <a:prstGeom prst="roundRect">
            <a:avLst>
              <a:gd fmla="val 13436980" name="adj"/>
            </a:avLst>
          </a:prstGeom>
          <a:solidFill>
            <a:srgbClr val="FF7F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 name="Google Shape;71;p13"/>
          <p:cNvPicPr preferRelativeResize="0"/>
          <p:nvPr/>
        </p:nvPicPr>
        <p:blipFill rotWithShape="1">
          <a:blip r:embed="rId4">
            <a:alphaModFix/>
          </a:blip>
          <a:srcRect b="0" l="0" r="0" t="0"/>
          <a:stretch/>
        </p:blipFill>
        <p:spPr>
          <a:xfrm>
            <a:off x="5638562" y="2484477"/>
            <a:ext cx="306110" cy="382667"/>
          </a:xfrm>
          <a:prstGeom prst="rect">
            <a:avLst/>
          </a:prstGeom>
          <a:noFill/>
          <a:ln>
            <a:noFill/>
          </a:ln>
        </p:spPr>
      </p:pic>
      <p:sp>
        <p:nvSpPr>
          <p:cNvPr id="72" name="Google Shape;72;p13"/>
          <p:cNvSpPr/>
          <p:nvPr/>
        </p:nvSpPr>
        <p:spPr>
          <a:xfrm>
            <a:off x="5451396" y="3242905"/>
            <a:ext cx="3727490"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B5F71"/>
              </a:buClr>
              <a:buSzPts val="2200"/>
              <a:buFont typeface="Instrument Sans SemiBold"/>
              <a:buNone/>
            </a:pPr>
            <a:r>
              <a:rPr b="1" i="0" lang="en-US" sz="2200" u="none" cap="none" strike="noStrike">
                <a:solidFill>
                  <a:srgbClr val="5B5F71"/>
                </a:solidFill>
                <a:latin typeface="Instrument Sans SemiBold"/>
                <a:ea typeface="Instrument Sans SemiBold"/>
                <a:cs typeface="Instrument Sans SemiBold"/>
                <a:sym typeface="Instrument Sans SemiBold"/>
              </a:rPr>
              <a:t>Our Solution: Empirical Data Science</a:t>
            </a:r>
            <a:endParaRPr b="0" i="0" sz="2200" u="none" cap="none" strike="noStrike"/>
          </a:p>
        </p:txBody>
      </p:sp>
      <p:sp>
        <p:nvSpPr>
          <p:cNvPr id="73" name="Google Shape;73;p13"/>
          <p:cNvSpPr/>
          <p:nvPr/>
        </p:nvSpPr>
        <p:spPr>
          <a:xfrm>
            <a:off x="5451396" y="4087654"/>
            <a:ext cx="372749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0" i="0" lang="en-US" sz="1750" u="none" cap="none" strike="noStrike">
                <a:solidFill>
                  <a:srgbClr val="5B5F71"/>
                </a:solidFill>
                <a:latin typeface="Instrument Sans Medium"/>
                <a:ea typeface="Instrument Sans Medium"/>
                <a:cs typeface="Instrument Sans Medium"/>
                <a:sym typeface="Instrument Sans Medium"/>
              </a:rPr>
              <a:t>A multi-stage data science model replaces speculation with empirical evidence to identify undervalued talent and build a tactically balanced squad.</a:t>
            </a:r>
            <a:endParaRPr b="0" i="0" sz="1750" u="none" cap="none" strike="noStrike"/>
          </a:p>
        </p:txBody>
      </p:sp>
      <p:sp>
        <p:nvSpPr>
          <p:cNvPr id="74" name="Google Shape;74;p13"/>
          <p:cNvSpPr/>
          <p:nvPr/>
        </p:nvSpPr>
        <p:spPr>
          <a:xfrm>
            <a:off x="9640133" y="2101215"/>
            <a:ext cx="4196358" cy="4398288"/>
          </a:xfrm>
          <a:prstGeom prst="roundRect">
            <a:avLst>
              <a:gd fmla="val 2270" name="adj"/>
            </a:avLst>
          </a:prstGeom>
          <a:solidFill>
            <a:srgbClr val="E2E3E9"/>
          </a:solidFill>
          <a:ln cap="flat" cmpd="sng" w="9525">
            <a:solidFill>
              <a:srgbClr val="2CA0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a:off x="9874568" y="2335649"/>
            <a:ext cx="680442" cy="680442"/>
          </a:xfrm>
          <a:prstGeom prst="roundRect">
            <a:avLst>
              <a:gd fmla="val 13436980" name="adj"/>
            </a:avLst>
          </a:prstGeom>
          <a:solidFill>
            <a:srgbClr val="2CA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6" name="Google Shape;76;p13"/>
          <p:cNvPicPr preferRelativeResize="0"/>
          <p:nvPr/>
        </p:nvPicPr>
        <p:blipFill rotWithShape="1">
          <a:blip r:embed="rId5">
            <a:alphaModFix/>
          </a:blip>
          <a:srcRect b="0" l="0" r="0" t="0"/>
          <a:stretch/>
        </p:blipFill>
        <p:spPr>
          <a:xfrm>
            <a:off x="10061734" y="2484477"/>
            <a:ext cx="306110" cy="382667"/>
          </a:xfrm>
          <a:prstGeom prst="rect">
            <a:avLst/>
          </a:prstGeom>
          <a:noFill/>
          <a:ln>
            <a:noFill/>
          </a:ln>
        </p:spPr>
      </p:pic>
      <p:sp>
        <p:nvSpPr>
          <p:cNvPr id="77" name="Google Shape;77;p13"/>
          <p:cNvSpPr/>
          <p:nvPr/>
        </p:nvSpPr>
        <p:spPr>
          <a:xfrm>
            <a:off x="9874568" y="3242905"/>
            <a:ext cx="3727490"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B5F71"/>
              </a:buClr>
              <a:buSzPts val="2200"/>
              <a:buFont typeface="Instrument Sans SemiBold"/>
              <a:buNone/>
            </a:pPr>
            <a:r>
              <a:rPr b="1" i="0" lang="en-US" sz="2200" u="none" cap="none" strike="noStrike">
                <a:solidFill>
                  <a:srgbClr val="5B5F71"/>
                </a:solidFill>
                <a:latin typeface="Instrument Sans SemiBold"/>
                <a:ea typeface="Instrument Sans SemiBold"/>
                <a:cs typeface="Instrument Sans SemiBold"/>
                <a:sym typeface="Instrument Sans SemiBold"/>
              </a:rPr>
              <a:t>The Strategic Advantage: ROI</a:t>
            </a:r>
            <a:endParaRPr b="0" i="0" sz="2200" u="none" cap="none" strike="noStrike"/>
          </a:p>
        </p:txBody>
      </p:sp>
      <p:sp>
        <p:nvSpPr>
          <p:cNvPr id="78" name="Google Shape;78;p13"/>
          <p:cNvSpPr/>
          <p:nvPr/>
        </p:nvSpPr>
        <p:spPr>
          <a:xfrm>
            <a:off x="9874568" y="4087654"/>
            <a:ext cx="3727490"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0" i="0" lang="en-US" sz="1750" u="none" cap="none" strike="noStrike">
                <a:solidFill>
                  <a:srgbClr val="5B5F71"/>
                </a:solidFill>
                <a:latin typeface="Instrument Sans Medium"/>
                <a:ea typeface="Instrument Sans Medium"/>
                <a:cs typeface="Instrument Sans Medium"/>
                <a:sym typeface="Instrument Sans Medium"/>
              </a:rPr>
              <a:t>By leveraging data, we assemble a highly competitive team for a fraction of the market cost, ensuring financial sustainability and maximizing return on investment.</a:t>
            </a:r>
            <a:endParaRPr b="0" i="0" sz="1750" u="none" cap="none" strike="noStrike"/>
          </a:p>
        </p:txBody>
      </p:sp>
      <p:sp>
        <p:nvSpPr>
          <p:cNvPr id="79" name="Google Shape;79;p13"/>
          <p:cNvSpPr/>
          <p:nvPr/>
        </p:nvSpPr>
        <p:spPr>
          <a:xfrm>
            <a:off x="793790" y="6754654"/>
            <a:ext cx="13042821" cy="725805"/>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5B5F71"/>
              </a:buClr>
              <a:buSzPts val="1750"/>
              <a:buFont typeface="Instrument Sans Medium"/>
              <a:buNone/>
            </a:pPr>
            <a:r>
              <a:rPr b="0" i="0" lang="en-US" sz="1750" u="none" cap="none" strike="noStrike">
                <a:solidFill>
                  <a:srgbClr val="5B5F71"/>
                </a:solidFill>
                <a:latin typeface="Instrument Sans Medium"/>
                <a:ea typeface="Instrument Sans Medium"/>
                <a:cs typeface="Instrument Sans Medium"/>
                <a:sym typeface="Instrument Sans Medium"/>
              </a:rPr>
              <a:t>The result is a complete, deployable 25-man roster, chemistry-optimized tactical lineups, and a data-driven playbook to guide the coaching staff from day one.</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4"/>
          <p:cNvSpPr/>
          <p:nvPr/>
        </p:nvSpPr>
        <p:spPr>
          <a:xfrm>
            <a:off x="666020" y="543175"/>
            <a:ext cx="13832400" cy="59460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505468"/>
              </a:buClr>
              <a:buSzPts val="3700"/>
              <a:buFont typeface="Instrument Sans SemiBold"/>
              <a:buNone/>
            </a:pPr>
            <a:r>
              <a:rPr b="1" i="0" lang="en-US" sz="3700" u="none" cap="none" strike="noStrike">
                <a:solidFill>
                  <a:srgbClr val="505468"/>
                </a:solidFill>
                <a:latin typeface="Instrument Sans SemiBold"/>
                <a:ea typeface="Instrument Sans SemiBold"/>
                <a:cs typeface="Instrument Sans SemiBold"/>
                <a:sym typeface="Instrument Sans SemiBold"/>
              </a:rPr>
              <a:t>The Process: Our 3-Stage Analytical Engine</a:t>
            </a:r>
            <a:endParaRPr b="0" i="0" sz="3700" u="none" cap="none" strike="noStrike"/>
          </a:p>
        </p:txBody>
      </p:sp>
      <p:sp>
        <p:nvSpPr>
          <p:cNvPr id="86" name="Google Shape;86;p14"/>
          <p:cNvSpPr/>
          <p:nvPr/>
        </p:nvSpPr>
        <p:spPr>
          <a:xfrm>
            <a:off x="666016" y="1213950"/>
            <a:ext cx="13436700" cy="35670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505468"/>
              </a:buClr>
              <a:buSzPts val="2200"/>
              <a:buFont typeface="Instrument Sans SemiBold"/>
              <a:buNone/>
            </a:pPr>
            <a:r>
              <a:rPr b="1" i="0" lang="en-US" sz="2200" u="none" cap="none" strike="noStrike">
                <a:solidFill>
                  <a:srgbClr val="505468"/>
                </a:solidFill>
                <a:latin typeface="Instrument Sans SemiBold"/>
                <a:ea typeface="Instrument Sans SemiBold"/>
                <a:cs typeface="Instrument Sans SemiBold"/>
                <a:sym typeface="Instrument Sans SemiBold"/>
              </a:rPr>
              <a:t>From 18,000 Players to a Championship-Caliber Squad</a:t>
            </a:r>
            <a:endParaRPr b="0" i="0" sz="2200" u="none" cap="none" strike="noStrike"/>
          </a:p>
        </p:txBody>
      </p:sp>
      <p:pic>
        <p:nvPicPr>
          <p:cNvPr descr="preencoded.png" id="87" name="Google Shape;87;p14"/>
          <p:cNvPicPr preferRelativeResize="0"/>
          <p:nvPr/>
        </p:nvPicPr>
        <p:blipFill rotWithShape="1">
          <a:blip r:embed="rId3">
            <a:alphaModFix/>
          </a:blip>
          <a:srcRect b="0" l="0" r="0" t="0"/>
          <a:stretch/>
        </p:blipFill>
        <p:spPr>
          <a:xfrm>
            <a:off x="666036" y="1856065"/>
            <a:ext cx="4432697" cy="761167"/>
          </a:xfrm>
          <a:prstGeom prst="rect">
            <a:avLst/>
          </a:prstGeom>
          <a:noFill/>
          <a:ln>
            <a:noFill/>
          </a:ln>
        </p:spPr>
      </p:pic>
      <p:sp>
        <p:nvSpPr>
          <p:cNvPr id="88" name="Google Shape;88;p14"/>
          <p:cNvSpPr/>
          <p:nvPr/>
        </p:nvSpPr>
        <p:spPr>
          <a:xfrm>
            <a:off x="856300" y="2807500"/>
            <a:ext cx="4052100" cy="2973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B5F71"/>
              </a:buClr>
              <a:buSzPts val="1850"/>
              <a:buFont typeface="Instrument Sans SemiBold"/>
              <a:buNone/>
            </a:pPr>
            <a:r>
              <a:rPr b="1" i="0" lang="en-US" sz="1850" u="none" cap="none" strike="noStrike">
                <a:solidFill>
                  <a:srgbClr val="5B5F71"/>
                </a:solidFill>
                <a:latin typeface="Instrument Sans SemiBold"/>
                <a:ea typeface="Instrument Sans SemiBold"/>
                <a:cs typeface="Instrument Sans SemiBold"/>
                <a:sym typeface="Instrument Sans SemiBold"/>
              </a:rPr>
              <a:t>1. Style Identification (K-Means)</a:t>
            </a:r>
            <a:endParaRPr b="0" i="0" sz="1850" u="none" cap="none" strike="noStrike"/>
          </a:p>
        </p:txBody>
      </p:sp>
      <p:sp>
        <p:nvSpPr>
          <p:cNvPr id="89" name="Google Shape;89;p14"/>
          <p:cNvSpPr/>
          <p:nvPr/>
        </p:nvSpPr>
        <p:spPr>
          <a:xfrm>
            <a:off x="856298" y="3218855"/>
            <a:ext cx="4052173" cy="912971"/>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What:</a:t>
            </a:r>
            <a:r>
              <a:rPr b="0" i="0" lang="en-US" sz="1450" u="none" cap="none" strike="noStrike">
                <a:solidFill>
                  <a:srgbClr val="5B5F71"/>
                </a:solidFill>
                <a:latin typeface="Instrument Sans Medium"/>
                <a:ea typeface="Instrument Sans Medium"/>
                <a:cs typeface="Instrument Sans Medium"/>
                <a:sym typeface="Instrument Sans Medium"/>
              </a:rPr>
              <a:t> We segment all players into four distinct tactical archetypes based on 30+ skill attributes.</a:t>
            </a:r>
            <a:endParaRPr b="0" i="0" sz="1450" u="none" cap="none" strike="noStrike"/>
          </a:p>
        </p:txBody>
      </p:sp>
      <p:sp>
        <p:nvSpPr>
          <p:cNvPr id="90" name="Google Shape;90;p14"/>
          <p:cNvSpPr/>
          <p:nvPr/>
        </p:nvSpPr>
        <p:spPr>
          <a:xfrm>
            <a:off x="856298" y="4245888"/>
            <a:ext cx="4052173" cy="912971"/>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Why:</a:t>
            </a:r>
            <a:r>
              <a:rPr b="0" i="0" lang="en-US" sz="1450" u="none" cap="none" strike="noStrike">
                <a:solidFill>
                  <a:srgbClr val="5B5F71"/>
                </a:solidFill>
                <a:latin typeface="Instrument Sans Medium"/>
                <a:ea typeface="Instrument Sans Medium"/>
                <a:cs typeface="Instrument Sans Medium"/>
                <a:sym typeface="Instrument Sans Medium"/>
              </a:rPr>
              <a:t> To ensure the final squad is tactically diverse and versatile, not just a collection of high-rated individuals.</a:t>
            </a:r>
            <a:endParaRPr b="0" i="0" sz="1450" u="none" cap="none" strike="noStrike"/>
          </a:p>
        </p:txBody>
      </p:sp>
      <p:pic>
        <p:nvPicPr>
          <p:cNvPr descr="preencoded.png" id="91" name="Google Shape;91;p14"/>
          <p:cNvPicPr preferRelativeResize="0"/>
          <p:nvPr/>
        </p:nvPicPr>
        <p:blipFill rotWithShape="1">
          <a:blip r:embed="rId4">
            <a:alphaModFix/>
          </a:blip>
          <a:srcRect b="0" l="0" r="0" t="0"/>
          <a:stretch/>
        </p:blipFill>
        <p:spPr>
          <a:xfrm>
            <a:off x="5098732" y="1856065"/>
            <a:ext cx="4432816" cy="761167"/>
          </a:xfrm>
          <a:prstGeom prst="rect">
            <a:avLst/>
          </a:prstGeom>
          <a:noFill/>
          <a:ln>
            <a:noFill/>
          </a:ln>
        </p:spPr>
      </p:pic>
      <p:sp>
        <p:nvSpPr>
          <p:cNvPr id="92" name="Google Shape;92;p14"/>
          <p:cNvSpPr/>
          <p:nvPr/>
        </p:nvSpPr>
        <p:spPr>
          <a:xfrm>
            <a:off x="5289001" y="2807500"/>
            <a:ext cx="4432800" cy="2973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B5F71"/>
              </a:buClr>
              <a:buSzPts val="1850"/>
              <a:buFont typeface="Instrument Sans SemiBold"/>
              <a:buNone/>
            </a:pPr>
            <a:r>
              <a:rPr b="1" i="0" lang="en-US" sz="1850" u="none" cap="none" strike="noStrike">
                <a:solidFill>
                  <a:srgbClr val="5B5F71"/>
                </a:solidFill>
                <a:latin typeface="Instrument Sans SemiBold"/>
                <a:ea typeface="Instrument Sans SemiBold"/>
                <a:cs typeface="Instrument Sans SemiBold"/>
                <a:sym typeface="Instrument Sans SemiBold"/>
              </a:rPr>
              <a:t>2. Value Discovery (Random Forest)</a:t>
            </a:r>
            <a:endParaRPr b="0" i="0" sz="1850" u="none" cap="none" strike="noStrike"/>
          </a:p>
        </p:txBody>
      </p:sp>
      <p:sp>
        <p:nvSpPr>
          <p:cNvPr id="93" name="Google Shape;93;p14"/>
          <p:cNvSpPr/>
          <p:nvPr/>
        </p:nvSpPr>
        <p:spPr>
          <a:xfrm>
            <a:off x="5288994" y="3218855"/>
            <a:ext cx="4052292" cy="912971"/>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What:</a:t>
            </a:r>
            <a:r>
              <a:rPr b="0" i="0" lang="en-US" sz="1450" u="none" cap="none" strike="noStrike">
                <a:solidFill>
                  <a:srgbClr val="5B5F71"/>
                </a:solidFill>
                <a:latin typeface="Instrument Sans Medium"/>
                <a:ea typeface="Instrument Sans Medium"/>
                <a:cs typeface="Instrument Sans Medium"/>
                <a:sym typeface="Instrument Sans Medium"/>
              </a:rPr>
              <a:t> We build a model to predict a player's objective market value, identifying those the market has undervalued.</a:t>
            </a:r>
            <a:endParaRPr b="0" i="0" sz="1450" u="none" cap="none" strike="noStrike"/>
          </a:p>
        </p:txBody>
      </p:sp>
      <p:sp>
        <p:nvSpPr>
          <p:cNvPr id="94" name="Google Shape;94;p14"/>
          <p:cNvSpPr/>
          <p:nvPr/>
        </p:nvSpPr>
        <p:spPr>
          <a:xfrm>
            <a:off x="5288994" y="4245888"/>
            <a:ext cx="4052292" cy="912971"/>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Why:</a:t>
            </a:r>
            <a:r>
              <a:rPr b="0" i="0" lang="en-US" sz="1450" u="none" cap="none" strike="noStrike">
                <a:solidFill>
                  <a:srgbClr val="5B5F71"/>
                </a:solidFill>
                <a:latin typeface="Instrument Sans Medium"/>
                <a:ea typeface="Instrument Sans Medium"/>
                <a:cs typeface="Instrument Sans Medium"/>
                <a:sym typeface="Instrument Sans Medium"/>
              </a:rPr>
              <a:t> To create a shortlist of high-potential, cost-effective transfer targets and avoid overpaying.</a:t>
            </a:r>
            <a:endParaRPr b="0" i="0" sz="1450" u="none" cap="none" strike="noStrike"/>
          </a:p>
        </p:txBody>
      </p:sp>
      <p:pic>
        <p:nvPicPr>
          <p:cNvPr descr="preencoded.png" id="95" name="Google Shape;95;p14"/>
          <p:cNvPicPr preferRelativeResize="0"/>
          <p:nvPr/>
        </p:nvPicPr>
        <p:blipFill rotWithShape="1">
          <a:blip r:embed="rId5">
            <a:alphaModFix/>
          </a:blip>
          <a:srcRect b="0" l="0" r="0" t="0"/>
          <a:stretch/>
        </p:blipFill>
        <p:spPr>
          <a:xfrm>
            <a:off x="9531548" y="1856065"/>
            <a:ext cx="4432816" cy="761167"/>
          </a:xfrm>
          <a:prstGeom prst="rect">
            <a:avLst/>
          </a:prstGeom>
          <a:noFill/>
          <a:ln>
            <a:noFill/>
          </a:ln>
        </p:spPr>
      </p:pic>
      <p:sp>
        <p:nvSpPr>
          <p:cNvPr id="96" name="Google Shape;96;p14"/>
          <p:cNvSpPr/>
          <p:nvPr/>
        </p:nvSpPr>
        <p:spPr>
          <a:xfrm>
            <a:off x="9721810" y="2807494"/>
            <a:ext cx="4052292" cy="594598"/>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B5F71"/>
              </a:buClr>
              <a:buSzPts val="1850"/>
              <a:buFont typeface="Instrument Sans SemiBold"/>
              <a:buNone/>
            </a:pPr>
            <a:r>
              <a:rPr b="1" i="0" lang="en-US" sz="1850" u="none" cap="none" strike="noStrike">
                <a:solidFill>
                  <a:srgbClr val="5B5F71"/>
                </a:solidFill>
                <a:latin typeface="Instrument Sans SemiBold"/>
                <a:ea typeface="Instrument Sans SemiBold"/>
                <a:cs typeface="Instrument Sans SemiBold"/>
                <a:sym typeface="Instrument Sans SemiBold"/>
              </a:rPr>
              <a:t>3. Squad Optimization (Linear Programming)</a:t>
            </a:r>
            <a:endParaRPr b="0" i="0" sz="1850" u="none" cap="none" strike="noStrike"/>
          </a:p>
        </p:txBody>
      </p:sp>
      <p:sp>
        <p:nvSpPr>
          <p:cNvPr id="97" name="Google Shape;97;p14"/>
          <p:cNvSpPr/>
          <p:nvPr/>
        </p:nvSpPr>
        <p:spPr>
          <a:xfrm>
            <a:off x="9721810" y="3516154"/>
            <a:ext cx="4052292" cy="1217295"/>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What:</a:t>
            </a:r>
            <a:r>
              <a:rPr b="0" i="0" lang="en-US" sz="1450" u="none" cap="none" strike="noStrike">
                <a:solidFill>
                  <a:srgbClr val="5B5F71"/>
                </a:solidFill>
                <a:latin typeface="Instrument Sans Medium"/>
                <a:ea typeface="Instrument Sans Medium"/>
                <a:cs typeface="Instrument Sans Medium"/>
                <a:sym typeface="Instrument Sans Medium"/>
              </a:rPr>
              <a:t> We select the final 25 players that maximize "value for money" while meeting strict budget, positional quotas and favoring player chemistry.</a:t>
            </a:r>
            <a:endParaRPr b="0" i="0" sz="1450" u="none" cap="none" strike="noStrike"/>
          </a:p>
        </p:txBody>
      </p:sp>
      <p:sp>
        <p:nvSpPr>
          <p:cNvPr id="98" name="Google Shape;98;p14"/>
          <p:cNvSpPr/>
          <p:nvPr/>
        </p:nvSpPr>
        <p:spPr>
          <a:xfrm>
            <a:off x="9721810" y="4847511"/>
            <a:ext cx="4052292" cy="1825943"/>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Why:</a:t>
            </a:r>
            <a:r>
              <a:rPr b="0" i="0" lang="en-US" sz="1450" u="none" cap="none" strike="noStrike">
                <a:solidFill>
                  <a:srgbClr val="5B5F71"/>
                </a:solidFill>
                <a:latin typeface="Instrument Sans Medium"/>
                <a:ea typeface="Instrument Sans Medium"/>
                <a:cs typeface="Instrument Sans Medium"/>
                <a:sym typeface="Instrument Sans Medium"/>
              </a:rPr>
              <a:t> To translate our data insights into the final, actionable team roster, also considering player chemistry factors like nationality and previous club connections when building the starting XI, not just individual player value and tactical balance.</a:t>
            </a:r>
            <a:endParaRPr b="0" i="0" sz="1450" u="none" cap="none" strike="noStrike"/>
          </a:p>
        </p:txBody>
      </p:sp>
      <p:sp>
        <p:nvSpPr>
          <p:cNvPr id="99" name="Google Shape;99;p14"/>
          <p:cNvSpPr/>
          <p:nvPr/>
        </p:nvSpPr>
        <p:spPr>
          <a:xfrm>
            <a:off x="666011" y="7111714"/>
            <a:ext cx="13298400" cy="608700"/>
          </a:xfrm>
          <a:prstGeom prst="rect">
            <a:avLst/>
          </a:prstGeom>
          <a:noFill/>
          <a:ln>
            <a:noFill/>
          </a:ln>
        </p:spPr>
        <p:txBody>
          <a:bodyPr anchorCtr="0" anchor="t" bIns="0" lIns="0" spcFirstLastPara="1" rIns="0" wrap="square" tIns="0">
            <a:noAutofit/>
          </a:bodyPr>
          <a:lstStyle/>
          <a:p>
            <a:pPr indent="0" lvl="0" marL="0" marR="0" rtl="0" algn="ctr">
              <a:lnSpc>
                <a:spcPct val="162068"/>
              </a:lnSpc>
              <a:spcBef>
                <a:spcPts val="0"/>
              </a:spcBef>
              <a:spcAft>
                <a:spcPts val="0"/>
              </a:spcAft>
              <a:buClr>
                <a:srgbClr val="5B5F71"/>
              </a:buClr>
              <a:buSzPts val="1450"/>
              <a:buFont typeface="Instrument Sans Medium"/>
              <a:buNone/>
            </a:pPr>
            <a:r>
              <a:rPr b="0" i="0" lang="en-US" sz="1450" u="none" cap="none" strike="noStrike">
                <a:solidFill>
                  <a:srgbClr val="5B5F71"/>
                </a:solidFill>
                <a:latin typeface="Instrument Sans Medium"/>
                <a:ea typeface="Instrument Sans Medium"/>
                <a:cs typeface="Instrument Sans Medium"/>
                <a:sym typeface="Instrument Sans Medium"/>
              </a:rPr>
              <a:t>Note : During the Value Discovery stage, we leveraged Random Forest to reassign player positions in our dataset. This crucial step ensures players are considered for positions that best fit their unique skill profiles, rather than relying solely on their original listed positions.</a:t>
            </a:r>
            <a:endParaRPr b="0" i="0" sz="1450" u="none" cap="none" strike="noStrike"/>
          </a:p>
        </p:txBody>
      </p:sp>
      <p:sp>
        <p:nvSpPr>
          <p:cNvPr id="100" name="Google Shape;100;p14"/>
          <p:cNvSpPr/>
          <p:nvPr/>
        </p:nvSpPr>
        <p:spPr>
          <a:xfrm>
            <a:off x="12521525" y="7512915"/>
            <a:ext cx="1977000" cy="68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4"/>
          <p:cNvSpPr txBox="1"/>
          <p:nvPr/>
        </p:nvSpPr>
        <p:spPr>
          <a:xfrm>
            <a:off x="3910225" y="7271275"/>
            <a:ext cx="1076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p:nvPr/>
        </p:nvSpPr>
        <p:spPr>
          <a:xfrm>
            <a:off x="751398" y="634235"/>
            <a:ext cx="12187500" cy="670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5468"/>
              </a:buClr>
              <a:buSzPts val="4200"/>
              <a:buFont typeface="Instrument Sans SemiBold"/>
              <a:buNone/>
            </a:pPr>
            <a:r>
              <a:rPr b="1" i="0" lang="en-US" sz="4200" u="none" cap="none" strike="noStrike">
                <a:solidFill>
                  <a:srgbClr val="505468"/>
                </a:solidFill>
                <a:latin typeface="Instrument Sans SemiBold"/>
                <a:ea typeface="Instrument Sans SemiBold"/>
                <a:cs typeface="Instrument Sans SemiBold"/>
                <a:sym typeface="Instrument Sans SemiBold"/>
              </a:rPr>
              <a:t>Stage 1 &amp; 2 - Identifying Targets</a:t>
            </a:r>
            <a:endParaRPr b="0" i="0" sz="4200" u="none" cap="none" strike="noStrike"/>
          </a:p>
        </p:txBody>
      </p:sp>
      <p:sp>
        <p:nvSpPr>
          <p:cNvPr id="108" name="Google Shape;108;p15"/>
          <p:cNvSpPr/>
          <p:nvPr/>
        </p:nvSpPr>
        <p:spPr>
          <a:xfrm>
            <a:off x="751403" y="1347073"/>
            <a:ext cx="7492960" cy="40255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505468"/>
              </a:buClr>
              <a:buSzPts val="2500"/>
              <a:buFont typeface="Instrument Sans SemiBold"/>
              <a:buNone/>
            </a:pPr>
            <a:r>
              <a:rPr b="1" i="0" lang="en-US" sz="2500" u="none" cap="none" strike="noStrike">
                <a:solidFill>
                  <a:srgbClr val="505468"/>
                </a:solidFill>
                <a:latin typeface="Instrument Sans SemiBold"/>
                <a:ea typeface="Instrument Sans SemiBold"/>
                <a:cs typeface="Instrument Sans SemiBold"/>
                <a:sym typeface="Instrument Sans SemiBold"/>
              </a:rPr>
              <a:t>Pinpointing Tactical Fits and Market Inefficiencies</a:t>
            </a:r>
            <a:endParaRPr b="0" i="0" sz="2500" u="none" cap="none" strike="noStrike"/>
          </a:p>
        </p:txBody>
      </p:sp>
      <p:sp>
        <p:nvSpPr>
          <p:cNvPr id="109" name="Google Shape;109;p15"/>
          <p:cNvSpPr/>
          <p:nvPr/>
        </p:nvSpPr>
        <p:spPr>
          <a:xfrm>
            <a:off x="751400" y="2286250"/>
            <a:ext cx="5619300" cy="335400"/>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505468"/>
              </a:buClr>
              <a:buSzPts val="2100"/>
              <a:buFont typeface="Instrument Sans SemiBold"/>
              <a:buNone/>
            </a:pPr>
            <a:r>
              <a:rPr b="1" i="0" lang="en-US" sz="2100" u="none" cap="none" strike="noStrike">
                <a:solidFill>
                  <a:srgbClr val="505468"/>
                </a:solidFill>
                <a:latin typeface="Instrument Sans SemiBold"/>
                <a:ea typeface="Instrument Sans SemiBold"/>
                <a:cs typeface="Instrument Sans SemiBold"/>
                <a:sym typeface="Instrument Sans SemiBold"/>
              </a:rPr>
              <a:t>Player Archetypes (K-Means Distribution)</a:t>
            </a:r>
            <a:endParaRPr b="0" i="0" sz="2100" u="none" cap="none" strike="noStrike"/>
          </a:p>
        </p:txBody>
      </p:sp>
      <p:pic>
        <p:nvPicPr>
          <p:cNvPr descr="preencoded.png" id="110" name="Google Shape;110;p15"/>
          <p:cNvPicPr preferRelativeResize="0"/>
          <p:nvPr/>
        </p:nvPicPr>
        <p:blipFill rotWithShape="1">
          <a:blip r:embed="rId3">
            <a:alphaModFix/>
          </a:blip>
          <a:srcRect b="0" l="0" r="0" t="0"/>
          <a:stretch/>
        </p:blipFill>
        <p:spPr>
          <a:xfrm>
            <a:off x="751403" y="2863096"/>
            <a:ext cx="6301978" cy="2487454"/>
          </a:xfrm>
          <a:prstGeom prst="rect">
            <a:avLst/>
          </a:prstGeom>
          <a:noFill/>
          <a:ln>
            <a:noFill/>
          </a:ln>
        </p:spPr>
      </p:pic>
      <p:sp>
        <p:nvSpPr>
          <p:cNvPr id="111" name="Google Shape;111;p15"/>
          <p:cNvSpPr/>
          <p:nvPr/>
        </p:nvSpPr>
        <p:spPr>
          <a:xfrm>
            <a:off x="751403" y="5381030"/>
            <a:ext cx="214670" cy="214670"/>
          </a:xfrm>
          <a:prstGeom prst="roundRect">
            <a:avLst>
              <a:gd fmla="val 8519" name="adj"/>
            </a:avLst>
          </a:prstGeom>
          <a:solidFill>
            <a:srgbClr val="212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1027033" y="5381030"/>
            <a:ext cx="1631871" cy="2146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5F71"/>
              </a:buClr>
              <a:buSzPts val="1650"/>
              <a:buFont typeface="Instrument Sans Medium"/>
              <a:buNone/>
            </a:pPr>
            <a:r>
              <a:rPr b="0" i="0" lang="en-US" sz="1650" u="none" cap="none" strike="noStrike">
                <a:solidFill>
                  <a:srgbClr val="5B5F71"/>
                </a:solidFill>
                <a:latin typeface="Instrument Sans Medium"/>
                <a:ea typeface="Instrument Sans Medium"/>
                <a:cs typeface="Instrument Sans Medium"/>
                <a:sym typeface="Instrument Sans Medium"/>
              </a:rPr>
              <a:t>Defensive Rocks</a:t>
            </a:r>
            <a:endParaRPr b="0" i="0" sz="1650" u="none" cap="none" strike="noStrike"/>
          </a:p>
        </p:txBody>
      </p:sp>
      <p:sp>
        <p:nvSpPr>
          <p:cNvPr id="113" name="Google Shape;113;p15"/>
          <p:cNvSpPr/>
          <p:nvPr/>
        </p:nvSpPr>
        <p:spPr>
          <a:xfrm>
            <a:off x="2902863" y="5381030"/>
            <a:ext cx="214670" cy="214670"/>
          </a:xfrm>
          <a:prstGeom prst="roundRect">
            <a:avLst>
              <a:gd fmla="val 8519" name="adj"/>
            </a:avLst>
          </a:prstGeom>
          <a:solidFill>
            <a:srgbClr val="4A4E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3178493" y="5381030"/>
            <a:ext cx="1723430" cy="42933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5F71"/>
              </a:buClr>
              <a:buSzPts val="1650"/>
              <a:buFont typeface="Instrument Sans Medium"/>
              <a:buNone/>
            </a:pPr>
            <a:r>
              <a:rPr b="0" i="0" lang="en-US" sz="1650" u="none" cap="none" strike="noStrike">
                <a:solidFill>
                  <a:srgbClr val="5B5F71"/>
                </a:solidFill>
                <a:latin typeface="Instrument Sans Medium"/>
                <a:ea typeface="Instrument Sans Medium"/>
                <a:cs typeface="Instrument Sans Medium"/>
                <a:sym typeface="Instrument Sans Medium"/>
              </a:rPr>
              <a:t>Creative Playmakers</a:t>
            </a:r>
            <a:endParaRPr b="0" i="0" sz="1650" u="none" cap="none" strike="noStrike"/>
          </a:p>
        </p:txBody>
      </p:sp>
      <p:sp>
        <p:nvSpPr>
          <p:cNvPr id="115" name="Google Shape;115;p15"/>
          <p:cNvSpPr/>
          <p:nvPr/>
        </p:nvSpPr>
        <p:spPr>
          <a:xfrm>
            <a:off x="5054322" y="5381030"/>
            <a:ext cx="214670" cy="214670"/>
          </a:xfrm>
          <a:prstGeom prst="roundRect">
            <a:avLst>
              <a:gd fmla="val 8519" name="adj"/>
            </a:avLst>
          </a:prstGeom>
          <a:solidFill>
            <a:srgbClr val="757A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5329952" y="5381030"/>
            <a:ext cx="1485186" cy="2146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5F71"/>
              </a:buClr>
              <a:buSzPts val="1650"/>
              <a:buFont typeface="Instrument Sans Medium"/>
              <a:buNone/>
            </a:pPr>
            <a:r>
              <a:rPr b="0" i="0" lang="en-US" sz="1650" u="none" cap="none" strike="noStrike">
                <a:solidFill>
                  <a:srgbClr val="5B5F71"/>
                </a:solidFill>
                <a:latin typeface="Instrument Sans Medium"/>
                <a:ea typeface="Instrument Sans Medium"/>
                <a:cs typeface="Instrument Sans Medium"/>
                <a:sym typeface="Instrument Sans Medium"/>
              </a:rPr>
              <a:t>Pacy Attackers</a:t>
            </a:r>
            <a:endParaRPr b="0" i="0" sz="1650" u="none" cap="none" strike="noStrike"/>
          </a:p>
        </p:txBody>
      </p:sp>
      <p:sp>
        <p:nvSpPr>
          <p:cNvPr id="117" name="Google Shape;117;p15"/>
          <p:cNvSpPr/>
          <p:nvPr/>
        </p:nvSpPr>
        <p:spPr>
          <a:xfrm>
            <a:off x="751403" y="5962769"/>
            <a:ext cx="214670" cy="214670"/>
          </a:xfrm>
          <a:prstGeom prst="roundRect">
            <a:avLst>
              <a:gd fmla="val 8519" name="adj"/>
            </a:avLst>
          </a:prstGeom>
          <a:solidFill>
            <a:srgbClr val="AAAD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1027033" y="5962769"/>
            <a:ext cx="1723430" cy="42933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5F71"/>
              </a:buClr>
              <a:buSzPts val="1650"/>
              <a:buFont typeface="Instrument Sans Medium"/>
              <a:buNone/>
            </a:pPr>
            <a:r>
              <a:rPr b="0" i="0" lang="en-US" sz="1650" u="none" cap="none" strike="noStrike">
                <a:solidFill>
                  <a:srgbClr val="5B5F71"/>
                </a:solidFill>
                <a:latin typeface="Instrument Sans Medium"/>
                <a:ea typeface="Instrument Sans Medium"/>
                <a:cs typeface="Instrument Sans Medium"/>
                <a:sym typeface="Instrument Sans Medium"/>
              </a:rPr>
              <a:t>Solid Goalkeepers</a:t>
            </a:r>
            <a:endParaRPr b="0" i="0" sz="1650" u="none" cap="none" strike="noStrike"/>
          </a:p>
        </p:txBody>
      </p:sp>
      <p:sp>
        <p:nvSpPr>
          <p:cNvPr id="119" name="Google Shape;119;p15"/>
          <p:cNvSpPr/>
          <p:nvPr/>
        </p:nvSpPr>
        <p:spPr>
          <a:xfrm>
            <a:off x="751403" y="6633567"/>
            <a:ext cx="6301978" cy="10301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5B5F71"/>
              </a:buClr>
              <a:buSzPts val="1650"/>
              <a:buFont typeface="Instrument Sans Medium"/>
              <a:buNone/>
            </a:pPr>
            <a:r>
              <a:rPr b="1" i="0" lang="en-US" sz="1650" u="none" cap="none" strike="noStrike">
                <a:solidFill>
                  <a:srgbClr val="5B5F71"/>
                </a:solidFill>
                <a:latin typeface="Instrument Sans Medium"/>
                <a:ea typeface="Instrument Sans Medium"/>
                <a:cs typeface="Instrument Sans Medium"/>
                <a:sym typeface="Instrument Sans Medium"/>
              </a:rPr>
              <a:t>Key Takeaway:</a:t>
            </a:r>
            <a:r>
              <a:rPr b="0" i="0" lang="en-US" sz="1650" u="none" cap="none" strike="noStrike">
                <a:solidFill>
                  <a:srgbClr val="5B5F71"/>
                </a:solidFill>
                <a:latin typeface="Instrument Sans Medium"/>
                <a:ea typeface="Instrument Sans Medium"/>
                <a:cs typeface="Instrument Sans Medium"/>
                <a:sym typeface="Instrument Sans Medium"/>
              </a:rPr>
              <a:t> Our transfer shortlist is balanced across all four key player styles, guaranteeing tactical flexibility for the manager.</a:t>
            </a:r>
            <a:endParaRPr b="0" i="0" sz="1650" u="none" cap="none" strike="noStrike"/>
          </a:p>
        </p:txBody>
      </p:sp>
      <p:sp>
        <p:nvSpPr>
          <p:cNvPr id="120" name="Google Shape;120;p15"/>
          <p:cNvSpPr/>
          <p:nvPr/>
        </p:nvSpPr>
        <p:spPr>
          <a:xfrm>
            <a:off x="7584652" y="2286250"/>
            <a:ext cx="5272800" cy="335400"/>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505468"/>
              </a:buClr>
              <a:buSzPts val="2100"/>
              <a:buFont typeface="Instrument Sans SemiBold"/>
              <a:buNone/>
            </a:pPr>
            <a:r>
              <a:rPr b="1" i="0" lang="en-US" sz="2100" u="none" cap="none" strike="noStrike">
                <a:solidFill>
                  <a:srgbClr val="505468"/>
                </a:solidFill>
                <a:latin typeface="Instrument Sans SemiBold"/>
                <a:ea typeface="Instrument Sans SemiBold"/>
                <a:cs typeface="Instrument Sans SemiBold"/>
                <a:sym typeface="Instrument Sans SemiBold"/>
              </a:rPr>
              <a:t>Top Undervalued Players (Value Gap)</a:t>
            </a:r>
            <a:endParaRPr b="0" i="0" sz="2100" u="none" cap="none" strike="noStrike"/>
          </a:p>
        </p:txBody>
      </p:sp>
      <p:pic>
        <p:nvPicPr>
          <p:cNvPr descr="preencoded.png" id="121" name="Google Shape;121;p15"/>
          <p:cNvPicPr preferRelativeResize="0"/>
          <p:nvPr/>
        </p:nvPicPr>
        <p:blipFill rotWithShape="1">
          <a:blip r:embed="rId4">
            <a:alphaModFix/>
          </a:blip>
          <a:srcRect b="0" l="0" r="0" t="0"/>
          <a:stretch/>
        </p:blipFill>
        <p:spPr>
          <a:xfrm>
            <a:off x="7584638" y="2863096"/>
            <a:ext cx="6301978" cy="3529013"/>
          </a:xfrm>
          <a:prstGeom prst="rect">
            <a:avLst/>
          </a:prstGeom>
          <a:noFill/>
          <a:ln>
            <a:noFill/>
          </a:ln>
        </p:spPr>
      </p:pic>
      <p:sp>
        <p:nvSpPr>
          <p:cNvPr id="122" name="Google Shape;122;p15"/>
          <p:cNvSpPr/>
          <p:nvPr/>
        </p:nvSpPr>
        <p:spPr>
          <a:xfrm>
            <a:off x="7584638" y="6633567"/>
            <a:ext cx="6301978" cy="10301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5B5F71"/>
              </a:buClr>
              <a:buSzPts val="1650"/>
              <a:buFont typeface="Instrument Sans Medium"/>
              <a:buNone/>
            </a:pPr>
            <a:r>
              <a:rPr b="1" i="0" lang="en-US" sz="1650" u="none" cap="none" strike="noStrike">
                <a:solidFill>
                  <a:srgbClr val="5B5F71"/>
                </a:solidFill>
                <a:latin typeface="Instrument Sans Medium"/>
                <a:ea typeface="Instrument Sans Medium"/>
                <a:cs typeface="Instrument Sans Medium"/>
                <a:sym typeface="Instrument Sans Medium"/>
              </a:rPr>
              <a:t>Key Takeaway:</a:t>
            </a:r>
            <a:r>
              <a:rPr b="0" i="0" lang="en-US" sz="1650" u="none" cap="none" strike="noStrike">
                <a:solidFill>
                  <a:srgbClr val="5B5F71"/>
                </a:solidFill>
                <a:latin typeface="Instrument Sans Medium"/>
                <a:ea typeface="Instrument Sans Medium"/>
                <a:cs typeface="Instrument Sans Medium"/>
                <a:sym typeface="Instrument Sans Medium"/>
              </a:rPr>
              <a:t> Our valuation model successfully identifies elite players with large "Value Gaps" available for significantly less than their data suggests they are worth.</a:t>
            </a:r>
            <a:endParaRPr b="0" i="0" sz="1650" u="none" cap="none" strike="noStrike"/>
          </a:p>
        </p:txBody>
      </p:sp>
      <p:sp>
        <p:nvSpPr>
          <p:cNvPr id="123" name="Google Shape;123;p15"/>
          <p:cNvSpPr/>
          <p:nvPr/>
        </p:nvSpPr>
        <p:spPr>
          <a:xfrm>
            <a:off x="12521525" y="7512915"/>
            <a:ext cx="1977000" cy="68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p:nvPr/>
        </p:nvSpPr>
        <p:spPr>
          <a:xfrm>
            <a:off x="635200" y="499100"/>
            <a:ext cx="10011900" cy="567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505468"/>
              </a:buClr>
              <a:buSzPts val="3550"/>
              <a:buFont typeface="Instrument Sans SemiBold"/>
              <a:buNone/>
            </a:pPr>
            <a:r>
              <a:rPr b="1" i="0" lang="en-US" sz="3550" u="none" cap="none" strike="noStrike">
                <a:solidFill>
                  <a:srgbClr val="505468"/>
                </a:solidFill>
                <a:latin typeface="Instrument Sans SemiBold"/>
                <a:ea typeface="Instrument Sans SemiBold"/>
                <a:cs typeface="Instrument Sans SemiBold"/>
                <a:sym typeface="Instrument Sans SemiBold"/>
              </a:rPr>
              <a:t>The Result: The Inaugural 25-Man Squad</a:t>
            </a:r>
            <a:endParaRPr b="0" i="0" sz="3550" u="none" cap="none" strike="noStrike"/>
          </a:p>
        </p:txBody>
      </p:sp>
      <p:sp>
        <p:nvSpPr>
          <p:cNvPr id="130" name="Google Shape;130;p16"/>
          <p:cNvSpPr/>
          <p:nvPr/>
        </p:nvSpPr>
        <p:spPr>
          <a:xfrm>
            <a:off x="635198" y="1138714"/>
            <a:ext cx="5430203" cy="340281"/>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505468"/>
              </a:buClr>
              <a:buSzPts val="2100"/>
              <a:buFont typeface="Instrument Sans SemiBold"/>
              <a:buNone/>
            </a:pPr>
            <a:r>
              <a:rPr b="1" i="0" lang="en-US" sz="2100" u="none" cap="none" strike="noStrike">
                <a:solidFill>
                  <a:srgbClr val="505468"/>
                </a:solidFill>
                <a:latin typeface="Instrument Sans SemiBold"/>
                <a:ea typeface="Instrument Sans SemiBold"/>
                <a:cs typeface="Instrument Sans SemiBold"/>
                <a:sym typeface="Instrument Sans SemiBold"/>
              </a:rPr>
              <a:t>Unveiling the Durham Top Dogs F.C. Roster</a:t>
            </a:r>
            <a:endParaRPr b="0" i="0" sz="2100" u="none" cap="none" strike="noStrike"/>
          </a:p>
        </p:txBody>
      </p:sp>
      <p:sp>
        <p:nvSpPr>
          <p:cNvPr id="131" name="Google Shape;131;p16"/>
          <p:cNvSpPr/>
          <p:nvPr/>
        </p:nvSpPr>
        <p:spPr>
          <a:xfrm>
            <a:off x="635198" y="1751171"/>
            <a:ext cx="13360003" cy="4723686"/>
          </a:xfrm>
          <a:prstGeom prst="roundRect">
            <a:avLst>
              <a:gd fmla="val 1614"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642818" y="1758791"/>
            <a:ext cx="13344763" cy="523161"/>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a:off x="824508" y="1875234"/>
            <a:ext cx="3636645"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1" i="0" lang="en-US" sz="1400" u="none" cap="none" strike="noStrike">
                <a:solidFill>
                  <a:srgbClr val="5B5F71"/>
                </a:solidFill>
                <a:latin typeface="Instrument Sans Medium"/>
                <a:ea typeface="Instrument Sans Medium"/>
                <a:cs typeface="Instrument Sans Medium"/>
                <a:sym typeface="Instrument Sans Medium"/>
              </a:rPr>
              <a:t>Name</a:t>
            </a:r>
            <a:endParaRPr b="0" i="0" sz="1400" u="none" cap="none" strike="noStrike"/>
          </a:p>
        </p:txBody>
      </p:sp>
      <p:sp>
        <p:nvSpPr>
          <p:cNvPr id="134" name="Google Shape;134;p16"/>
          <p:cNvSpPr/>
          <p:nvPr/>
        </p:nvSpPr>
        <p:spPr>
          <a:xfrm>
            <a:off x="4831675" y="1875234"/>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1" i="0" lang="en-US" sz="1400" u="none" cap="none" strike="noStrike">
                <a:solidFill>
                  <a:srgbClr val="5B5F71"/>
                </a:solidFill>
                <a:latin typeface="Instrument Sans Medium"/>
                <a:ea typeface="Instrument Sans Medium"/>
                <a:cs typeface="Instrument Sans Medium"/>
                <a:sym typeface="Instrument Sans Medium"/>
              </a:rPr>
              <a:t>Position</a:t>
            </a:r>
            <a:endParaRPr b="0" i="0" sz="1400" u="none" cap="none" strike="noStrike"/>
          </a:p>
        </p:txBody>
      </p:sp>
      <p:sp>
        <p:nvSpPr>
          <p:cNvPr id="135" name="Google Shape;135;p16"/>
          <p:cNvSpPr/>
          <p:nvPr/>
        </p:nvSpPr>
        <p:spPr>
          <a:xfrm>
            <a:off x="7500580" y="1875234"/>
            <a:ext cx="963930"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1" i="0" lang="en-US" sz="1400" u="none" cap="none" strike="noStrike">
                <a:solidFill>
                  <a:srgbClr val="5B5F71"/>
                </a:solidFill>
                <a:latin typeface="Instrument Sans Medium"/>
                <a:ea typeface="Instrument Sans Medium"/>
                <a:cs typeface="Instrument Sans Medium"/>
                <a:sym typeface="Instrument Sans Medium"/>
              </a:rPr>
              <a:t>Overall</a:t>
            </a:r>
            <a:endParaRPr b="0" i="0" sz="1400" u="none" cap="none" strike="noStrike"/>
          </a:p>
        </p:txBody>
      </p:sp>
      <p:sp>
        <p:nvSpPr>
          <p:cNvPr id="136" name="Google Shape;136;p16"/>
          <p:cNvSpPr/>
          <p:nvPr/>
        </p:nvSpPr>
        <p:spPr>
          <a:xfrm>
            <a:off x="8835033" y="1875234"/>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1" i="0" lang="en-US" sz="1400" u="none" cap="none" strike="noStrike">
                <a:solidFill>
                  <a:srgbClr val="5B5F71"/>
                </a:solidFill>
                <a:latin typeface="Instrument Sans Medium"/>
                <a:ea typeface="Instrument Sans Medium"/>
                <a:cs typeface="Instrument Sans Medium"/>
                <a:sym typeface="Instrument Sans Medium"/>
              </a:rPr>
              <a:t>Value Score</a:t>
            </a:r>
            <a:endParaRPr b="0" i="0" sz="1400" u="none" cap="none" strike="noStrike"/>
          </a:p>
        </p:txBody>
      </p:sp>
      <p:sp>
        <p:nvSpPr>
          <p:cNvPr id="137" name="Google Shape;137;p16"/>
          <p:cNvSpPr/>
          <p:nvPr/>
        </p:nvSpPr>
        <p:spPr>
          <a:xfrm>
            <a:off x="11503938" y="1875234"/>
            <a:ext cx="230219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1" i="0" lang="en-US" sz="1400" u="none" cap="none" strike="noStrike">
                <a:solidFill>
                  <a:srgbClr val="5B5F71"/>
                </a:solidFill>
                <a:latin typeface="Instrument Sans Medium"/>
                <a:ea typeface="Instrument Sans Medium"/>
                <a:cs typeface="Instrument Sans Medium"/>
                <a:sym typeface="Instrument Sans Medium"/>
              </a:rPr>
              <a:t>Cost (€)</a:t>
            </a:r>
            <a:endParaRPr b="0" i="0" sz="1400" u="none" cap="none" strike="noStrike"/>
          </a:p>
        </p:txBody>
      </p:sp>
      <p:sp>
        <p:nvSpPr>
          <p:cNvPr id="138" name="Google Shape;138;p16"/>
          <p:cNvSpPr/>
          <p:nvPr/>
        </p:nvSpPr>
        <p:spPr>
          <a:xfrm>
            <a:off x="642818" y="2281952"/>
            <a:ext cx="13344763" cy="523161"/>
          </a:xfrm>
          <a:prstGeom prst="rect">
            <a:avLst/>
          </a:prstGeom>
          <a:solidFill>
            <a:srgbClr val="000000">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824508" y="2398395"/>
            <a:ext cx="3636645"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Thiago Silva</a:t>
            </a:r>
            <a:endParaRPr b="0" i="0" sz="1400" u="none" cap="none" strike="noStrike"/>
          </a:p>
        </p:txBody>
      </p:sp>
      <p:sp>
        <p:nvSpPr>
          <p:cNvPr id="140" name="Google Shape;140;p16"/>
          <p:cNvSpPr/>
          <p:nvPr/>
        </p:nvSpPr>
        <p:spPr>
          <a:xfrm>
            <a:off x="4831675" y="2398395"/>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RCB</a:t>
            </a:r>
            <a:endParaRPr b="0" i="0" sz="1400" u="none" cap="none" strike="noStrike"/>
          </a:p>
        </p:txBody>
      </p:sp>
      <p:sp>
        <p:nvSpPr>
          <p:cNvPr id="141" name="Google Shape;141;p16"/>
          <p:cNvSpPr/>
          <p:nvPr/>
        </p:nvSpPr>
        <p:spPr>
          <a:xfrm>
            <a:off x="7500580" y="2398395"/>
            <a:ext cx="963930"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88</a:t>
            </a:r>
            <a:endParaRPr b="0" i="0" sz="1400" u="none" cap="none" strike="noStrike"/>
          </a:p>
        </p:txBody>
      </p:sp>
      <p:sp>
        <p:nvSpPr>
          <p:cNvPr id="142" name="Google Shape;142;p16"/>
          <p:cNvSpPr/>
          <p:nvPr/>
        </p:nvSpPr>
        <p:spPr>
          <a:xfrm>
            <a:off x="8835033" y="2398395"/>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3.67</a:t>
            </a:r>
            <a:endParaRPr b="0" i="0" sz="1400" u="none" cap="none" strike="noStrike"/>
          </a:p>
        </p:txBody>
      </p:sp>
      <p:sp>
        <p:nvSpPr>
          <p:cNvPr id="143" name="Google Shape;143;p16"/>
          <p:cNvSpPr/>
          <p:nvPr/>
        </p:nvSpPr>
        <p:spPr>
          <a:xfrm>
            <a:off x="11503938" y="2398395"/>
            <a:ext cx="230219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24,000,000</a:t>
            </a:r>
            <a:endParaRPr b="0" i="0" sz="1400" u="none" cap="none" strike="noStrike"/>
          </a:p>
        </p:txBody>
      </p:sp>
      <p:sp>
        <p:nvSpPr>
          <p:cNvPr id="144" name="Google Shape;144;p16"/>
          <p:cNvSpPr/>
          <p:nvPr/>
        </p:nvSpPr>
        <p:spPr>
          <a:xfrm>
            <a:off x="642818" y="2805113"/>
            <a:ext cx="13344763" cy="523161"/>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
          <p:cNvSpPr/>
          <p:nvPr/>
        </p:nvSpPr>
        <p:spPr>
          <a:xfrm>
            <a:off x="824508" y="2921556"/>
            <a:ext cx="3636645"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G. Buffon</a:t>
            </a:r>
            <a:endParaRPr b="0" i="0" sz="1400" u="none" cap="none" strike="noStrike"/>
          </a:p>
        </p:txBody>
      </p:sp>
      <p:sp>
        <p:nvSpPr>
          <p:cNvPr id="146" name="Google Shape;146;p16"/>
          <p:cNvSpPr/>
          <p:nvPr/>
        </p:nvSpPr>
        <p:spPr>
          <a:xfrm>
            <a:off x="4831675" y="2921556"/>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GK</a:t>
            </a:r>
            <a:endParaRPr b="0" i="0" sz="1400" u="none" cap="none" strike="noStrike"/>
          </a:p>
        </p:txBody>
      </p:sp>
      <p:sp>
        <p:nvSpPr>
          <p:cNvPr id="147" name="Google Shape;147;p16"/>
          <p:cNvSpPr/>
          <p:nvPr/>
        </p:nvSpPr>
        <p:spPr>
          <a:xfrm>
            <a:off x="7500580" y="2921556"/>
            <a:ext cx="963930"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88</a:t>
            </a:r>
            <a:endParaRPr b="0" i="0" sz="1400" u="none" cap="none" strike="noStrike"/>
          </a:p>
        </p:txBody>
      </p:sp>
      <p:sp>
        <p:nvSpPr>
          <p:cNvPr id="148" name="Google Shape;148;p16"/>
          <p:cNvSpPr/>
          <p:nvPr/>
        </p:nvSpPr>
        <p:spPr>
          <a:xfrm>
            <a:off x="8835033" y="2921556"/>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22.00</a:t>
            </a:r>
            <a:endParaRPr b="0" i="0" sz="1400" u="none" cap="none" strike="noStrike"/>
          </a:p>
        </p:txBody>
      </p:sp>
      <p:sp>
        <p:nvSpPr>
          <p:cNvPr id="149" name="Google Shape;149;p16"/>
          <p:cNvSpPr/>
          <p:nvPr/>
        </p:nvSpPr>
        <p:spPr>
          <a:xfrm>
            <a:off x="11503938" y="2921556"/>
            <a:ext cx="230219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4,000,000</a:t>
            </a:r>
            <a:endParaRPr b="0" i="0" sz="1400" u="none" cap="none" strike="noStrike"/>
          </a:p>
        </p:txBody>
      </p:sp>
      <p:sp>
        <p:nvSpPr>
          <p:cNvPr id="150" name="Google Shape;150;p16"/>
          <p:cNvSpPr/>
          <p:nvPr/>
        </p:nvSpPr>
        <p:spPr>
          <a:xfrm>
            <a:off x="642818" y="3328273"/>
            <a:ext cx="13344763" cy="523161"/>
          </a:xfrm>
          <a:prstGeom prst="rect">
            <a:avLst/>
          </a:prstGeom>
          <a:solidFill>
            <a:srgbClr val="000000">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p:nvPr/>
        </p:nvSpPr>
        <p:spPr>
          <a:xfrm>
            <a:off x="824508" y="3444716"/>
            <a:ext cx="3636645"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Ederson</a:t>
            </a:r>
            <a:endParaRPr b="0" i="0" sz="1400" u="none" cap="none" strike="noStrike"/>
          </a:p>
        </p:txBody>
      </p:sp>
      <p:sp>
        <p:nvSpPr>
          <p:cNvPr id="152" name="Google Shape;152;p16"/>
          <p:cNvSpPr/>
          <p:nvPr/>
        </p:nvSpPr>
        <p:spPr>
          <a:xfrm>
            <a:off x="4831675" y="3444716"/>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GK</a:t>
            </a:r>
            <a:endParaRPr b="0" i="0" sz="1400" u="none" cap="none" strike="noStrike"/>
          </a:p>
        </p:txBody>
      </p:sp>
      <p:sp>
        <p:nvSpPr>
          <p:cNvPr id="153" name="Google Shape;153;p16"/>
          <p:cNvSpPr/>
          <p:nvPr/>
        </p:nvSpPr>
        <p:spPr>
          <a:xfrm>
            <a:off x="7500580" y="3444716"/>
            <a:ext cx="963930"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86</a:t>
            </a:r>
            <a:endParaRPr b="0" i="0" sz="1400" u="none" cap="none" strike="noStrike"/>
          </a:p>
        </p:txBody>
      </p:sp>
      <p:sp>
        <p:nvSpPr>
          <p:cNvPr id="154" name="Google Shape;154;p16"/>
          <p:cNvSpPr/>
          <p:nvPr/>
        </p:nvSpPr>
        <p:spPr>
          <a:xfrm>
            <a:off x="8835033" y="3444716"/>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2.07</a:t>
            </a:r>
            <a:endParaRPr b="0" i="0" sz="1400" u="none" cap="none" strike="noStrike"/>
          </a:p>
        </p:txBody>
      </p:sp>
      <p:sp>
        <p:nvSpPr>
          <p:cNvPr id="155" name="Google Shape;155;p16"/>
          <p:cNvSpPr/>
          <p:nvPr/>
        </p:nvSpPr>
        <p:spPr>
          <a:xfrm>
            <a:off x="11503938" y="3444716"/>
            <a:ext cx="230219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41,500,000</a:t>
            </a:r>
            <a:endParaRPr b="0" i="0" sz="1400" u="none" cap="none" strike="noStrike"/>
          </a:p>
        </p:txBody>
      </p:sp>
      <p:sp>
        <p:nvSpPr>
          <p:cNvPr id="156" name="Google Shape;156;p16"/>
          <p:cNvSpPr/>
          <p:nvPr/>
        </p:nvSpPr>
        <p:spPr>
          <a:xfrm>
            <a:off x="642818" y="3873402"/>
            <a:ext cx="13344900" cy="523200"/>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
          <p:cNvSpPr/>
          <p:nvPr/>
        </p:nvSpPr>
        <p:spPr>
          <a:xfrm>
            <a:off x="824508" y="3967877"/>
            <a:ext cx="3636645"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R. Mahrez</a:t>
            </a:r>
            <a:endParaRPr b="0" i="0" sz="1400" u="none" cap="none" strike="noStrike"/>
          </a:p>
        </p:txBody>
      </p:sp>
      <p:sp>
        <p:nvSpPr>
          <p:cNvPr id="158" name="Google Shape;158;p16"/>
          <p:cNvSpPr/>
          <p:nvPr/>
        </p:nvSpPr>
        <p:spPr>
          <a:xfrm>
            <a:off x="4831675" y="3967877"/>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RW</a:t>
            </a:r>
            <a:endParaRPr b="0" i="0" sz="1400" u="none" cap="none" strike="noStrike"/>
          </a:p>
        </p:txBody>
      </p:sp>
      <p:sp>
        <p:nvSpPr>
          <p:cNvPr id="159" name="Google Shape;159;p16"/>
          <p:cNvSpPr/>
          <p:nvPr/>
        </p:nvSpPr>
        <p:spPr>
          <a:xfrm>
            <a:off x="7500580" y="3967877"/>
            <a:ext cx="963930"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85</a:t>
            </a:r>
            <a:endParaRPr b="0" i="0" sz="1400" u="none" cap="none" strike="noStrike"/>
          </a:p>
        </p:txBody>
      </p:sp>
      <p:sp>
        <p:nvSpPr>
          <p:cNvPr id="160" name="Google Shape;160;p16"/>
          <p:cNvSpPr/>
          <p:nvPr/>
        </p:nvSpPr>
        <p:spPr>
          <a:xfrm>
            <a:off x="8835033" y="3967877"/>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2.10</a:t>
            </a:r>
            <a:endParaRPr b="0" i="0" sz="1400" u="none" cap="none" strike="noStrike"/>
          </a:p>
        </p:txBody>
      </p:sp>
      <p:sp>
        <p:nvSpPr>
          <p:cNvPr id="161" name="Google Shape;161;p16"/>
          <p:cNvSpPr/>
          <p:nvPr/>
        </p:nvSpPr>
        <p:spPr>
          <a:xfrm>
            <a:off x="11503938" y="3967877"/>
            <a:ext cx="230219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40,500,000</a:t>
            </a:r>
            <a:endParaRPr b="0" i="0" sz="1400" u="none" cap="none" strike="noStrike"/>
          </a:p>
        </p:txBody>
      </p:sp>
      <p:sp>
        <p:nvSpPr>
          <p:cNvPr id="162" name="Google Shape;162;p16"/>
          <p:cNvSpPr/>
          <p:nvPr/>
        </p:nvSpPr>
        <p:spPr>
          <a:xfrm>
            <a:off x="642818" y="4374594"/>
            <a:ext cx="13344763" cy="523161"/>
          </a:xfrm>
          <a:prstGeom prst="rect">
            <a:avLst/>
          </a:prstGeom>
          <a:solidFill>
            <a:srgbClr val="000000">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p:nvPr/>
        </p:nvSpPr>
        <p:spPr>
          <a:xfrm>
            <a:off x="824508" y="4491038"/>
            <a:ext cx="3636645"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A. Vidal</a:t>
            </a:r>
            <a:endParaRPr b="0" i="0" sz="1400" u="none" cap="none" strike="noStrike"/>
          </a:p>
        </p:txBody>
      </p:sp>
      <p:sp>
        <p:nvSpPr>
          <p:cNvPr id="164" name="Google Shape;164;p16"/>
          <p:cNvSpPr/>
          <p:nvPr/>
        </p:nvSpPr>
        <p:spPr>
          <a:xfrm>
            <a:off x="4831675" y="4491038"/>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CAM</a:t>
            </a:r>
            <a:endParaRPr b="0" i="0" sz="1400" u="none" cap="none" strike="noStrike"/>
          </a:p>
        </p:txBody>
      </p:sp>
      <p:sp>
        <p:nvSpPr>
          <p:cNvPr id="165" name="Google Shape;165;p16"/>
          <p:cNvSpPr/>
          <p:nvPr/>
        </p:nvSpPr>
        <p:spPr>
          <a:xfrm>
            <a:off x="7500580" y="4491038"/>
            <a:ext cx="963930"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85</a:t>
            </a:r>
            <a:endParaRPr b="0" i="0" sz="1400" u="none" cap="none" strike="noStrike"/>
          </a:p>
        </p:txBody>
      </p:sp>
      <p:sp>
        <p:nvSpPr>
          <p:cNvPr id="166" name="Google Shape;166;p16"/>
          <p:cNvSpPr/>
          <p:nvPr/>
        </p:nvSpPr>
        <p:spPr>
          <a:xfrm>
            <a:off x="8835033" y="4491038"/>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3.27</a:t>
            </a:r>
            <a:endParaRPr b="0" i="0" sz="1400" u="none" cap="none" strike="noStrike"/>
          </a:p>
        </p:txBody>
      </p:sp>
      <p:sp>
        <p:nvSpPr>
          <p:cNvPr id="167" name="Google Shape;167;p16"/>
          <p:cNvSpPr/>
          <p:nvPr/>
        </p:nvSpPr>
        <p:spPr>
          <a:xfrm>
            <a:off x="11503938" y="4491038"/>
            <a:ext cx="230219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26,000,000</a:t>
            </a:r>
            <a:endParaRPr b="0" i="0" sz="1400" u="none" cap="none" strike="noStrike"/>
          </a:p>
        </p:txBody>
      </p:sp>
      <p:sp>
        <p:nvSpPr>
          <p:cNvPr id="168" name="Google Shape;168;p16"/>
          <p:cNvSpPr/>
          <p:nvPr/>
        </p:nvSpPr>
        <p:spPr>
          <a:xfrm>
            <a:off x="642818" y="4897755"/>
            <a:ext cx="13344763" cy="523161"/>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824508" y="5014198"/>
            <a:ext cx="3636645"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V. Kompany</a:t>
            </a:r>
            <a:endParaRPr b="0" i="0" sz="1400" u="none" cap="none" strike="noStrike"/>
          </a:p>
        </p:txBody>
      </p:sp>
      <p:sp>
        <p:nvSpPr>
          <p:cNvPr id="170" name="Google Shape;170;p16"/>
          <p:cNvSpPr/>
          <p:nvPr/>
        </p:nvSpPr>
        <p:spPr>
          <a:xfrm>
            <a:off x="4831675" y="5014198"/>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CB</a:t>
            </a:r>
            <a:endParaRPr b="0" i="0" sz="1400" u="none" cap="none" strike="noStrike"/>
          </a:p>
        </p:txBody>
      </p:sp>
      <p:sp>
        <p:nvSpPr>
          <p:cNvPr id="171" name="Google Shape;171;p16"/>
          <p:cNvSpPr/>
          <p:nvPr/>
        </p:nvSpPr>
        <p:spPr>
          <a:xfrm>
            <a:off x="7500580" y="5014198"/>
            <a:ext cx="963930"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85</a:t>
            </a:r>
            <a:endParaRPr b="0" i="0" sz="1400" u="none" cap="none" strike="noStrike"/>
          </a:p>
        </p:txBody>
      </p:sp>
      <p:sp>
        <p:nvSpPr>
          <p:cNvPr id="172" name="Google Shape;172;p16"/>
          <p:cNvSpPr/>
          <p:nvPr/>
        </p:nvSpPr>
        <p:spPr>
          <a:xfrm>
            <a:off x="8835033" y="5014198"/>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3.86</a:t>
            </a:r>
            <a:endParaRPr b="0" i="0" sz="1400" u="none" cap="none" strike="noStrike"/>
          </a:p>
        </p:txBody>
      </p:sp>
      <p:sp>
        <p:nvSpPr>
          <p:cNvPr id="173" name="Google Shape;173;p16"/>
          <p:cNvSpPr/>
          <p:nvPr/>
        </p:nvSpPr>
        <p:spPr>
          <a:xfrm>
            <a:off x="11503938" y="5014198"/>
            <a:ext cx="230219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22,000,000</a:t>
            </a:r>
            <a:endParaRPr b="0" i="0" sz="1400" u="none" cap="none" strike="noStrike"/>
          </a:p>
        </p:txBody>
      </p:sp>
      <p:sp>
        <p:nvSpPr>
          <p:cNvPr id="174" name="Google Shape;174;p16"/>
          <p:cNvSpPr/>
          <p:nvPr/>
        </p:nvSpPr>
        <p:spPr>
          <a:xfrm>
            <a:off x="642818" y="5420916"/>
            <a:ext cx="13344763" cy="523161"/>
          </a:xfrm>
          <a:prstGeom prst="rect">
            <a:avLst/>
          </a:prstGeom>
          <a:solidFill>
            <a:srgbClr val="000000">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824508" y="5537359"/>
            <a:ext cx="3636645"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Pepe</a:t>
            </a:r>
            <a:endParaRPr b="0" i="0" sz="1400" u="none" cap="none" strike="noStrike"/>
          </a:p>
        </p:txBody>
      </p:sp>
      <p:sp>
        <p:nvSpPr>
          <p:cNvPr id="176" name="Google Shape;176;p16"/>
          <p:cNvSpPr/>
          <p:nvPr/>
        </p:nvSpPr>
        <p:spPr>
          <a:xfrm>
            <a:off x="4831675" y="5537359"/>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RCB</a:t>
            </a:r>
            <a:endParaRPr b="0" i="0" sz="1400" u="none" cap="none" strike="noStrike"/>
          </a:p>
        </p:txBody>
      </p:sp>
      <p:sp>
        <p:nvSpPr>
          <p:cNvPr id="177" name="Google Shape;177;p16"/>
          <p:cNvSpPr/>
          <p:nvPr/>
        </p:nvSpPr>
        <p:spPr>
          <a:xfrm>
            <a:off x="7500580" y="5537359"/>
            <a:ext cx="963930"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85</a:t>
            </a:r>
            <a:endParaRPr b="0" i="0" sz="1400" u="none" cap="none" strike="noStrike"/>
          </a:p>
        </p:txBody>
      </p:sp>
      <p:sp>
        <p:nvSpPr>
          <p:cNvPr id="178" name="Google Shape;178;p16"/>
          <p:cNvSpPr/>
          <p:nvPr/>
        </p:nvSpPr>
        <p:spPr>
          <a:xfrm>
            <a:off x="8835033" y="5537359"/>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9.44</a:t>
            </a:r>
            <a:endParaRPr b="0" i="0" sz="1400" u="none" cap="none" strike="noStrike"/>
          </a:p>
        </p:txBody>
      </p:sp>
      <p:sp>
        <p:nvSpPr>
          <p:cNvPr id="179" name="Google Shape;179;p16"/>
          <p:cNvSpPr/>
          <p:nvPr/>
        </p:nvSpPr>
        <p:spPr>
          <a:xfrm>
            <a:off x="11503938" y="5537359"/>
            <a:ext cx="230219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9,000,000</a:t>
            </a:r>
            <a:endParaRPr b="0" i="0" sz="1400" u="none" cap="none" strike="noStrike"/>
          </a:p>
        </p:txBody>
      </p:sp>
      <p:sp>
        <p:nvSpPr>
          <p:cNvPr id="180" name="Google Shape;180;p16"/>
          <p:cNvSpPr/>
          <p:nvPr/>
        </p:nvSpPr>
        <p:spPr>
          <a:xfrm>
            <a:off x="642818" y="5944076"/>
            <a:ext cx="13344763" cy="523161"/>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
          <p:cNvSpPr/>
          <p:nvPr/>
        </p:nvSpPr>
        <p:spPr>
          <a:xfrm>
            <a:off x="824508" y="6060519"/>
            <a:ext cx="3636645"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Lucas Vázquez</a:t>
            </a:r>
            <a:endParaRPr b="0" i="0" sz="1400" u="none" cap="none" strike="noStrike"/>
          </a:p>
        </p:txBody>
      </p:sp>
      <p:sp>
        <p:nvSpPr>
          <p:cNvPr id="182" name="Google Shape;182;p16"/>
          <p:cNvSpPr/>
          <p:nvPr/>
        </p:nvSpPr>
        <p:spPr>
          <a:xfrm>
            <a:off x="4831675" y="6060519"/>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RW</a:t>
            </a:r>
            <a:endParaRPr b="0" i="0" sz="1400" u="none" cap="none" strike="noStrike"/>
          </a:p>
        </p:txBody>
      </p:sp>
      <p:sp>
        <p:nvSpPr>
          <p:cNvPr id="183" name="Google Shape;183;p16"/>
          <p:cNvSpPr/>
          <p:nvPr/>
        </p:nvSpPr>
        <p:spPr>
          <a:xfrm>
            <a:off x="7500580" y="6060519"/>
            <a:ext cx="963930"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83</a:t>
            </a:r>
            <a:endParaRPr b="0" i="0" sz="1400" u="none" cap="none" strike="noStrike"/>
          </a:p>
        </p:txBody>
      </p:sp>
      <p:sp>
        <p:nvSpPr>
          <p:cNvPr id="184" name="Google Shape;184;p16"/>
          <p:cNvSpPr/>
          <p:nvPr/>
        </p:nvSpPr>
        <p:spPr>
          <a:xfrm>
            <a:off x="8835033" y="6060519"/>
            <a:ext cx="229838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3.07</a:t>
            </a:r>
            <a:endParaRPr b="0" i="0" sz="1400" u="none" cap="none" strike="noStrike"/>
          </a:p>
        </p:txBody>
      </p:sp>
      <p:sp>
        <p:nvSpPr>
          <p:cNvPr id="185" name="Google Shape;185;p16"/>
          <p:cNvSpPr/>
          <p:nvPr/>
        </p:nvSpPr>
        <p:spPr>
          <a:xfrm>
            <a:off x="11503938" y="6060519"/>
            <a:ext cx="2302193" cy="2902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B5F71"/>
              </a:buClr>
              <a:buSzPts val="1400"/>
              <a:buFont typeface="Instrument Sans Medium"/>
              <a:buNone/>
            </a:pPr>
            <a:r>
              <a:rPr b="0" i="0" lang="en-US" sz="1400" u="none" cap="none" strike="noStrike">
                <a:solidFill>
                  <a:srgbClr val="5B5F71"/>
                </a:solidFill>
                <a:latin typeface="Instrument Sans Medium"/>
                <a:ea typeface="Instrument Sans Medium"/>
                <a:cs typeface="Instrument Sans Medium"/>
                <a:sym typeface="Instrument Sans Medium"/>
              </a:rPr>
              <a:t>27,000,000</a:t>
            </a:r>
            <a:endParaRPr b="0" i="0" sz="1400" u="none" cap="none" strike="noStrike"/>
          </a:p>
        </p:txBody>
      </p:sp>
      <p:sp>
        <p:nvSpPr>
          <p:cNvPr id="186" name="Google Shape;186;p16"/>
          <p:cNvSpPr/>
          <p:nvPr/>
        </p:nvSpPr>
        <p:spPr>
          <a:xfrm>
            <a:off x="635198" y="6679049"/>
            <a:ext cx="13360003" cy="1061442"/>
          </a:xfrm>
          <a:prstGeom prst="roundRect">
            <a:avLst>
              <a:gd fmla="val 7182" name="adj"/>
            </a:avLst>
          </a:prstGeom>
          <a:solidFill>
            <a:srgbClr val="D4D5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7" name="Google Shape;187;p16"/>
          <p:cNvPicPr preferRelativeResize="0"/>
          <p:nvPr/>
        </p:nvPicPr>
        <p:blipFill rotWithShape="1">
          <a:blip r:embed="rId3">
            <a:alphaModFix/>
          </a:blip>
          <a:srcRect b="0" l="0" r="0" t="0"/>
          <a:stretch/>
        </p:blipFill>
        <p:spPr>
          <a:xfrm>
            <a:off x="816650" y="6952774"/>
            <a:ext cx="226814" cy="181451"/>
          </a:xfrm>
          <a:prstGeom prst="rect">
            <a:avLst/>
          </a:prstGeom>
          <a:noFill/>
          <a:ln>
            <a:noFill/>
          </a:ln>
        </p:spPr>
      </p:pic>
      <p:sp>
        <p:nvSpPr>
          <p:cNvPr id="188" name="Google Shape;188;p16"/>
          <p:cNvSpPr/>
          <p:nvPr/>
        </p:nvSpPr>
        <p:spPr>
          <a:xfrm>
            <a:off x="1224915" y="6905863"/>
            <a:ext cx="12588835" cy="58054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1400"/>
              <a:buFont typeface="Instrument Sans Medium"/>
              <a:buNone/>
            </a:pPr>
            <a:r>
              <a:rPr b="1" i="0" lang="en-US" sz="1400" u="none" cap="none" strike="noStrike">
                <a:solidFill>
                  <a:srgbClr val="000000"/>
                </a:solidFill>
                <a:latin typeface="Instrument Sans Medium"/>
                <a:ea typeface="Instrument Sans Medium"/>
                <a:cs typeface="Instrument Sans Medium"/>
                <a:sym typeface="Instrument Sans Medium"/>
              </a:rPr>
              <a:t>Summary:</a:t>
            </a:r>
            <a:r>
              <a:rPr b="0" i="0" lang="en-US" sz="1400" u="none" cap="none" strike="noStrike">
                <a:solidFill>
                  <a:srgbClr val="000000"/>
                </a:solidFill>
                <a:latin typeface="Instrument Sans Medium"/>
                <a:ea typeface="Instrument Sans Medium"/>
                <a:cs typeface="Instrument Sans Medium"/>
                <a:sym typeface="Instrument Sans Medium"/>
              </a:rPr>
              <a:t> The final squad was acquired within the </a:t>
            </a:r>
            <a:r>
              <a:rPr b="1" i="0" lang="en-US" sz="1400" u="none" cap="none" strike="noStrike">
                <a:solidFill>
                  <a:srgbClr val="000000"/>
                </a:solidFill>
                <a:latin typeface="Instrument Sans Medium"/>
                <a:ea typeface="Instrument Sans Medium"/>
                <a:cs typeface="Instrument Sans Medium"/>
                <a:sym typeface="Instrument Sans Medium"/>
              </a:rPr>
              <a:t>€500M budget</a:t>
            </a:r>
            <a:r>
              <a:rPr b="0" i="0" lang="en-US" sz="1400" u="none" cap="none" strike="noStrike">
                <a:solidFill>
                  <a:srgbClr val="000000"/>
                </a:solidFill>
                <a:latin typeface="Instrument Sans Medium"/>
                <a:ea typeface="Instrument Sans Medium"/>
                <a:cs typeface="Instrument Sans Medium"/>
                <a:sym typeface="Instrument Sans Medium"/>
              </a:rPr>
              <a:t>, meets all positional quotas (3 GKs, 8 DEFs, 8 MIDs, 6 FWDs), and has a </a:t>
            </a:r>
            <a:r>
              <a:rPr lang="en-US">
                <a:latin typeface="Instrument Sans Medium"/>
                <a:ea typeface="Instrument Sans Medium"/>
                <a:cs typeface="Instrument Sans Medium"/>
                <a:sym typeface="Instrument Sans Medium"/>
              </a:rPr>
              <a:t>great </a:t>
            </a:r>
            <a:r>
              <a:rPr b="0" i="0" lang="en-US" sz="1400" u="none" cap="none" strike="noStrike">
                <a:solidFill>
                  <a:srgbClr val="000000"/>
                </a:solidFill>
                <a:latin typeface="Instrument Sans Medium"/>
                <a:ea typeface="Instrument Sans Medium"/>
                <a:cs typeface="Instrument Sans Medium"/>
                <a:sym typeface="Instrument Sans Medium"/>
              </a:rPr>
              <a:t> average Overall rating, making it competitive from its inception. (Full 25-man roster available in the appendix.)</a:t>
            </a:r>
            <a:endParaRPr b="0" i="0" sz="1400" u="none" cap="none" strike="noStrike"/>
          </a:p>
        </p:txBody>
      </p:sp>
      <p:sp>
        <p:nvSpPr>
          <p:cNvPr id="189" name="Google Shape;189;p16"/>
          <p:cNvSpPr/>
          <p:nvPr/>
        </p:nvSpPr>
        <p:spPr>
          <a:xfrm>
            <a:off x="12653400" y="7813578"/>
            <a:ext cx="1977000" cy="340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7"/>
          <p:cNvSpPr/>
          <p:nvPr/>
        </p:nvSpPr>
        <p:spPr>
          <a:xfrm>
            <a:off x="360838" y="578775"/>
            <a:ext cx="139086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505468"/>
              </a:buClr>
              <a:buSzPts val="4450"/>
              <a:buFont typeface="Instrument Sans SemiBold"/>
              <a:buNone/>
            </a:pPr>
            <a:r>
              <a:rPr b="1" i="0" lang="en-US" sz="4450" u="none" cap="none" strike="noStrike">
                <a:solidFill>
                  <a:srgbClr val="505468"/>
                </a:solidFill>
                <a:latin typeface="Instrument Sans SemiBold"/>
                <a:ea typeface="Instrument Sans SemiBold"/>
                <a:cs typeface="Instrument Sans SemiBold"/>
                <a:sym typeface="Instrument Sans SemiBold"/>
              </a:rPr>
              <a:t>The Playbook: Chemistry-Optimized Starting XIs</a:t>
            </a:r>
            <a:endParaRPr b="0" i="0" sz="4450" u="none" cap="none" strike="noStrike"/>
          </a:p>
        </p:txBody>
      </p:sp>
      <p:sp>
        <p:nvSpPr>
          <p:cNvPr id="196" name="Google Shape;196;p17"/>
          <p:cNvSpPr/>
          <p:nvPr/>
        </p:nvSpPr>
        <p:spPr>
          <a:xfrm>
            <a:off x="793802" y="1627825"/>
            <a:ext cx="7145100" cy="425400"/>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505468"/>
              </a:buClr>
              <a:buSzPts val="2650"/>
              <a:buFont typeface="Instrument Sans SemiBold"/>
              <a:buNone/>
            </a:pPr>
            <a:r>
              <a:rPr b="1" i="0" lang="en-US" sz="2650" u="none" cap="none" strike="noStrike">
                <a:solidFill>
                  <a:srgbClr val="505468"/>
                </a:solidFill>
                <a:latin typeface="Instrument Sans SemiBold"/>
                <a:ea typeface="Instrument Sans SemiBold"/>
                <a:cs typeface="Instrument Sans SemiBold"/>
                <a:sym typeface="Instrument Sans SemiBold"/>
              </a:rPr>
              <a:t>Tactical Flexibility for Any Opponent</a:t>
            </a:r>
            <a:endParaRPr b="0" i="0" sz="2650" u="none" cap="none" strike="noStrike"/>
          </a:p>
        </p:txBody>
      </p:sp>
      <p:sp>
        <p:nvSpPr>
          <p:cNvPr id="197" name="Google Shape;197;p17"/>
          <p:cNvSpPr/>
          <p:nvPr/>
        </p:nvSpPr>
        <p:spPr>
          <a:xfrm>
            <a:off x="793790" y="2393275"/>
            <a:ext cx="4196358" cy="5008007"/>
          </a:xfrm>
          <a:prstGeom prst="roundRect">
            <a:avLst>
              <a:gd fmla="val 3486" name="adj"/>
            </a:avLst>
          </a:prstGeom>
          <a:solidFill>
            <a:srgbClr val="FFFFFF">
              <a:alpha val="94902"/>
            </a:srgbClr>
          </a:solidFill>
          <a:ln cap="flat" cmpd="sng" w="30475">
            <a:solidFill>
              <a:srgbClr val="C8C9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8" name="Google Shape;198;p17"/>
          <p:cNvPicPr preferRelativeResize="0"/>
          <p:nvPr/>
        </p:nvPicPr>
        <p:blipFill rotWithShape="1">
          <a:blip r:embed="rId3">
            <a:alphaModFix/>
          </a:blip>
          <a:srcRect b="0" l="0" r="0" t="0"/>
          <a:stretch/>
        </p:blipFill>
        <p:spPr>
          <a:xfrm>
            <a:off x="763310" y="2393275"/>
            <a:ext cx="121920" cy="5008007"/>
          </a:xfrm>
          <a:prstGeom prst="rect">
            <a:avLst/>
          </a:prstGeom>
          <a:noFill/>
          <a:ln>
            <a:noFill/>
          </a:ln>
        </p:spPr>
      </p:pic>
      <p:sp>
        <p:nvSpPr>
          <p:cNvPr id="199" name="Google Shape;199;p17"/>
          <p:cNvSpPr/>
          <p:nvPr/>
        </p:nvSpPr>
        <p:spPr>
          <a:xfrm>
            <a:off x="1142524" y="2650569"/>
            <a:ext cx="3051334"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nstrument Sans SemiBold"/>
              <a:buNone/>
            </a:pPr>
            <a:r>
              <a:rPr b="1" i="0" lang="en-US" sz="2200" u="none" cap="none" strike="noStrike">
                <a:solidFill>
                  <a:srgbClr val="000000"/>
                </a:solidFill>
                <a:latin typeface="Instrument Sans SemiBold"/>
                <a:ea typeface="Instrument Sans SemiBold"/>
                <a:cs typeface="Instrument Sans SemiBold"/>
                <a:sym typeface="Instrument Sans SemiBold"/>
              </a:rPr>
              <a:t>⚽</a:t>
            </a:r>
            <a:r>
              <a:rPr b="1" i="0" lang="en-US" sz="2200" u="none" cap="none" strike="noStrike">
                <a:solidFill>
                  <a:srgbClr val="5B5F71"/>
                </a:solidFill>
                <a:latin typeface="Instrument Sans SemiBold"/>
                <a:ea typeface="Instrument Sans SemiBold"/>
                <a:cs typeface="Instrument Sans SemiBold"/>
                <a:sym typeface="Instrument Sans SemiBold"/>
              </a:rPr>
              <a:t> Balanced (4-4-2) </a:t>
            </a:r>
            <a:r>
              <a:rPr b="1" i="0" lang="en-US" sz="2200" u="none" cap="none" strike="noStrike">
                <a:solidFill>
                  <a:srgbClr val="000000"/>
                </a:solidFill>
                <a:latin typeface="Instrument Sans SemiBold"/>
                <a:ea typeface="Instrument Sans SemiBold"/>
                <a:cs typeface="Instrument Sans SemiBold"/>
                <a:sym typeface="Instrument Sans SemiBold"/>
              </a:rPr>
              <a:t>⚽</a:t>
            </a:r>
            <a:endParaRPr b="0" i="0" sz="2200" u="none" cap="none" strike="noStrike"/>
          </a:p>
        </p:txBody>
      </p:sp>
      <p:sp>
        <p:nvSpPr>
          <p:cNvPr id="200" name="Google Shape;200;p17"/>
          <p:cNvSpPr/>
          <p:nvPr/>
        </p:nvSpPr>
        <p:spPr>
          <a:xfrm>
            <a:off x="1142524" y="3140988"/>
            <a:ext cx="3590330"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0" i="0" lang="en-US" sz="1750" u="none" cap="none" strike="noStrike">
                <a:solidFill>
                  <a:srgbClr val="5B5F71"/>
                </a:solidFill>
                <a:latin typeface="Instrument Sans Medium"/>
                <a:ea typeface="Instrument Sans Medium"/>
                <a:cs typeface="Instrument Sans Medium"/>
                <a:sym typeface="Instrument Sans Medium"/>
              </a:rPr>
              <a:t>Our go-to lineup, selected for the best combination of overall quality and player cohesion.</a:t>
            </a:r>
            <a:endParaRPr b="0" i="0" sz="1750" u="none" cap="none" strike="noStrike"/>
          </a:p>
        </p:txBody>
      </p:sp>
      <p:sp>
        <p:nvSpPr>
          <p:cNvPr id="201" name="Google Shape;201;p17"/>
          <p:cNvSpPr/>
          <p:nvPr/>
        </p:nvSpPr>
        <p:spPr>
          <a:xfrm>
            <a:off x="1142524" y="4365784"/>
            <a:ext cx="359033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GK:</a:t>
            </a:r>
            <a:r>
              <a:rPr b="0" i="0" lang="en-US" sz="1750" u="none" cap="none" strike="noStrike">
                <a:solidFill>
                  <a:srgbClr val="5B5F71"/>
                </a:solidFill>
                <a:latin typeface="Instrument Sans Medium"/>
                <a:ea typeface="Instrument Sans Medium"/>
                <a:cs typeface="Instrument Sans Medium"/>
                <a:sym typeface="Instrument Sans Medium"/>
              </a:rPr>
              <a:t> Ederson</a:t>
            </a:r>
            <a:endParaRPr b="0" i="0" sz="1750" u="none" cap="none" strike="noStrike"/>
          </a:p>
        </p:txBody>
      </p:sp>
      <p:sp>
        <p:nvSpPr>
          <p:cNvPr id="202" name="Google Shape;202;p17"/>
          <p:cNvSpPr/>
          <p:nvPr/>
        </p:nvSpPr>
        <p:spPr>
          <a:xfrm>
            <a:off x="1142524" y="4807982"/>
            <a:ext cx="359033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DEF:</a:t>
            </a:r>
            <a:r>
              <a:rPr b="0" i="0" lang="en-US" sz="1750" u="none" cap="none" strike="noStrike">
                <a:solidFill>
                  <a:srgbClr val="5B5F71"/>
                </a:solidFill>
                <a:latin typeface="Instrument Sans Medium"/>
                <a:ea typeface="Instrument Sans Medium"/>
                <a:cs typeface="Instrument Sans Medium"/>
                <a:sym typeface="Instrument Sans Medium"/>
              </a:rPr>
              <a:t> Thiago Silva, Naldo, V. Kompany, Pepe</a:t>
            </a:r>
            <a:endParaRPr b="0" i="0" sz="1750" u="none" cap="none" strike="noStrike"/>
          </a:p>
        </p:txBody>
      </p:sp>
      <p:sp>
        <p:nvSpPr>
          <p:cNvPr id="203" name="Google Shape;203;p17"/>
          <p:cNvSpPr/>
          <p:nvPr/>
        </p:nvSpPr>
        <p:spPr>
          <a:xfrm>
            <a:off x="1142524" y="5613083"/>
            <a:ext cx="359033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MID:</a:t>
            </a:r>
            <a:r>
              <a:rPr b="0" i="0" lang="en-US" sz="1750" u="none" cap="none" strike="noStrike">
                <a:solidFill>
                  <a:srgbClr val="5B5F71"/>
                </a:solidFill>
                <a:latin typeface="Instrument Sans Medium"/>
                <a:ea typeface="Instrument Sans Medium"/>
                <a:cs typeface="Instrument Sans Medium"/>
                <a:sym typeface="Instrument Sans Medium"/>
              </a:rPr>
              <a:t> A. Vidal, R. Dourado, D. García, T. Delaney</a:t>
            </a:r>
            <a:endParaRPr b="0" i="0" sz="1750" u="none" cap="none" strike="noStrike"/>
          </a:p>
        </p:txBody>
      </p:sp>
      <p:sp>
        <p:nvSpPr>
          <p:cNvPr id="204" name="Google Shape;204;p17"/>
          <p:cNvSpPr/>
          <p:nvPr/>
        </p:nvSpPr>
        <p:spPr>
          <a:xfrm>
            <a:off x="1142524" y="6418183"/>
            <a:ext cx="359033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FWD:</a:t>
            </a:r>
            <a:r>
              <a:rPr b="0" i="0" lang="en-US" sz="1750" u="none" cap="none" strike="noStrike">
                <a:solidFill>
                  <a:srgbClr val="5B5F71"/>
                </a:solidFill>
                <a:latin typeface="Instrument Sans Medium"/>
                <a:ea typeface="Instrument Sans Medium"/>
                <a:cs typeface="Instrument Sans Medium"/>
                <a:sym typeface="Instrument Sans Medium"/>
              </a:rPr>
              <a:t> R. Mahrez, Lucas Vázquez</a:t>
            </a:r>
            <a:endParaRPr b="0" i="0" sz="1750" u="none" cap="none" strike="noStrike"/>
          </a:p>
        </p:txBody>
      </p:sp>
      <p:sp>
        <p:nvSpPr>
          <p:cNvPr id="205" name="Google Shape;205;p17"/>
          <p:cNvSpPr/>
          <p:nvPr/>
        </p:nvSpPr>
        <p:spPr>
          <a:xfrm>
            <a:off x="5216962" y="2393275"/>
            <a:ext cx="4196358" cy="5008007"/>
          </a:xfrm>
          <a:prstGeom prst="roundRect">
            <a:avLst>
              <a:gd fmla="val 3486" name="adj"/>
            </a:avLst>
          </a:prstGeom>
          <a:solidFill>
            <a:srgbClr val="FFFFFF">
              <a:alpha val="94902"/>
            </a:srgbClr>
          </a:solidFill>
          <a:ln cap="flat" cmpd="sng" w="30475">
            <a:solidFill>
              <a:srgbClr val="C8C9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6" name="Google Shape;206;p17"/>
          <p:cNvPicPr preferRelativeResize="0"/>
          <p:nvPr/>
        </p:nvPicPr>
        <p:blipFill rotWithShape="1">
          <a:blip r:embed="rId3">
            <a:alphaModFix/>
          </a:blip>
          <a:srcRect b="0" l="0" r="0" t="0"/>
          <a:stretch/>
        </p:blipFill>
        <p:spPr>
          <a:xfrm>
            <a:off x="5186482" y="2393275"/>
            <a:ext cx="121920" cy="5008007"/>
          </a:xfrm>
          <a:prstGeom prst="rect">
            <a:avLst/>
          </a:prstGeom>
          <a:noFill/>
          <a:ln>
            <a:noFill/>
          </a:ln>
        </p:spPr>
      </p:pic>
      <p:sp>
        <p:nvSpPr>
          <p:cNvPr id="207" name="Google Shape;207;p17"/>
          <p:cNvSpPr/>
          <p:nvPr/>
        </p:nvSpPr>
        <p:spPr>
          <a:xfrm>
            <a:off x="5565696" y="2650569"/>
            <a:ext cx="313205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nstrument Sans SemiBold"/>
              <a:buNone/>
            </a:pPr>
            <a:r>
              <a:rPr b="1" i="0" lang="en-US" sz="2200" u="none" cap="none" strike="noStrike">
                <a:solidFill>
                  <a:srgbClr val="5B5F71"/>
                </a:solidFill>
                <a:latin typeface="Instrument Sans SemiBold"/>
                <a:ea typeface="Instrument Sans SemiBold"/>
                <a:cs typeface="Instrument Sans SemiBold"/>
                <a:sym typeface="Instrument Sans SemiBold"/>
              </a:rPr>
              <a:t>Defensive (5-3-2) </a:t>
            </a:r>
            <a:endParaRPr b="0" i="0" sz="2200" u="none" cap="none" strike="noStrike"/>
          </a:p>
        </p:txBody>
      </p:sp>
      <p:sp>
        <p:nvSpPr>
          <p:cNvPr id="208" name="Google Shape;208;p17"/>
          <p:cNvSpPr/>
          <p:nvPr/>
        </p:nvSpPr>
        <p:spPr>
          <a:xfrm>
            <a:off x="5565696" y="3140988"/>
            <a:ext cx="3590330"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0" i="0" lang="en-US" sz="1750" u="none" cap="none" strike="noStrike">
                <a:solidFill>
                  <a:srgbClr val="5B5F71"/>
                </a:solidFill>
                <a:latin typeface="Instrument Sans Medium"/>
                <a:ea typeface="Instrument Sans Medium"/>
                <a:cs typeface="Instrument Sans Medium"/>
                <a:sym typeface="Instrument Sans Medium"/>
              </a:rPr>
              <a:t>Built to protect a lead or neutralize a superior attacking opponent. Focuses on highest Defensive Score.</a:t>
            </a:r>
            <a:endParaRPr b="0" i="0" sz="1750" u="none" cap="none" strike="noStrike"/>
          </a:p>
        </p:txBody>
      </p:sp>
      <p:sp>
        <p:nvSpPr>
          <p:cNvPr id="209" name="Google Shape;209;p17"/>
          <p:cNvSpPr/>
          <p:nvPr/>
        </p:nvSpPr>
        <p:spPr>
          <a:xfrm>
            <a:off x="5565696" y="4728686"/>
            <a:ext cx="359033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GK:</a:t>
            </a:r>
            <a:r>
              <a:rPr b="0" i="0" lang="en-US" sz="1750" u="none" cap="none" strike="noStrike">
                <a:solidFill>
                  <a:srgbClr val="5B5F71"/>
                </a:solidFill>
                <a:latin typeface="Instrument Sans Medium"/>
                <a:ea typeface="Instrument Sans Medium"/>
                <a:cs typeface="Instrument Sans Medium"/>
                <a:sym typeface="Instrument Sans Medium"/>
              </a:rPr>
              <a:t> </a:t>
            </a:r>
            <a:r>
              <a:rPr b="0" i="1" lang="en-US" sz="1750" u="none" cap="none" strike="noStrike">
                <a:solidFill>
                  <a:srgbClr val="5B5F71"/>
                </a:solidFill>
                <a:latin typeface="Instrument Sans Medium"/>
                <a:ea typeface="Instrument Sans Medium"/>
                <a:cs typeface="Instrument Sans Medium"/>
                <a:sym typeface="Instrument Sans Medium"/>
              </a:rPr>
              <a:t>No Change</a:t>
            </a:r>
            <a:endParaRPr b="0" i="0" sz="1750" u="none" cap="none" strike="noStrike"/>
          </a:p>
        </p:txBody>
      </p:sp>
      <p:sp>
        <p:nvSpPr>
          <p:cNvPr id="210" name="Google Shape;210;p17"/>
          <p:cNvSpPr/>
          <p:nvPr/>
        </p:nvSpPr>
        <p:spPr>
          <a:xfrm>
            <a:off x="5565696" y="5170884"/>
            <a:ext cx="359033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DEF:</a:t>
            </a:r>
            <a:r>
              <a:rPr b="0" i="0" lang="en-US" sz="1750" u="none" cap="none" strike="noStrike">
                <a:solidFill>
                  <a:srgbClr val="5B5F71"/>
                </a:solidFill>
                <a:latin typeface="Instrument Sans Medium"/>
                <a:ea typeface="Instrument Sans Medium"/>
                <a:cs typeface="Instrument Sans Medium"/>
                <a:sym typeface="Instrument Sans Medium"/>
              </a:rPr>
              <a:t> </a:t>
            </a:r>
            <a:r>
              <a:rPr b="0" i="1" lang="en-US" sz="1750" u="none" cap="none" strike="noStrike">
                <a:solidFill>
                  <a:srgbClr val="5B5F71"/>
                </a:solidFill>
                <a:latin typeface="Instrument Sans Medium"/>
                <a:ea typeface="Instrument Sans Medium"/>
                <a:cs typeface="Instrument Sans Medium"/>
                <a:sym typeface="Instrument Sans Medium"/>
              </a:rPr>
              <a:t>+1 Defender (Highest Defensive Score)</a:t>
            </a:r>
            <a:endParaRPr b="0" i="0" sz="1750" u="none" cap="none" strike="noStrike"/>
          </a:p>
        </p:txBody>
      </p:sp>
      <p:sp>
        <p:nvSpPr>
          <p:cNvPr id="211" name="Google Shape;211;p17"/>
          <p:cNvSpPr/>
          <p:nvPr/>
        </p:nvSpPr>
        <p:spPr>
          <a:xfrm>
            <a:off x="5565696" y="5975985"/>
            <a:ext cx="359033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MID:</a:t>
            </a:r>
            <a:r>
              <a:rPr b="0" i="0" lang="en-US" sz="1750" u="none" cap="none" strike="noStrike">
                <a:solidFill>
                  <a:srgbClr val="5B5F71"/>
                </a:solidFill>
                <a:latin typeface="Instrument Sans Medium"/>
                <a:ea typeface="Instrument Sans Medium"/>
                <a:cs typeface="Instrument Sans Medium"/>
                <a:sym typeface="Instrument Sans Medium"/>
              </a:rPr>
              <a:t> </a:t>
            </a:r>
            <a:r>
              <a:rPr b="0" i="1" lang="en-US" sz="1750" u="none" cap="none" strike="noStrike">
                <a:solidFill>
                  <a:srgbClr val="5B5F71"/>
                </a:solidFill>
                <a:latin typeface="Instrument Sans Medium"/>
                <a:ea typeface="Instrument Sans Medium"/>
                <a:cs typeface="Instrument Sans Medium"/>
                <a:sym typeface="Instrument Sans Medium"/>
              </a:rPr>
              <a:t>-1 Midfielder (Sacrifice one winger)</a:t>
            </a:r>
            <a:endParaRPr b="0" i="0" sz="1750" u="none" cap="none" strike="noStrike"/>
          </a:p>
        </p:txBody>
      </p:sp>
      <p:sp>
        <p:nvSpPr>
          <p:cNvPr id="212" name="Google Shape;212;p17"/>
          <p:cNvSpPr/>
          <p:nvPr/>
        </p:nvSpPr>
        <p:spPr>
          <a:xfrm>
            <a:off x="5565696" y="6781086"/>
            <a:ext cx="359033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FWD:</a:t>
            </a:r>
            <a:r>
              <a:rPr b="0" i="0" lang="en-US" sz="1750" u="none" cap="none" strike="noStrike">
                <a:solidFill>
                  <a:srgbClr val="5B5F71"/>
                </a:solidFill>
                <a:latin typeface="Instrument Sans Medium"/>
                <a:ea typeface="Instrument Sans Medium"/>
                <a:cs typeface="Instrument Sans Medium"/>
                <a:sym typeface="Instrument Sans Medium"/>
              </a:rPr>
              <a:t> </a:t>
            </a:r>
            <a:r>
              <a:rPr b="0" i="1" lang="en-US" sz="1750" u="none" cap="none" strike="noStrike">
                <a:solidFill>
                  <a:srgbClr val="5B5F71"/>
                </a:solidFill>
                <a:latin typeface="Instrument Sans Medium"/>
                <a:ea typeface="Instrument Sans Medium"/>
                <a:cs typeface="Instrument Sans Medium"/>
                <a:sym typeface="Instrument Sans Medium"/>
              </a:rPr>
              <a:t>No Change</a:t>
            </a:r>
            <a:endParaRPr b="0" i="0" sz="1750" u="none" cap="none" strike="noStrike"/>
          </a:p>
        </p:txBody>
      </p:sp>
      <p:sp>
        <p:nvSpPr>
          <p:cNvPr id="213" name="Google Shape;213;p17"/>
          <p:cNvSpPr/>
          <p:nvPr/>
        </p:nvSpPr>
        <p:spPr>
          <a:xfrm>
            <a:off x="9640133" y="2393275"/>
            <a:ext cx="4196358" cy="5008007"/>
          </a:xfrm>
          <a:prstGeom prst="roundRect">
            <a:avLst>
              <a:gd fmla="val 3486" name="adj"/>
            </a:avLst>
          </a:prstGeom>
          <a:solidFill>
            <a:srgbClr val="FFFFFF">
              <a:alpha val="94902"/>
            </a:srgbClr>
          </a:solidFill>
          <a:ln cap="flat" cmpd="sng" w="30475">
            <a:solidFill>
              <a:srgbClr val="C8C9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4" name="Google Shape;214;p17"/>
          <p:cNvPicPr preferRelativeResize="0"/>
          <p:nvPr/>
        </p:nvPicPr>
        <p:blipFill rotWithShape="1">
          <a:blip r:embed="rId3">
            <a:alphaModFix/>
          </a:blip>
          <a:srcRect b="0" l="0" r="0" t="0"/>
          <a:stretch/>
        </p:blipFill>
        <p:spPr>
          <a:xfrm>
            <a:off x="9609653" y="2393275"/>
            <a:ext cx="121920" cy="5008007"/>
          </a:xfrm>
          <a:prstGeom prst="rect">
            <a:avLst/>
          </a:prstGeom>
          <a:noFill/>
          <a:ln>
            <a:noFill/>
          </a:ln>
        </p:spPr>
      </p:pic>
      <p:sp>
        <p:nvSpPr>
          <p:cNvPr id="215" name="Google Shape;215;p17"/>
          <p:cNvSpPr/>
          <p:nvPr/>
        </p:nvSpPr>
        <p:spPr>
          <a:xfrm>
            <a:off x="9988868" y="2650569"/>
            <a:ext cx="309919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nstrument Sans SemiBold"/>
              <a:buNone/>
            </a:pPr>
            <a:r>
              <a:rPr b="1" i="0" lang="en-US" sz="2200" u="none" cap="none" strike="noStrike">
                <a:solidFill>
                  <a:srgbClr val="000000"/>
                </a:solidFill>
                <a:latin typeface="Instrument Sans SemiBold"/>
                <a:ea typeface="Instrument Sans SemiBold"/>
                <a:cs typeface="Instrument Sans SemiBold"/>
                <a:sym typeface="Instrument Sans SemiBold"/>
              </a:rPr>
              <a:t>⚔️</a:t>
            </a:r>
            <a:r>
              <a:rPr b="1" i="0" lang="en-US" sz="2200" u="none" cap="none" strike="noStrike">
                <a:solidFill>
                  <a:srgbClr val="5B5F71"/>
                </a:solidFill>
                <a:latin typeface="Instrument Sans SemiBold"/>
                <a:ea typeface="Instrument Sans SemiBold"/>
                <a:cs typeface="Instrument Sans SemiBold"/>
                <a:sym typeface="Instrument Sans SemiBold"/>
              </a:rPr>
              <a:t> Offensive (4-3-3) </a:t>
            </a:r>
            <a:r>
              <a:rPr b="1" i="0" lang="en-US" sz="2200" u="none" cap="none" strike="noStrike">
                <a:solidFill>
                  <a:srgbClr val="000000"/>
                </a:solidFill>
                <a:latin typeface="Instrument Sans SemiBold"/>
                <a:ea typeface="Instrument Sans SemiBold"/>
                <a:cs typeface="Instrument Sans SemiBold"/>
                <a:sym typeface="Instrument Sans SemiBold"/>
              </a:rPr>
              <a:t>⚔️</a:t>
            </a:r>
            <a:endParaRPr b="0" i="0" sz="2200" u="none" cap="none" strike="noStrike"/>
          </a:p>
        </p:txBody>
      </p:sp>
      <p:sp>
        <p:nvSpPr>
          <p:cNvPr id="216" name="Google Shape;216;p17"/>
          <p:cNvSpPr/>
          <p:nvPr/>
        </p:nvSpPr>
        <p:spPr>
          <a:xfrm>
            <a:off x="9988868" y="3140988"/>
            <a:ext cx="3590330"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0" i="0" lang="en-US" sz="1750" u="none" cap="none" strike="noStrike">
                <a:solidFill>
                  <a:srgbClr val="5B5F71"/>
                </a:solidFill>
                <a:latin typeface="Instrument Sans Medium"/>
                <a:ea typeface="Instrument Sans Medium"/>
                <a:cs typeface="Instrument Sans Medium"/>
                <a:sym typeface="Instrument Sans Medium"/>
              </a:rPr>
              <a:t>Designed to dominate possession and apply relentless pressure in attack. Focuses on highest Offensive Score.</a:t>
            </a:r>
            <a:endParaRPr b="0" i="0" sz="1750" u="none" cap="none" strike="noStrike"/>
          </a:p>
        </p:txBody>
      </p:sp>
      <p:sp>
        <p:nvSpPr>
          <p:cNvPr id="217" name="Google Shape;217;p17"/>
          <p:cNvSpPr/>
          <p:nvPr/>
        </p:nvSpPr>
        <p:spPr>
          <a:xfrm>
            <a:off x="9988868" y="4728686"/>
            <a:ext cx="359033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GK:</a:t>
            </a:r>
            <a:r>
              <a:rPr b="0" i="0" lang="en-US" sz="1750" u="none" cap="none" strike="noStrike">
                <a:solidFill>
                  <a:srgbClr val="5B5F71"/>
                </a:solidFill>
                <a:latin typeface="Instrument Sans Medium"/>
                <a:ea typeface="Instrument Sans Medium"/>
                <a:cs typeface="Instrument Sans Medium"/>
                <a:sym typeface="Instrument Sans Medium"/>
              </a:rPr>
              <a:t> </a:t>
            </a:r>
            <a:r>
              <a:rPr b="0" i="1" lang="en-US" sz="1750" u="none" cap="none" strike="noStrike">
                <a:solidFill>
                  <a:srgbClr val="5B5F71"/>
                </a:solidFill>
                <a:latin typeface="Instrument Sans Medium"/>
                <a:ea typeface="Instrument Sans Medium"/>
                <a:cs typeface="Instrument Sans Medium"/>
                <a:sym typeface="Instrument Sans Medium"/>
              </a:rPr>
              <a:t>No Change</a:t>
            </a:r>
            <a:endParaRPr b="0" i="0" sz="1750" u="none" cap="none" strike="noStrike"/>
          </a:p>
        </p:txBody>
      </p:sp>
      <p:sp>
        <p:nvSpPr>
          <p:cNvPr id="218" name="Google Shape;218;p17"/>
          <p:cNvSpPr/>
          <p:nvPr/>
        </p:nvSpPr>
        <p:spPr>
          <a:xfrm>
            <a:off x="9988868" y="5170884"/>
            <a:ext cx="359033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DEF:</a:t>
            </a:r>
            <a:r>
              <a:rPr b="0" i="0" lang="en-US" sz="1750" u="none" cap="none" strike="noStrike">
                <a:solidFill>
                  <a:srgbClr val="5B5F71"/>
                </a:solidFill>
                <a:latin typeface="Instrument Sans Medium"/>
                <a:ea typeface="Instrument Sans Medium"/>
                <a:cs typeface="Instrument Sans Medium"/>
                <a:sym typeface="Instrument Sans Medium"/>
              </a:rPr>
              <a:t> </a:t>
            </a:r>
            <a:r>
              <a:rPr b="0" i="1" lang="en-US" sz="1750" u="none" cap="none" strike="noStrike">
                <a:solidFill>
                  <a:srgbClr val="5B5F71"/>
                </a:solidFill>
                <a:latin typeface="Instrument Sans Medium"/>
                <a:ea typeface="Instrument Sans Medium"/>
                <a:cs typeface="Instrument Sans Medium"/>
                <a:sym typeface="Instrument Sans Medium"/>
              </a:rPr>
              <a:t>No Change</a:t>
            </a:r>
            <a:endParaRPr b="0" i="0" sz="1750" u="none" cap="none" strike="noStrike"/>
          </a:p>
        </p:txBody>
      </p:sp>
      <p:sp>
        <p:nvSpPr>
          <p:cNvPr id="219" name="Google Shape;219;p17"/>
          <p:cNvSpPr/>
          <p:nvPr/>
        </p:nvSpPr>
        <p:spPr>
          <a:xfrm>
            <a:off x="9988868" y="5613083"/>
            <a:ext cx="359033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MID:</a:t>
            </a:r>
            <a:r>
              <a:rPr b="0" i="0" lang="en-US" sz="1750" u="none" cap="none" strike="noStrike">
                <a:solidFill>
                  <a:srgbClr val="5B5F71"/>
                </a:solidFill>
                <a:latin typeface="Instrument Sans Medium"/>
                <a:ea typeface="Instrument Sans Medium"/>
                <a:cs typeface="Instrument Sans Medium"/>
                <a:sym typeface="Instrument Sans Medium"/>
              </a:rPr>
              <a:t> </a:t>
            </a:r>
            <a:r>
              <a:rPr b="0" i="1" lang="en-US" sz="1750" u="none" cap="none" strike="noStrike">
                <a:solidFill>
                  <a:srgbClr val="5B5F71"/>
                </a:solidFill>
                <a:latin typeface="Instrument Sans Medium"/>
                <a:ea typeface="Instrument Sans Medium"/>
                <a:cs typeface="Instrument Sans Medium"/>
                <a:sym typeface="Instrument Sans Medium"/>
              </a:rPr>
              <a:t>-1 Midfielder (To support the attack)</a:t>
            </a:r>
            <a:endParaRPr b="0" i="0" sz="1750" u="none" cap="none" strike="noStrike"/>
          </a:p>
        </p:txBody>
      </p:sp>
      <p:sp>
        <p:nvSpPr>
          <p:cNvPr id="220" name="Google Shape;220;p17"/>
          <p:cNvSpPr/>
          <p:nvPr/>
        </p:nvSpPr>
        <p:spPr>
          <a:xfrm>
            <a:off x="9988868" y="6418183"/>
            <a:ext cx="359033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B5F71"/>
              </a:buClr>
              <a:buSzPts val="1750"/>
              <a:buFont typeface="Instrument Sans Medium"/>
              <a:buNone/>
            </a:pPr>
            <a:r>
              <a:rPr b="1" i="0" lang="en-US" sz="1750" u="none" cap="none" strike="noStrike">
                <a:solidFill>
                  <a:srgbClr val="5B5F71"/>
                </a:solidFill>
                <a:latin typeface="Instrument Sans Medium"/>
                <a:ea typeface="Instrument Sans Medium"/>
                <a:cs typeface="Instrument Sans Medium"/>
                <a:sym typeface="Instrument Sans Medium"/>
              </a:rPr>
              <a:t>FWD:</a:t>
            </a:r>
            <a:r>
              <a:rPr b="0" i="0" lang="en-US" sz="1750" u="none" cap="none" strike="noStrike">
                <a:solidFill>
                  <a:srgbClr val="5B5F71"/>
                </a:solidFill>
                <a:latin typeface="Instrument Sans Medium"/>
                <a:ea typeface="Instrument Sans Medium"/>
                <a:cs typeface="Instrument Sans Medium"/>
                <a:sym typeface="Instrument Sans Medium"/>
              </a:rPr>
              <a:t> +1 Forward (Highest Offensive Score)</a:t>
            </a:r>
            <a:endParaRPr b="0" i="0" sz="1750" u="none" cap="none" strike="noStrike"/>
          </a:p>
        </p:txBody>
      </p:sp>
      <p:sp>
        <p:nvSpPr>
          <p:cNvPr id="221" name="Google Shape;221;p17"/>
          <p:cNvSpPr/>
          <p:nvPr/>
        </p:nvSpPr>
        <p:spPr>
          <a:xfrm>
            <a:off x="12521525" y="7490947"/>
            <a:ext cx="1977000" cy="68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8"/>
          <p:cNvSpPr/>
          <p:nvPr/>
        </p:nvSpPr>
        <p:spPr>
          <a:xfrm>
            <a:off x="654981" y="655450"/>
            <a:ext cx="11553000" cy="584700"/>
          </a:xfrm>
          <a:prstGeom prst="rect">
            <a:avLst/>
          </a:prstGeom>
          <a:noFill/>
          <a:ln>
            <a:noFill/>
          </a:ln>
        </p:spPr>
        <p:txBody>
          <a:bodyPr anchorCtr="0" anchor="t" bIns="0" lIns="0" spcFirstLastPara="1" rIns="0" wrap="square" tIns="0">
            <a:noAutofit/>
          </a:bodyPr>
          <a:lstStyle/>
          <a:p>
            <a:pPr indent="0" lvl="0" marL="0" marR="0" rtl="0" algn="l">
              <a:lnSpc>
                <a:spcPct val="126027"/>
              </a:lnSpc>
              <a:spcBef>
                <a:spcPts val="0"/>
              </a:spcBef>
              <a:spcAft>
                <a:spcPts val="0"/>
              </a:spcAft>
              <a:buClr>
                <a:srgbClr val="505468"/>
              </a:buClr>
              <a:buSzPts val="3650"/>
              <a:buFont typeface="Instrument Sans SemiBold"/>
              <a:buNone/>
            </a:pPr>
            <a:r>
              <a:rPr b="1" i="0" lang="en-US" sz="3650" u="none" cap="none" strike="noStrike">
                <a:solidFill>
                  <a:srgbClr val="505468"/>
                </a:solidFill>
                <a:latin typeface="Instrument Sans SemiBold"/>
                <a:ea typeface="Instrument Sans SemiBold"/>
                <a:cs typeface="Instrument Sans SemiBold"/>
                <a:sym typeface="Instrument Sans SemiBold"/>
              </a:rPr>
              <a:t>The Playbook: In-Game Specialists</a:t>
            </a:r>
            <a:endParaRPr b="0" i="0" sz="3650" u="none" cap="none" strike="noStrike"/>
          </a:p>
        </p:txBody>
      </p:sp>
      <p:sp>
        <p:nvSpPr>
          <p:cNvPr id="228" name="Google Shape;228;p18"/>
          <p:cNvSpPr/>
          <p:nvPr/>
        </p:nvSpPr>
        <p:spPr>
          <a:xfrm>
            <a:off x="654963" y="1314926"/>
            <a:ext cx="5715357" cy="35087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5468"/>
              </a:buClr>
              <a:buSzPts val="2200"/>
              <a:buFont typeface="Instrument Sans SemiBold"/>
              <a:buNone/>
            </a:pPr>
            <a:r>
              <a:rPr b="1" i="0" lang="en-US" sz="2200" u="none" cap="none" strike="noStrike">
                <a:solidFill>
                  <a:srgbClr val="505468"/>
                </a:solidFill>
                <a:latin typeface="Instrument Sans SemiBold"/>
                <a:ea typeface="Instrument Sans SemiBold"/>
                <a:cs typeface="Instrument Sans SemiBold"/>
                <a:sym typeface="Instrument Sans SemiBold"/>
              </a:rPr>
              <a:t>Data-Driven Decisions for Critical Moments</a:t>
            </a:r>
            <a:endParaRPr b="0" i="0" sz="2200" u="none" cap="none" strike="noStrike"/>
          </a:p>
        </p:txBody>
      </p:sp>
      <p:sp>
        <p:nvSpPr>
          <p:cNvPr id="229" name="Google Shape;229;p18"/>
          <p:cNvSpPr/>
          <p:nvPr/>
        </p:nvSpPr>
        <p:spPr>
          <a:xfrm>
            <a:off x="654963" y="2133481"/>
            <a:ext cx="2995493" cy="300038"/>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000000"/>
              </a:buClr>
              <a:buSzPts val="1800"/>
              <a:buFont typeface="Instrument Sans SemiBold"/>
              <a:buNone/>
            </a:pPr>
            <a:r>
              <a:rPr b="1" i="0" lang="en-US" sz="1800" u="none" cap="none" strike="noStrike">
                <a:solidFill>
                  <a:srgbClr val="505468"/>
                </a:solidFill>
                <a:latin typeface="Instrument Sans SemiBold"/>
                <a:ea typeface="Instrument Sans SemiBold"/>
                <a:cs typeface="Instrument Sans SemiBold"/>
                <a:sym typeface="Instrument Sans SemiBold"/>
              </a:rPr>
              <a:t> Set-Piece Specialists </a:t>
            </a:r>
            <a:endParaRPr b="0" i="0" sz="1800" u="none" cap="none" strike="noStrike"/>
          </a:p>
        </p:txBody>
      </p:sp>
      <p:sp>
        <p:nvSpPr>
          <p:cNvPr id="230" name="Google Shape;230;p18"/>
          <p:cNvSpPr/>
          <p:nvPr/>
        </p:nvSpPr>
        <p:spPr>
          <a:xfrm>
            <a:off x="654963" y="2644021"/>
            <a:ext cx="6431994" cy="1198721"/>
          </a:xfrm>
          <a:prstGeom prst="roundRect">
            <a:avLst>
              <a:gd fmla="val 6557" name="adj"/>
            </a:avLst>
          </a:prstGeom>
          <a:solidFill>
            <a:srgbClr val="FFFFFF">
              <a:alpha val="94902"/>
            </a:srgbClr>
          </a:solidFill>
          <a:ln cap="flat" cmpd="sng" w="22850">
            <a:solidFill>
              <a:srgbClr val="C8C9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8"/>
          <p:cNvSpPr/>
          <p:nvPr/>
        </p:nvSpPr>
        <p:spPr>
          <a:xfrm>
            <a:off x="864870" y="2853928"/>
            <a:ext cx="2339221" cy="292418"/>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5B5F71"/>
              </a:buClr>
              <a:buSzPts val="1800"/>
              <a:buFont typeface="Instrument Sans SemiBold"/>
              <a:buNone/>
            </a:pPr>
            <a:r>
              <a:rPr b="1" i="0" lang="en-US" sz="1800" u="none" cap="none" strike="noStrike">
                <a:solidFill>
                  <a:srgbClr val="5B5F71"/>
                </a:solidFill>
                <a:latin typeface="Instrument Sans SemiBold"/>
                <a:ea typeface="Instrument Sans SemiBold"/>
                <a:cs typeface="Instrument Sans SemiBold"/>
                <a:sym typeface="Instrument Sans SemiBold"/>
              </a:rPr>
              <a:t>Penalty Taker</a:t>
            </a:r>
            <a:endParaRPr b="0" i="0" sz="1800" u="none" cap="none" strike="noStrike"/>
          </a:p>
        </p:txBody>
      </p:sp>
      <p:sp>
        <p:nvSpPr>
          <p:cNvPr id="232" name="Google Shape;232;p18"/>
          <p:cNvSpPr/>
          <p:nvPr/>
        </p:nvSpPr>
        <p:spPr>
          <a:xfrm>
            <a:off x="864870" y="3333393"/>
            <a:ext cx="6012180" cy="299442"/>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A. Vidal</a:t>
            </a:r>
            <a:r>
              <a:rPr b="0" i="0" lang="en-US" sz="1450" u="none" cap="none" strike="noStrike">
                <a:solidFill>
                  <a:srgbClr val="5B5F71"/>
                </a:solidFill>
                <a:latin typeface="Instrument Sans Medium"/>
                <a:ea typeface="Instrument Sans Medium"/>
                <a:cs typeface="Instrument Sans Medium"/>
                <a:sym typeface="Instrument Sans Medium"/>
              </a:rPr>
              <a:t> (Consistent conversion rate and composure under pressure)</a:t>
            </a:r>
            <a:endParaRPr b="0" i="0" sz="1450" u="none" cap="none" strike="noStrike"/>
          </a:p>
        </p:txBody>
      </p:sp>
      <p:sp>
        <p:nvSpPr>
          <p:cNvPr id="233" name="Google Shape;233;p18"/>
          <p:cNvSpPr/>
          <p:nvPr/>
        </p:nvSpPr>
        <p:spPr>
          <a:xfrm>
            <a:off x="654963" y="4029789"/>
            <a:ext cx="6431994" cy="1198721"/>
          </a:xfrm>
          <a:prstGeom prst="roundRect">
            <a:avLst>
              <a:gd fmla="val 6557" name="adj"/>
            </a:avLst>
          </a:prstGeom>
          <a:solidFill>
            <a:srgbClr val="FFFFFF">
              <a:alpha val="94902"/>
            </a:srgbClr>
          </a:solidFill>
          <a:ln cap="flat" cmpd="sng" w="22850">
            <a:solidFill>
              <a:srgbClr val="C8C9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8"/>
          <p:cNvSpPr/>
          <p:nvPr/>
        </p:nvSpPr>
        <p:spPr>
          <a:xfrm>
            <a:off x="864870" y="4239697"/>
            <a:ext cx="2339221" cy="292418"/>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5B5F71"/>
              </a:buClr>
              <a:buSzPts val="1800"/>
              <a:buFont typeface="Instrument Sans SemiBold"/>
              <a:buNone/>
            </a:pPr>
            <a:r>
              <a:rPr b="1" i="0" lang="en-US" sz="1800" u="none" cap="none" strike="noStrike">
                <a:solidFill>
                  <a:srgbClr val="5B5F71"/>
                </a:solidFill>
                <a:latin typeface="Instrument Sans SemiBold"/>
                <a:ea typeface="Instrument Sans SemiBold"/>
                <a:cs typeface="Instrument Sans SemiBold"/>
                <a:sym typeface="Instrument Sans SemiBold"/>
              </a:rPr>
              <a:t>Direct Free Kick</a:t>
            </a:r>
            <a:endParaRPr b="0" i="0" sz="1800" u="none" cap="none" strike="noStrike"/>
          </a:p>
        </p:txBody>
      </p:sp>
      <p:sp>
        <p:nvSpPr>
          <p:cNvPr id="235" name="Google Shape;235;p18"/>
          <p:cNvSpPr/>
          <p:nvPr/>
        </p:nvSpPr>
        <p:spPr>
          <a:xfrm>
            <a:off x="864870" y="4719161"/>
            <a:ext cx="6012180" cy="299442"/>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R. Mahrez</a:t>
            </a:r>
            <a:r>
              <a:rPr b="0" i="0" lang="en-US" sz="1450" u="none" cap="none" strike="noStrike">
                <a:solidFill>
                  <a:srgbClr val="5B5F71"/>
                </a:solidFill>
                <a:latin typeface="Instrument Sans Medium"/>
                <a:ea typeface="Instrument Sans Medium"/>
                <a:cs typeface="Instrument Sans Medium"/>
                <a:sym typeface="Instrument Sans Medium"/>
              </a:rPr>
              <a:t> (High curve and accuracy rating)</a:t>
            </a:r>
            <a:endParaRPr b="0" i="0" sz="1450" u="none" cap="none" strike="noStrike"/>
          </a:p>
        </p:txBody>
      </p:sp>
      <p:sp>
        <p:nvSpPr>
          <p:cNvPr id="236" name="Google Shape;236;p18"/>
          <p:cNvSpPr/>
          <p:nvPr/>
        </p:nvSpPr>
        <p:spPr>
          <a:xfrm>
            <a:off x="654963" y="5415558"/>
            <a:ext cx="6431994" cy="1498163"/>
          </a:xfrm>
          <a:prstGeom prst="roundRect">
            <a:avLst>
              <a:gd fmla="val 5246" name="adj"/>
            </a:avLst>
          </a:prstGeom>
          <a:solidFill>
            <a:srgbClr val="FFFFFF">
              <a:alpha val="94902"/>
            </a:srgbClr>
          </a:solidFill>
          <a:ln cap="flat" cmpd="sng" w="22850">
            <a:solidFill>
              <a:srgbClr val="C8C9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8"/>
          <p:cNvSpPr/>
          <p:nvPr/>
        </p:nvSpPr>
        <p:spPr>
          <a:xfrm>
            <a:off x="864870" y="5625465"/>
            <a:ext cx="2339221" cy="292418"/>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5B5F71"/>
              </a:buClr>
              <a:buSzPts val="1800"/>
              <a:buFont typeface="Instrument Sans SemiBold"/>
              <a:buNone/>
            </a:pPr>
            <a:r>
              <a:rPr b="1" i="0" lang="en-US" sz="1800" u="none" cap="none" strike="noStrike">
                <a:solidFill>
                  <a:srgbClr val="5B5F71"/>
                </a:solidFill>
                <a:latin typeface="Instrument Sans SemiBold"/>
                <a:ea typeface="Instrument Sans SemiBold"/>
                <a:cs typeface="Instrument Sans SemiBold"/>
                <a:sym typeface="Instrument Sans SemiBold"/>
              </a:rPr>
              <a:t>Corner Kicks</a:t>
            </a:r>
            <a:endParaRPr b="0" i="0" sz="1800" u="none" cap="none" strike="noStrike"/>
          </a:p>
        </p:txBody>
      </p:sp>
      <p:sp>
        <p:nvSpPr>
          <p:cNvPr id="238" name="Google Shape;238;p18"/>
          <p:cNvSpPr/>
          <p:nvPr/>
        </p:nvSpPr>
        <p:spPr>
          <a:xfrm>
            <a:off x="864870" y="6104930"/>
            <a:ext cx="6012180" cy="598884"/>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Lucas Vázquez</a:t>
            </a:r>
            <a:r>
              <a:rPr b="0" i="0" lang="en-US" sz="1450" u="none" cap="none" strike="noStrike">
                <a:solidFill>
                  <a:srgbClr val="5B5F71"/>
                </a:solidFill>
                <a:latin typeface="Instrument Sans Medium"/>
                <a:ea typeface="Instrument Sans Medium"/>
                <a:cs typeface="Instrument Sans Medium"/>
                <a:sym typeface="Instrument Sans Medium"/>
              </a:rPr>
              <a:t> (Optimal delivery and trajectory for attacking headers)</a:t>
            </a:r>
            <a:endParaRPr b="0" i="0" sz="1450" u="none" cap="none" strike="noStrike"/>
          </a:p>
        </p:txBody>
      </p:sp>
      <p:sp>
        <p:nvSpPr>
          <p:cNvPr id="239" name="Google Shape;239;p18"/>
          <p:cNvSpPr/>
          <p:nvPr/>
        </p:nvSpPr>
        <p:spPr>
          <a:xfrm>
            <a:off x="7551063" y="2133481"/>
            <a:ext cx="2771061" cy="300038"/>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000000"/>
              </a:buClr>
              <a:buSzPts val="1800"/>
              <a:buFont typeface="Instrument Sans SemiBold"/>
              <a:buNone/>
            </a:pPr>
            <a:r>
              <a:rPr b="1" i="0" lang="en-US" sz="1800" u="none" cap="none" strike="noStrike">
                <a:solidFill>
                  <a:srgbClr val="000000"/>
                </a:solidFill>
                <a:latin typeface="Instrument Sans SemiBold"/>
                <a:ea typeface="Instrument Sans SemiBold"/>
                <a:cs typeface="Instrument Sans SemiBold"/>
                <a:sym typeface="Instrument Sans SemiBold"/>
              </a:rPr>
              <a:t>⚡</a:t>
            </a:r>
            <a:r>
              <a:rPr b="1" i="0" lang="en-US" sz="1800" u="none" cap="none" strike="noStrike">
                <a:solidFill>
                  <a:srgbClr val="505468"/>
                </a:solidFill>
                <a:latin typeface="Instrument Sans SemiBold"/>
                <a:ea typeface="Instrument Sans SemiBold"/>
                <a:cs typeface="Instrument Sans SemiBold"/>
                <a:sym typeface="Instrument Sans SemiBold"/>
              </a:rPr>
              <a:t> Impact Substitutes </a:t>
            </a:r>
            <a:r>
              <a:rPr b="1" i="0" lang="en-US" sz="1800" u="none" cap="none" strike="noStrike">
                <a:solidFill>
                  <a:srgbClr val="000000"/>
                </a:solidFill>
                <a:latin typeface="Instrument Sans SemiBold"/>
                <a:ea typeface="Instrument Sans SemiBold"/>
                <a:cs typeface="Instrument Sans SemiBold"/>
                <a:sym typeface="Instrument Sans SemiBold"/>
              </a:rPr>
              <a:t>⚡</a:t>
            </a:r>
            <a:endParaRPr b="0" i="0" sz="1800" u="none" cap="none" strike="noStrike"/>
          </a:p>
        </p:txBody>
      </p:sp>
      <p:sp>
        <p:nvSpPr>
          <p:cNvPr id="240" name="Google Shape;240;p18"/>
          <p:cNvSpPr/>
          <p:nvPr/>
        </p:nvSpPr>
        <p:spPr>
          <a:xfrm>
            <a:off x="7551063" y="2644021"/>
            <a:ext cx="6431994" cy="1198721"/>
          </a:xfrm>
          <a:prstGeom prst="roundRect">
            <a:avLst>
              <a:gd fmla="val 6557" name="adj"/>
            </a:avLst>
          </a:prstGeom>
          <a:solidFill>
            <a:srgbClr val="FFFFFF">
              <a:alpha val="94902"/>
            </a:srgbClr>
          </a:solidFill>
          <a:ln cap="flat" cmpd="sng" w="22850">
            <a:solidFill>
              <a:srgbClr val="C8C9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8"/>
          <p:cNvSpPr/>
          <p:nvPr/>
        </p:nvSpPr>
        <p:spPr>
          <a:xfrm>
            <a:off x="7760970" y="2853928"/>
            <a:ext cx="2339221" cy="292418"/>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5B5F71"/>
              </a:buClr>
              <a:buSzPts val="1800"/>
              <a:buFont typeface="Instrument Sans SemiBold"/>
              <a:buNone/>
            </a:pPr>
            <a:r>
              <a:rPr b="1" i="0" lang="en-US" sz="1800" u="none" cap="none" strike="noStrike">
                <a:solidFill>
                  <a:srgbClr val="5B5F71"/>
                </a:solidFill>
                <a:latin typeface="Instrument Sans SemiBold"/>
                <a:ea typeface="Instrument Sans SemiBold"/>
                <a:cs typeface="Instrument Sans SemiBold"/>
                <a:sym typeface="Instrument Sans SemiBold"/>
              </a:rPr>
              <a:t>Offensive Spark</a:t>
            </a:r>
            <a:endParaRPr b="0" i="0" sz="1800" u="none" cap="none" strike="noStrike"/>
          </a:p>
        </p:txBody>
      </p:sp>
      <p:sp>
        <p:nvSpPr>
          <p:cNvPr id="242" name="Google Shape;242;p18"/>
          <p:cNvSpPr/>
          <p:nvPr/>
        </p:nvSpPr>
        <p:spPr>
          <a:xfrm>
            <a:off x="7760970" y="3333393"/>
            <a:ext cx="6012180" cy="299442"/>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M. Parolo</a:t>
            </a:r>
            <a:r>
              <a:rPr b="0" i="0" lang="en-US" sz="1450" u="none" cap="none" strike="noStrike">
                <a:solidFill>
                  <a:srgbClr val="5B5F71"/>
                </a:solidFill>
                <a:latin typeface="Instrument Sans Medium"/>
                <a:ea typeface="Instrument Sans Medium"/>
                <a:cs typeface="Instrument Sans Medium"/>
                <a:sym typeface="Instrument Sans Medium"/>
              </a:rPr>
              <a:t> (High sprint speed and stamina for chasing a goal)</a:t>
            </a:r>
            <a:endParaRPr b="0" i="0" sz="1450" u="none" cap="none" strike="noStrike"/>
          </a:p>
        </p:txBody>
      </p:sp>
      <p:sp>
        <p:nvSpPr>
          <p:cNvPr id="243" name="Google Shape;243;p18"/>
          <p:cNvSpPr/>
          <p:nvPr/>
        </p:nvSpPr>
        <p:spPr>
          <a:xfrm>
            <a:off x="7551063" y="4029789"/>
            <a:ext cx="6431994" cy="1498163"/>
          </a:xfrm>
          <a:prstGeom prst="roundRect">
            <a:avLst>
              <a:gd fmla="val 5246" name="adj"/>
            </a:avLst>
          </a:prstGeom>
          <a:solidFill>
            <a:srgbClr val="FFFFFF">
              <a:alpha val="94902"/>
            </a:srgbClr>
          </a:solidFill>
          <a:ln cap="flat" cmpd="sng" w="22850">
            <a:solidFill>
              <a:srgbClr val="C8C9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p:nvPr/>
        </p:nvSpPr>
        <p:spPr>
          <a:xfrm>
            <a:off x="7760970" y="4239697"/>
            <a:ext cx="2339221" cy="292418"/>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5B5F71"/>
              </a:buClr>
              <a:buSzPts val="1800"/>
              <a:buFont typeface="Instrument Sans SemiBold"/>
              <a:buNone/>
            </a:pPr>
            <a:r>
              <a:rPr b="1" i="0" lang="en-US" sz="1800" u="none" cap="none" strike="noStrike">
                <a:solidFill>
                  <a:srgbClr val="5B5F71"/>
                </a:solidFill>
                <a:latin typeface="Instrument Sans SemiBold"/>
                <a:ea typeface="Instrument Sans SemiBold"/>
                <a:cs typeface="Instrument Sans SemiBold"/>
                <a:sym typeface="Instrument Sans SemiBold"/>
              </a:rPr>
              <a:t>Defensive Closer</a:t>
            </a:r>
            <a:endParaRPr b="0" i="0" sz="1800" u="none" cap="none" strike="noStrike"/>
          </a:p>
        </p:txBody>
      </p:sp>
      <p:sp>
        <p:nvSpPr>
          <p:cNvPr id="245" name="Google Shape;245;p18"/>
          <p:cNvSpPr/>
          <p:nvPr/>
        </p:nvSpPr>
        <p:spPr>
          <a:xfrm>
            <a:off x="7760970" y="4719161"/>
            <a:ext cx="6012180" cy="598884"/>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5B5F71"/>
              </a:buClr>
              <a:buSzPts val="1450"/>
              <a:buFont typeface="Instrument Sans Medium"/>
              <a:buNone/>
            </a:pPr>
            <a:r>
              <a:rPr b="1" i="0" lang="en-US" sz="1450" u="none" cap="none" strike="noStrike">
                <a:solidFill>
                  <a:srgbClr val="5B5F71"/>
                </a:solidFill>
                <a:latin typeface="Instrument Sans Medium"/>
                <a:ea typeface="Instrument Sans Medium"/>
                <a:cs typeface="Instrument Sans Medium"/>
                <a:sym typeface="Instrument Sans Medium"/>
              </a:rPr>
              <a:t>S. Nzonzi</a:t>
            </a:r>
            <a:r>
              <a:rPr b="0" i="0" lang="en-US" sz="1450" u="none" cap="none" strike="noStrike">
                <a:solidFill>
                  <a:srgbClr val="5B5F71"/>
                </a:solidFill>
                <a:latin typeface="Instrument Sans Medium"/>
                <a:ea typeface="Instrument Sans Medium"/>
                <a:cs typeface="Instrument Sans Medium"/>
                <a:sym typeface="Instrument Sans Medium"/>
              </a:rPr>
              <a:t> (Dominant aerial ability and tactical awareness for protecting a lead)</a:t>
            </a:r>
            <a:endParaRPr b="0" i="0" sz="1450" u="none" cap="none" strike="noStrike"/>
          </a:p>
        </p:txBody>
      </p:sp>
      <p:sp>
        <p:nvSpPr>
          <p:cNvPr id="246" name="Google Shape;246;p18"/>
          <p:cNvSpPr/>
          <p:nvPr/>
        </p:nvSpPr>
        <p:spPr>
          <a:xfrm>
            <a:off x="654963" y="7334726"/>
            <a:ext cx="13320474" cy="239435"/>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5B5F71"/>
              </a:buClr>
              <a:buSzPts val="1150"/>
              <a:buFont typeface="Instrument Sans Medium"/>
              <a:buNone/>
            </a:pPr>
            <a:r>
              <a:rPr b="1" i="0" lang="en-US" u="none" cap="none" strike="noStrike">
                <a:solidFill>
                  <a:srgbClr val="5B5F71"/>
                </a:solidFill>
                <a:latin typeface="Instrument Sans Medium"/>
                <a:ea typeface="Instrument Sans Medium"/>
                <a:cs typeface="Instrument Sans Medium"/>
                <a:sym typeface="Instrument Sans Medium"/>
              </a:rPr>
              <a:t>Key Takeaway:</a:t>
            </a:r>
            <a:r>
              <a:rPr b="0" i="0" lang="en-US" u="none" cap="none" strike="noStrike">
                <a:solidFill>
                  <a:srgbClr val="5B5F71"/>
                </a:solidFill>
                <a:latin typeface="Instrument Sans Medium"/>
                <a:ea typeface="Instrument Sans Medium"/>
                <a:cs typeface="Instrument Sans Medium"/>
                <a:sym typeface="Instrument Sans Medium"/>
              </a:rPr>
              <a:t> Our analysis provides the coaching staff with clear, data-backed recommendations for high-leverage situations, removing guesswork when the pressure is on.</a:t>
            </a:r>
            <a:endParaRPr b="0" i="0" u="none" cap="none" strike="noStrike"/>
          </a:p>
        </p:txBody>
      </p:sp>
      <p:sp>
        <p:nvSpPr>
          <p:cNvPr id="247" name="Google Shape;247;p18"/>
          <p:cNvSpPr/>
          <p:nvPr/>
        </p:nvSpPr>
        <p:spPr>
          <a:xfrm>
            <a:off x="12521525" y="7512915"/>
            <a:ext cx="1977000" cy="68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9"/>
          <p:cNvSpPr/>
          <p:nvPr/>
        </p:nvSpPr>
        <p:spPr>
          <a:xfrm>
            <a:off x="738553" y="588650"/>
            <a:ext cx="9937800" cy="659400"/>
          </a:xfrm>
          <a:prstGeom prst="rect">
            <a:avLst/>
          </a:prstGeom>
          <a:noFill/>
          <a:ln>
            <a:noFill/>
          </a:ln>
        </p:spPr>
        <p:txBody>
          <a:bodyPr anchorCtr="0" anchor="t" bIns="0" lIns="0" spcFirstLastPara="1" rIns="0" wrap="square" tIns="0">
            <a:noAutofit/>
          </a:bodyPr>
          <a:lstStyle/>
          <a:p>
            <a:pPr indent="0" lvl="0" marL="0" marR="0" rtl="0" algn="l">
              <a:lnSpc>
                <a:spcPct val="124096"/>
              </a:lnSpc>
              <a:spcBef>
                <a:spcPts val="0"/>
              </a:spcBef>
              <a:spcAft>
                <a:spcPts val="0"/>
              </a:spcAft>
              <a:buClr>
                <a:srgbClr val="505468"/>
              </a:buClr>
              <a:buSzPts val="4150"/>
              <a:buFont typeface="Instrument Sans SemiBold"/>
              <a:buNone/>
            </a:pPr>
            <a:r>
              <a:rPr b="1" i="0" lang="en-US" sz="4150" u="none" cap="none" strike="noStrike">
                <a:solidFill>
                  <a:srgbClr val="505468"/>
                </a:solidFill>
                <a:latin typeface="Instrument Sans SemiBold"/>
                <a:ea typeface="Instrument Sans SemiBold"/>
                <a:cs typeface="Instrument Sans SemiBold"/>
                <a:sym typeface="Instrument Sans SemiBold"/>
              </a:rPr>
              <a:t>Deployment &amp; Next Steps</a:t>
            </a:r>
            <a:endParaRPr b="0" i="0" sz="4150" u="none" cap="none" strike="noStrike"/>
          </a:p>
        </p:txBody>
      </p:sp>
      <p:sp>
        <p:nvSpPr>
          <p:cNvPr id="254" name="Google Shape;254;p19"/>
          <p:cNvSpPr/>
          <p:nvPr/>
        </p:nvSpPr>
        <p:spPr>
          <a:xfrm>
            <a:off x="738552" y="1332300"/>
            <a:ext cx="10486200" cy="395700"/>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505468"/>
              </a:buClr>
              <a:buSzPts val="2450"/>
              <a:buFont typeface="Instrument Sans SemiBold"/>
              <a:buNone/>
            </a:pPr>
            <a:r>
              <a:rPr b="1" i="0" lang="en-US" sz="2450" u="none" cap="none" strike="noStrike">
                <a:solidFill>
                  <a:srgbClr val="505468"/>
                </a:solidFill>
                <a:latin typeface="Instrument Sans SemiBold"/>
                <a:ea typeface="Instrument Sans SemiBold"/>
                <a:cs typeface="Instrument Sans SemiBold"/>
                <a:sym typeface="Instrument Sans SemiBold"/>
              </a:rPr>
              <a:t>From Analysis to Action: Operationalizing the Model</a:t>
            </a:r>
            <a:endParaRPr b="0" i="0" sz="2450" u="none" cap="none" strike="noStrike"/>
          </a:p>
        </p:txBody>
      </p:sp>
      <p:sp>
        <p:nvSpPr>
          <p:cNvPr id="255" name="Google Shape;255;p19"/>
          <p:cNvSpPr/>
          <p:nvPr/>
        </p:nvSpPr>
        <p:spPr>
          <a:xfrm>
            <a:off x="738545" y="2044422"/>
            <a:ext cx="6471166" cy="633055"/>
          </a:xfrm>
          <a:prstGeom prst="roundRect">
            <a:avLst>
              <a:gd fmla="val 480024" name="adj"/>
            </a:avLst>
          </a:prstGeom>
          <a:solidFill>
            <a:srgbClr val="505468"/>
          </a:solidFill>
          <a:ln cap="flat" cmpd="sng" w="9525">
            <a:solidFill>
              <a:srgbClr val="696D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6" name="Google Shape;256;p19"/>
          <p:cNvPicPr preferRelativeResize="0"/>
          <p:nvPr/>
        </p:nvPicPr>
        <p:blipFill rotWithShape="1">
          <a:blip r:embed="rId3">
            <a:alphaModFix/>
          </a:blip>
          <a:srcRect b="0" l="0" r="0" t="0"/>
          <a:stretch/>
        </p:blipFill>
        <p:spPr>
          <a:xfrm>
            <a:off x="3815834" y="2163128"/>
            <a:ext cx="316468" cy="395645"/>
          </a:xfrm>
          <a:prstGeom prst="rect">
            <a:avLst/>
          </a:prstGeom>
          <a:noFill/>
          <a:ln>
            <a:noFill/>
          </a:ln>
        </p:spPr>
      </p:pic>
      <p:sp>
        <p:nvSpPr>
          <p:cNvPr id="257" name="Google Shape;257;p19"/>
          <p:cNvSpPr/>
          <p:nvPr/>
        </p:nvSpPr>
        <p:spPr>
          <a:xfrm>
            <a:off x="949526" y="2888450"/>
            <a:ext cx="4830600" cy="3297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5B5F71"/>
              </a:buClr>
              <a:buSzPts val="2050"/>
              <a:buFont typeface="Instrument Sans SemiBold"/>
              <a:buNone/>
            </a:pPr>
            <a:r>
              <a:rPr b="1" i="0" lang="en-US" sz="2050" u="none" cap="none" strike="noStrike">
                <a:solidFill>
                  <a:srgbClr val="5B5F71"/>
                </a:solidFill>
                <a:latin typeface="Instrument Sans SemiBold"/>
                <a:ea typeface="Instrument Sans SemiBold"/>
                <a:cs typeface="Instrument Sans SemiBold"/>
                <a:sym typeface="Instrument Sans SemiBold"/>
              </a:rPr>
              <a:t>Immediate Roster Delivery</a:t>
            </a:r>
            <a:endParaRPr b="0" i="0" sz="2050" u="none" cap="none" strike="noStrike"/>
          </a:p>
        </p:txBody>
      </p:sp>
      <p:sp>
        <p:nvSpPr>
          <p:cNvPr id="258" name="Google Shape;258;p19"/>
          <p:cNvSpPr/>
          <p:nvPr/>
        </p:nvSpPr>
        <p:spPr>
          <a:xfrm>
            <a:off x="949523" y="3344823"/>
            <a:ext cx="6049208" cy="1012627"/>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5B5F71"/>
              </a:buClr>
              <a:buSzPts val="1650"/>
              <a:buFont typeface="Instrument Sans Medium"/>
              <a:buNone/>
            </a:pPr>
            <a:r>
              <a:rPr b="0" i="0" lang="en-US" sz="1650" u="none" cap="none" strike="noStrike">
                <a:solidFill>
                  <a:srgbClr val="5B5F71"/>
                </a:solidFill>
                <a:latin typeface="Instrument Sans Medium"/>
                <a:ea typeface="Instrument Sans Medium"/>
                <a:cs typeface="Instrument Sans Medium"/>
                <a:sym typeface="Instrument Sans Medium"/>
              </a:rPr>
              <a:t>The 25-man roster and playbook will be delivered to the Director of Football and Managerial Staff to serve as a primary </a:t>
            </a:r>
            <a:r>
              <a:rPr b="1" i="0" lang="en-US" sz="1650" u="none" cap="none" strike="noStrike">
                <a:solidFill>
                  <a:srgbClr val="5B5F71"/>
                </a:solidFill>
                <a:latin typeface="Instrument Sans Medium"/>
                <a:ea typeface="Instrument Sans Medium"/>
                <a:cs typeface="Instrument Sans Medium"/>
                <a:sym typeface="Instrument Sans Medium"/>
              </a:rPr>
              <a:t>decision-support tool</a:t>
            </a:r>
            <a:r>
              <a:rPr b="0" i="0" lang="en-US" sz="1650" u="none" cap="none" strike="noStrike">
                <a:solidFill>
                  <a:srgbClr val="5B5F71"/>
                </a:solidFill>
                <a:latin typeface="Instrument Sans Medium"/>
                <a:ea typeface="Instrument Sans Medium"/>
                <a:cs typeface="Instrument Sans Medium"/>
                <a:sym typeface="Instrument Sans Medium"/>
              </a:rPr>
              <a:t> for the upcoming transfer window.</a:t>
            </a:r>
            <a:endParaRPr b="0" i="0" sz="1650" u="none" cap="none" strike="noStrike"/>
          </a:p>
        </p:txBody>
      </p:sp>
      <p:sp>
        <p:nvSpPr>
          <p:cNvPr id="259" name="Google Shape;259;p19"/>
          <p:cNvSpPr/>
          <p:nvPr/>
        </p:nvSpPr>
        <p:spPr>
          <a:xfrm>
            <a:off x="7420689" y="2044422"/>
            <a:ext cx="6471166" cy="633055"/>
          </a:xfrm>
          <a:prstGeom prst="roundRect">
            <a:avLst>
              <a:gd fmla="val 480024" name="adj"/>
            </a:avLst>
          </a:prstGeom>
          <a:solidFill>
            <a:srgbClr val="FF7F0E"/>
          </a:solidFill>
          <a:ln cap="flat" cmpd="sng" w="9525">
            <a:solidFill>
              <a:srgbClr val="E56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0" name="Google Shape;260;p19"/>
          <p:cNvPicPr preferRelativeResize="0"/>
          <p:nvPr/>
        </p:nvPicPr>
        <p:blipFill rotWithShape="1">
          <a:blip r:embed="rId4">
            <a:alphaModFix/>
          </a:blip>
          <a:srcRect b="0" l="0" r="0" t="0"/>
          <a:stretch/>
        </p:blipFill>
        <p:spPr>
          <a:xfrm>
            <a:off x="10497979" y="2163128"/>
            <a:ext cx="316468" cy="395645"/>
          </a:xfrm>
          <a:prstGeom prst="rect">
            <a:avLst/>
          </a:prstGeom>
          <a:noFill/>
          <a:ln>
            <a:noFill/>
          </a:ln>
        </p:spPr>
      </p:pic>
      <p:sp>
        <p:nvSpPr>
          <p:cNvPr id="261" name="Google Shape;261;p19"/>
          <p:cNvSpPr/>
          <p:nvPr/>
        </p:nvSpPr>
        <p:spPr>
          <a:xfrm>
            <a:off x="7631680" y="2888450"/>
            <a:ext cx="5329200" cy="3297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5B5F71"/>
              </a:buClr>
              <a:buSzPts val="2050"/>
              <a:buFont typeface="Instrument Sans SemiBold"/>
              <a:buNone/>
            </a:pPr>
            <a:r>
              <a:rPr b="1" i="0" lang="en-US" sz="2050" u="none" cap="none" strike="noStrike">
                <a:solidFill>
                  <a:srgbClr val="5B5F71"/>
                </a:solidFill>
                <a:latin typeface="Instrument Sans SemiBold"/>
                <a:ea typeface="Instrument Sans SemiBold"/>
                <a:cs typeface="Instrument Sans SemiBold"/>
                <a:sym typeface="Instrument Sans SemiBold"/>
              </a:rPr>
              <a:t>Integration with Scouting</a:t>
            </a:r>
            <a:endParaRPr b="0" i="0" sz="2050" u="none" cap="none" strike="noStrike"/>
          </a:p>
        </p:txBody>
      </p:sp>
      <p:sp>
        <p:nvSpPr>
          <p:cNvPr id="262" name="Google Shape;262;p19"/>
          <p:cNvSpPr/>
          <p:nvPr/>
        </p:nvSpPr>
        <p:spPr>
          <a:xfrm>
            <a:off x="7631668" y="3344823"/>
            <a:ext cx="6049208" cy="1012627"/>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5B5F71"/>
              </a:buClr>
              <a:buSzPts val="1650"/>
              <a:buFont typeface="Instrument Sans Medium"/>
              <a:buNone/>
            </a:pPr>
            <a:r>
              <a:rPr b="0" i="0" lang="en-US" sz="1650" u="none" cap="none" strike="noStrike">
                <a:solidFill>
                  <a:srgbClr val="5B5F71"/>
                </a:solidFill>
                <a:latin typeface="Instrument Sans Medium"/>
                <a:ea typeface="Instrument Sans Medium"/>
                <a:cs typeface="Instrument Sans Medium"/>
                <a:sym typeface="Instrument Sans Medium"/>
              </a:rPr>
              <a:t>This model is designed to augment, not replace, traditional scouting. The generated shortlist provides high-potential targets for our scouts to perform final, in-person evaluations.</a:t>
            </a:r>
            <a:endParaRPr b="0" i="0" sz="1650" u="none" cap="none" strike="noStrike"/>
          </a:p>
        </p:txBody>
      </p:sp>
      <p:sp>
        <p:nvSpPr>
          <p:cNvPr id="263" name="Google Shape;263;p19"/>
          <p:cNvSpPr/>
          <p:nvPr/>
        </p:nvSpPr>
        <p:spPr>
          <a:xfrm>
            <a:off x="738545" y="4779407"/>
            <a:ext cx="6471166" cy="633055"/>
          </a:xfrm>
          <a:prstGeom prst="roundRect">
            <a:avLst>
              <a:gd fmla="val 480024" name="adj"/>
            </a:avLst>
          </a:prstGeom>
          <a:solidFill>
            <a:srgbClr val="2CA02C"/>
          </a:solidFill>
          <a:ln cap="flat" cmpd="sng" w="9525">
            <a:solidFill>
              <a:srgbClr val="45B9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4" name="Google Shape;264;p19"/>
          <p:cNvPicPr preferRelativeResize="0"/>
          <p:nvPr/>
        </p:nvPicPr>
        <p:blipFill rotWithShape="1">
          <a:blip r:embed="rId5">
            <a:alphaModFix/>
          </a:blip>
          <a:srcRect b="0" l="0" r="0" t="0"/>
          <a:stretch/>
        </p:blipFill>
        <p:spPr>
          <a:xfrm>
            <a:off x="3815834" y="4898112"/>
            <a:ext cx="316468" cy="395645"/>
          </a:xfrm>
          <a:prstGeom prst="rect">
            <a:avLst/>
          </a:prstGeom>
          <a:noFill/>
          <a:ln>
            <a:noFill/>
          </a:ln>
        </p:spPr>
      </p:pic>
      <p:sp>
        <p:nvSpPr>
          <p:cNvPr id="265" name="Google Shape;265;p19"/>
          <p:cNvSpPr/>
          <p:nvPr/>
        </p:nvSpPr>
        <p:spPr>
          <a:xfrm>
            <a:off x="949526" y="5623450"/>
            <a:ext cx="5550300" cy="3297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5B5F71"/>
              </a:buClr>
              <a:buSzPts val="2050"/>
              <a:buFont typeface="Instrument Sans SemiBold"/>
              <a:buNone/>
            </a:pPr>
            <a:r>
              <a:rPr b="1" i="0" lang="en-US" sz="2050" u="none" cap="none" strike="noStrike">
                <a:solidFill>
                  <a:srgbClr val="5B5F71"/>
                </a:solidFill>
                <a:latin typeface="Instrument Sans SemiBold"/>
                <a:ea typeface="Instrument Sans SemiBold"/>
                <a:cs typeface="Instrument Sans SemiBold"/>
                <a:sym typeface="Instrument Sans SemiBold"/>
              </a:rPr>
              <a:t>Long-Term Strategy &amp; Adaptation</a:t>
            </a:r>
            <a:endParaRPr b="0" i="0" sz="2050" u="none" cap="none" strike="noStrike"/>
          </a:p>
        </p:txBody>
      </p:sp>
      <p:sp>
        <p:nvSpPr>
          <p:cNvPr id="266" name="Google Shape;266;p19"/>
          <p:cNvSpPr/>
          <p:nvPr/>
        </p:nvSpPr>
        <p:spPr>
          <a:xfrm>
            <a:off x="949523" y="6079808"/>
            <a:ext cx="6049208" cy="1350169"/>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5B5F71"/>
              </a:buClr>
              <a:buSzPts val="1650"/>
              <a:buFont typeface="Instrument Sans Medium"/>
              <a:buNone/>
            </a:pPr>
            <a:r>
              <a:rPr b="0" i="0" lang="en-US" sz="1650" u="none" cap="none" strike="noStrike">
                <a:solidFill>
                  <a:srgbClr val="5B5F71"/>
                </a:solidFill>
                <a:latin typeface="Instrument Sans Medium"/>
                <a:ea typeface="Instrument Sans Medium"/>
                <a:cs typeface="Instrument Sans Medium"/>
                <a:sym typeface="Instrument Sans Medium"/>
              </a:rPr>
              <a:t>The model will be continuously updated with new player data each season to identify emerging talent and adapt to market trends, forming the core of our club's sustainable transfer policy.</a:t>
            </a:r>
            <a:endParaRPr b="0" i="0" sz="1650" u="none" cap="none" strike="noStrike"/>
          </a:p>
        </p:txBody>
      </p:sp>
      <p:sp>
        <p:nvSpPr>
          <p:cNvPr id="267" name="Google Shape;267;p19"/>
          <p:cNvSpPr/>
          <p:nvPr/>
        </p:nvSpPr>
        <p:spPr>
          <a:xfrm>
            <a:off x="7420689" y="4779407"/>
            <a:ext cx="6471166" cy="633055"/>
          </a:xfrm>
          <a:prstGeom prst="roundRect">
            <a:avLst>
              <a:gd fmla="val 480024" name="adj"/>
            </a:avLst>
          </a:prstGeom>
          <a:solidFill>
            <a:srgbClr val="E2E3E9"/>
          </a:solidFill>
          <a:ln cap="flat" cmpd="sng" w="9525">
            <a:solidFill>
              <a:srgbClr val="C8C9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8" name="Google Shape;268;p19"/>
          <p:cNvPicPr preferRelativeResize="0"/>
          <p:nvPr/>
        </p:nvPicPr>
        <p:blipFill rotWithShape="1">
          <a:blip r:embed="rId6">
            <a:alphaModFix/>
          </a:blip>
          <a:srcRect b="0" l="0" r="0" t="0"/>
          <a:stretch/>
        </p:blipFill>
        <p:spPr>
          <a:xfrm>
            <a:off x="10497979" y="4898112"/>
            <a:ext cx="316468" cy="395645"/>
          </a:xfrm>
          <a:prstGeom prst="rect">
            <a:avLst/>
          </a:prstGeom>
          <a:noFill/>
          <a:ln>
            <a:noFill/>
          </a:ln>
        </p:spPr>
      </p:pic>
      <p:sp>
        <p:nvSpPr>
          <p:cNvPr id="269" name="Google Shape;269;p19"/>
          <p:cNvSpPr/>
          <p:nvPr/>
        </p:nvSpPr>
        <p:spPr>
          <a:xfrm>
            <a:off x="7631668" y="5623441"/>
            <a:ext cx="2637830" cy="32980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5B5F71"/>
              </a:buClr>
              <a:buSzPts val="2050"/>
              <a:buFont typeface="Instrument Sans SemiBold"/>
              <a:buNone/>
            </a:pPr>
            <a:r>
              <a:rPr b="1" i="0" lang="en-US" sz="2050" u="none" cap="none" strike="noStrike">
                <a:solidFill>
                  <a:srgbClr val="5B5F71"/>
                </a:solidFill>
                <a:latin typeface="Instrument Sans SemiBold"/>
                <a:ea typeface="Instrument Sans SemiBold"/>
                <a:cs typeface="Instrument Sans SemiBold"/>
                <a:sym typeface="Instrument Sans SemiBold"/>
              </a:rPr>
              <a:t>Risk Mitigation</a:t>
            </a:r>
            <a:endParaRPr b="0" i="0" sz="2050" u="none" cap="none" strike="noStrike"/>
          </a:p>
        </p:txBody>
      </p:sp>
      <p:sp>
        <p:nvSpPr>
          <p:cNvPr id="270" name="Google Shape;270;p19"/>
          <p:cNvSpPr/>
          <p:nvPr/>
        </p:nvSpPr>
        <p:spPr>
          <a:xfrm>
            <a:off x="7631668" y="6079808"/>
            <a:ext cx="6049208" cy="1012627"/>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5B5F71"/>
              </a:buClr>
              <a:buSzPts val="1650"/>
              <a:buFont typeface="Instrument Sans Medium"/>
              <a:buNone/>
            </a:pPr>
            <a:r>
              <a:rPr b="0" i="0" lang="en-US" sz="1650" u="none" cap="none" strike="noStrike">
                <a:solidFill>
                  <a:srgbClr val="5B5F71"/>
                </a:solidFill>
                <a:latin typeface="Instrument Sans Medium"/>
                <a:ea typeface="Instrument Sans Medium"/>
                <a:cs typeface="Instrument Sans Medium"/>
                <a:sym typeface="Instrument Sans Medium"/>
              </a:rPr>
              <a:t>The risk of player underperformance is mitigated by our "value for money" approach, which diversifies investment and prevents over-reliance on a single, high-cost signing.</a:t>
            </a:r>
            <a:endParaRPr b="0" i="0" sz="1650" u="none" cap="none" strike="noStrike"/>
          </a:p>
        </p:txBody>
      </p:sp>
      <p:sp>
        <p:nvSpPr>
          <p:cNvPr id="271" name="Google Shape;271;p19"/>
          <p:cNvSpPr/>
          <p:nvPr/>
        </p:nvSpPr>
        <p:spPr>
          <a:xfrm>
            <a:off x="12521525" y="7578818"/>
            <a:ext cx="1977000" cy="68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descr="preencoded.png" id="277" name="Google Shape;277;p20"/>
          <p:cNvPicPr preferRelativeResize="0"/>
          <p:nvPr/>
        </p:nvPicPr>
        <p:blipFill rotWithShape="1">
          <a:blip r:embed="rId3">
            <a:alphaModFix/>
          </a:blip>
          <a:srcRect b="0" l="0" r="0" t="0"/>
          <a:stretch/>
        </p:blipFill>
        <p:spPr>
          <a:xfrm>
            <a:off x="0" y="0"/>
            <a:ext cx="14630400" cy="2525197"/>
          </a:xfrm>
          <a:prstGeom prst="rect">
            <a:avLst/>
          </a:prstGeom>
          <a:noFill/>
          <a:ln>
            <a:noFill/>
          </a:ln>
        </p:spPr>
      </p:pic>
      <p:sp>
        <p:nvSpPr>
          <p:cNvPr id="278" name="Google Shape;278;p20"/>
          <p:cNvSpPr/>
          <p:nvPr/>
        </p:nvSpPr>
        <p:spPr>
          <a:xfrm>
            <a:off x="706993" y="3080742"/>
            <a:ext cx="13216414" cy="1893808"/>
          </a:xfrm>
          <a:prstGeom prst="rect">
            <a:avLst/>
          </a:prstGeom>
          <a:noFill/>
          <a:ln>
            <a:noFill/>
          </a:ln>
        </p:spPr>
        <p:txBody>
          <a:bodyPr anchorCtr="0" anchor="t" bIns="0" lIns="0" spcFirstLastPara="1" rIns="0" wrap="square" tIns="0">
            <a:noAutofit/>
          </a:bodyPr>
          <a:lstStyle/>
          <a:p>
            <a:pPr indent="0" lvl="0" marL="0" marR="0" rtl="0" algn="l">
              <a:lnSpc>
                <a:spcPct val="125210"/>
              </a:lnSpc>
              <a:spcBef>
                <a:spcPts val="0"/>
              </a:spcBef>
              <a:spcAft>
                <a:spcPts val="0"/>
              </a:spcAft>
              <a:buClr>
                <a:srgbClr val="505468"/>
              </a:buClr>
              <a:buSzPts val="11900"/>
              <a:buFont typeface="Instrument Sans SemiBold"/>
              <a:buNone/>
            </a:pPr>
            <a:r>
              <a:rPr b="1" i="0" lang="en-US" sz="11900" u="none" cap="none" strike="noStrike">
                <a:solidFill>
                  <a:srgbClr val="505468"/>
                </a:solidFill>
                <a:latin typeface="Instrument Sans SemiBold"/>
                <a:ea typeface="Instrument Sans SemiBold"/>
                <a:cs typeface="Instrument Sans SemiBold"/>
                <a:sym typeface="Instrument Sans SemiBold"/>
              </a:rPr>
              <a:t>Your touch</a:t>
            </a:r>
            <a:endParaRPr b="0" i="0" sz="11900" u="none" cap="none" strike="noStrike"/>
          </a:p>
        </p:txBody>
      </p:sp>
      <p:sp>
        <p:nvSpPr>
          <p:cNvPr id="279" name="Google Shape;279;p20"/>
          <p:cNvSpPr/>
          <p:nvPr/>
        </p:nvSpPr>
        <p:spPr>
          <a:xfrm>
            <a:off x="706993" y="5277564"/>
            <a:ext cx="13216414" cy="807958"/>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5B5F71"/>
              </a:buClr>
              <a:buSzPts val="1950"/>
              <a:buFont typeface="Instrument Sans Medium"/>
              <a:buNone/>
            </a:pPr>
            <a:r>
              <a:rPr b="0" i="0" lang="en-US" sz="1950" u="none" cap="none" strike="noStrike">
                <a:solidFill>
                  <a:srgbClr val="5B5F71"/>
                </a:solidFill>
                <a:latin typeface="Instrument Sans Medium"/>
                <a:ea typeface="Instrument Sans Medium"/>
                <a:cs typeface="Instrument Sans Medium"/>
                <a:sym typeface="Instrument Sans Medium"/>
              </a:rPr>
              <a:t>We have successfully demonstrated an end-to-end data science methodology to build a competitive, cost-effective, and tactically versatile football club from the ground up.</a:t>
            </a:r>
            <a:endParaRPr b="0" i="0" sz="1950" u="none" cap="none" strike="noStrike"/>
          </a:p>
        </p:txBody>
      </p:sp>
      <p:sp>
        <p:nvSpPr>
          <p:cNvPr id="280" name="Google Shape;280;p20"/>
          <p:cNvSpPr/>
          <p:nvPr/>
        </p:nvSpPr>
        <p:spPr>
          <a:xfrm>
            <a:off x="1010007" y="6615708"/>
            <a:ext cx="12913400" cy="757476"/>
          </a:xfrm>
          <a:prstGeom prst="rect">
            <a:avLst/>
          </a:prstGeom>
          <a:noFill/>
          <a:ln>
            <a:noFill/>
          </a:ln>
        </p:spPr>
        <p:txBody>
          <a:bodyPr anchorCtr="0" anchor="t" bIns="0" lIns="0" spcFirstLastPara="1" rIns="0" wrap="square" tIns="0">
            <a:noAutofit/>
          </a:bodyPr>
          <a:lstStyle/>
          <a:p>
            <a:pPr indent="0" lvl="0" marL="0" marR="0" rtl="0" algn="l">
              <a:lnSpc>
                <a:spcPct val="125531"/>
              </a:lnSpc>
              <a:spcBef>
                <a:spcPts val="0"/>
              </a:spcBef>
              <a:spcAft>
                <a:spcPts val="0"/>
              </a:spcAft>
              <a:buClr>
                <a:srgbClr val="505468"/>
              </a:buClr>
              <a:buSzPts val="2350"/>
              <a:buFont typeface="Instrument Sans SemiBold"/>
              <a:buNone/>
            </a:pPr>
            <a:r>
              <a:rPr b="1" i="0" lang="en-US" sz="2350" u="none" cap="none" strike="noStrike">
                <a:solidFill>
                  <a:srgbClr val="505468"/>
                </a:solidFill>
                <a:latin typeface="Instrument Sans SemiBold"/>
                <a:ea typeface="Instrument Sans SemiBold"/>
                <a:cs typeface="Instrument Sans SemiBold"/>
                <a:sym typeface="Instrument Sans SemiBold"/>
              </a:rPr>
              <a:t>Football is magic. Data cannot predict the human aspect of it. It is up to the Durham dogs and their management to ignite that flame. </a:t>
            </a:r>
            <a:endParaRPr b="0" i="0" sz="2350" u="none" cap="none" strike="noStrike"/>
          </a:p>
        </p:txBody>
      </p:sp>
      <p:sp>
        <p:nvSpPr>
          <p:cNvPr id="281" name="Google Shape;281;p20"/>
          <p:cNvSpPr/>
          <p:nvPr/>
        </p:nvSpPr>
        <p:spPr>
          <a:xfrm>
            <a:off x="706993" y="6312694"/>
            <a:ext cx="22860" cy="1363504"/>
          </a:xfrm>
          <a:prstGeom prst="rect">
            <a:avLst/>
          </a:prstGeom>
          <a:solidFill>
            <a:srgbClr val="5054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0"/>
          <p:cNvSpPr/>
          <p:nvPr/>
        </p:nvSpPr>
        <p:spPr>
          <a:xfrm>
            <a:off x="12521525" y="7578818"/>
            <a:ext cx="1977000" cy="68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